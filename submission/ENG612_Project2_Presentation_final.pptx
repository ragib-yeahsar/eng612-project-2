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0"/>
  </p:notesMasterIdLst>
  <p:sldIdLst>
    <p:sldId id="256" r:id="rId5"/>
    <p:sldId id="257" r:id="rId6"/>
    <p:sldId id="258" r:id="rId7"/>
    <p:sldId id="259" r:id="rId8"/>
    <p:sldId id="260" r:id="rId9"/>
    <p:sldId id="261" r:id="rId10"/>
    <p:sldId id="262" r:id="rId11"/>
    <p:sldId id="263" r:id="rId12"/>
    <p:sldId id="264" r:id="rId13"/>
    <p:sldId id="273" r:id="rId14"/>
    <p:sldId id="266" r:id="rId15"/>
    <p:sldId id="267" r:id="rId16"/>
    <p:sldId id="268" r:id="rId17"/>
    <p:sldId id="271" r:id="rId18"/>
    <p:sldId id="270"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7772" autoAdjust="0"/>
  </p:normalViewPr>
  <p:slideViewPr>
    <p:cSldViewPr snapToGrid="0" snapToObjects="1">
      <p:cViewPr varScale="1">
        <p:scale>
          <a:sx n="128" d="100"/>
          <a:sy n="128" d="100"/>
        </p:scale>
        <p:origin x="113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F2D3A"/>
                </a:solidFill>
                <a:latin typeface="Calibri"/>
              </a:defRPr>
            </a:pPr>
            <a:r>
              <a:rPr lang="en-AU" sz="1400" b="0" i="0" u="none" strike="noStrike" dirty="0">
                <a:solidFill>
                  <a:srgbClr val="1F2D3A"/>
                </a:solidFill>
                <a:latin typeface="Calibri"/>
              </a:rPr>
              <a:t>Error on straights (mm RMS)</a:t>
            </a:r>
          </a:p>
        </c:rich>
      </c:tx>
      <c:overlay val="0"/>
    </c:title>
    <c:autoTitleDeleted val="0"/>
    <c:plotArea>
      <c:layout/>
      <c:barChart>
        <c:barDir val="col"/>
        <c:grouping val="clustered"/>
        <c:varyColors val="0"/>
        <c:ser>
          <c:idx val="0"/>
          <c:order val="0"/>
          <c:tx>
            <c:strRef>
              <c:f>Sheet1!$B$1</c:f>
              <c:strCache>
                <c:ptCount val="1"/>
                <c:pt idx="0">
                  <c:v>Error on straights (mm RMS)</c:v>
                </c:pt>
              </c:strCache>
            </c:strRef>
          </c:tx>
          <c:spPr>
            <a:solidFill>
              <a:srgbClr val="0F8B8D"/>
            </a:solidFill>
            <a:effectLst/>
          </c:spPr>
          <c:invertIfNegative val="0"/>
          <c:dLbls>
            <c:numFmt formatCode="0.0" sourceLinked="0"/>
            <c:spPr>
              <a:noFill/>
              <a:ln>
                <a:noFill/>
              </a:ln>
              <a:effectLst/>
            </c:spPr>
            <c:txPr>
              <a:bodyPr/>
              <a:lstStyle/>
              <a:p>
                <a:pPr>
                  <a:defRPr sz="1400" b="0" i="0" u="none" strike="noStrike">
                    <a:solidFill>
                      <a:srgbClr val="1F2D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Normal PID, first gains</c:v>
                </c:pt>
                <c:pt idx="1">
                  <c:v>Advanced PID, final</c:v>
                </c:pt>
              </c:strCache>
            </c:strRef>
          </c:cat>
          <c:val>
            <c:numRef>
              <c:f>Sheet1!$B$2:$B$3</c:f>
              <c:numCache>
                <c:formatCode>General</c:formatCode>
                <c:ptCount val="2"/>
                <c:pt idx="0">
                  <c:v>31.1</c:v>
                </c:pt>
                <c:pt idx="1">
                  <c:v>5.8</c:v>
                </c:pt>
              </c:numCache>
            </c:numRef>
          </c:val>
          <c:extLst>
            <c:ext xmlns:c16="http://schemas.microsoft.com/office/drawing/2014/chart" uri="{C3380CC4-5D6E-409C-BE32-E72D297353CC}">
              <c16:uniqueId val="{00000000-5148-4818-AE76-3AA1F3EA80D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F2D3A"/>
                </a:solidFill>
                <a:latin typeface="Calibri"/>
              </a:defRPr>
            </a:pPr>
            <a:endParaRPr lang="en-US"/>
          </a:p>
        </c:txPr>
        <c:crossAx val="2094734552"/>
        <c:crosses val="autoZero"/>
        <c:auto val="1"/>
        <c:lblAlgn val="ctr"/>
        <c:lblOffset val="100"/>
        <c:noMultiLvlLbl val="1"/>
      </c:catAx>
      <c:valAx>
        <c:axId val="2094734552"/>
        <c:scaling>
          <c:orientation val="minMax"/>
          <c:max val="40"/>
          <c:min val="0"/>
        </c:scaling>
        <c:delete val="0"/>
        <c:axPos val="l"/>
        <c:majorGridlines>
          <c:spPr>
            <a:ln w="6350" cap="flat">
              <a:solidFill>
                <a:srgbClr val="D5DDE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79"/>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F2D3A"/>
                </a:solidFill>
                <a:latin typeface="Calibri"/>
              </a:defRPr>
            </a:pPr>
            <a:r>
              <a:rPr lang="en-AU" sz="1400" b="0" i="0" u="none" strike="noStrike">
                <a:solidFill>
                  <a:srgbClr val="1F2D3A"/>
                </a:solidFill>
                <a:latin typeface="Calibri"/>
              </a:rPr>
              <a:t>Error on straights (mm RMS)</a:t>
            </a:r>
          </a:p>
        </c:rich>
      </c:tx>
      <c:overlay val="0"/>
    </c:title>
    <c:autoTitleDeleted val="0"/>
    <c:plotArea>
      <c:layout/>
      <c:barChart>
        <c:barDir val="col"/>
        <c:grouping val="clustered"/>
        <c:varyColors val="0"/>
        <c:ser>
          <c:idx val="0"/>
          <c:order val="0"/>
          <c:tx>
            <c:strRef>
              <c:f>Sheet1!$B$1</c:f>
              <c:strCache>
                <c:ptCount val="1"/>
                <c:pt idx="0">
                  <c:v>RMS error (mm)</c:v>
                </c:pt>
              </c:strCache>
            </c:strRef>
          </c:tx>
          <c:spPr>
            <a:solidFill>
              <a:srgbClr val="0F8B8D"/>
            </a:solidFill>
            <a:effectLst/>
          </c:spPr>
          <c:invertIfNegative val="0"/>
          <c:dLbls>
            <c:numFmt formatCode="0.0" sourceLinked="0"/>
            <c:spPr>
              <a:noFill/>
              <a:ln>
                <a:noFill/>
              </a:ln>
              <a:effectLst/>
            </c:spPr>
            <c:txPr>
              <a:bodyPr/>
              <a:lstStyle/>
              <a:p>
                <a:pPr>
                  <a:defRPr sz="1200" b="0" i="0" u="none" strike="noStrike">
                    <a:solidFill>
                      <a:srgbClr val="1F2D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Normal 0.05*</c:v>
                </c:pt>
                <c:pt idx="1">
                  <c:v>Adv 0.05</c:v>
                </c:pt>
                <c:pt idx="2">
                  <c:v>Adv 0.065</c:v>
                </c:pt>
              </c:strCache>
            </c:strRef>
          </c:cat>
          <c:val>
            <c:numRef>
              <c:f>Sheet1!$B$2:$B$4</c:f>
              <c:numCache>
                <c:formatCode>General</c:formatCode>
                <c:ptCount val="3"/>
                <c:pt idx="0">
                  <c:v>7.4</c:v>
                </c:pt>
                <c:pt idx="1">
                  <c:v>3.8</c:v>
                </c:pt>
                <c:pt idx="2">
                  <c:v>4.0999999999999996</c:v>
                </c:pt>
              </c:numCache>
            </c:numRef>
          </c:val>
          <c:extLst>
            <c:ext xmlns:c16="http://schemas.microsoft.com/office/drawing/2014/chart" uri="{C3380CC4-5D6E-409C-BE32-E72D297353CC}">
              <c16:uniqueId val="{00000000-B74A-43EF-9A8D-EF7E6A3C9B0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D3A"/>
                </a:solidFill>
                <a:latin typeface="Calibri"/>
              </a:defRPr>
            </a:pPr>
            <a:endParaRPr lang="en-US"/>
          </a:p>
        </c:txPr>
        <c:crossAx val="2094734552"/>
        <c:crosses val="autoZero"/>
        <c:auto val="1"/>
        <c:lblAlgn val="ctr"/>
        <c:lblOffset val="100"/>
        <c:noMultiLvlLbl val="1"/>
      </c:catAx>
      <c:valAx>
        <c:axId val="2094734552"/>
        <c:scaling>
          <c:orientation val="minMax"/>
          <c:max val="12"/>
          <c:min val="0"/>
        </c:scaling>
        <c:delete val="0"/>
        <c:axPos val="l"/>
        <c:majorGridlines>
          <c:spPr>
            <a:ln w="6350" cap="flat">
              <a:solidFill>
                <a:srgbClr val="D5DDE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9"/>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F2D3A"/>
                </a:solidFill>
                <a:latin typeface="Calibri"/>
              </a:defRPr>
            </a:pPr>
            <a:r>
              <a:rPr lang="en-AU" sz="1400" b="0" i="0" u="none" strike="noStrike">
                <a:solidFill>
                  <a:srgbClr val="1F2D3A"/>
                </a:solidFill>
                <a:latin typeface="Calibri"/>
              </a:rPr>
              <a:t>Time for one lap (s)</a:t>
            </a:r>
          </a:p>
        </c:rich>
      </c:tx>
      <c:overlay val="0"/>
    </c:title>
    <c:autoTitleDeleted val="0"/>
    <c:plotArea>
      <c:layout/>
      <c:barChart>
        <c:barDir val="col"/>
        <c:grouping val="clustered"/>
        <c:varyColors val="0"/>
        <c:ser>
          <c:idx val="0"/>
          <c:order val="0"/>
          <c:tx>
            <c:strRef>
              <c:f>Sheet1!$B$1</c:f>
              <c:strCache>
                <c:ptCount val="1"/>
                <c:pt idx="0">
                  <c:v>Lap time (s)</c:v>
                </c:pt>
              </c:strCache>
            </c:strRef>
          </c:tx>
          <c:spPr>
            <a:solidFill>
              <a:srgbClr val="14283D"/>
            </a:solidFill>
            <a:effectLst/>
          </c:spPr>
          <c:invertIfNegative val="0"/>
          <c:dLbls>
            <c:numFmt formatCode="0" sourceLinked="0"/>
            <c:spPr>
              <a:noFill/>
              <a:ln>
                <a:noFill/>
              </a:ln>
              <a:effectLst/>
            </c:spPr>
            <c:txPr>
              <a:bodyPr/>
              <a:lstStyle/>
              <a:p>
                <a:pPr>
                  <a:defRPr sz="1200" b="0" i="0" u="none" strike="noStrike">
                    <a:solidFill>
                      <a:srgbClr val="1F2D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Normal 0.05*</c:v>
                </c:pt>
                <c:pt idx="1">
                  <c:v>Adv 0.05</c:v>
                </c:pt>
                <c:pt idx="2">
                  <c:v>Adv 0.065</c:v>
                </c:pt>
              </c:strCache>
            </c:strRef>
          </c:cat>
          <c:val>
            <c:numRef>
              <c:f>Sheet1!$B$2:$B$4</c:f>
              <c:numCache>
                <c:formatCode>General</c:formatCode>
                <c:ptCount val="3"/>
                <c:pt idx="0">
                  <c:v>124</c:v>
                </c:pt>
                <c:pt idx="1">
                  <c:v>132</c:v>
                </c:pt>
                <c:pt idx="2">
                  <c:v>116</c:v>
                </c:pt>
              </c:numCache>
            </c:numRef>
          </c:val>
          <c:extLst>
            <c:ext xmlns:c16="http://schemas.microsoft.com/office/drawing/2014/chart" uri="{C3380CC4-5D6E-409C-BE32-E72D297353CC}">
              <c16:uniqueId val="{00000000-8016-43FF-B4D6-239A317244D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D3A"/>
                </a:solidFill>
                <a:latin typeface="Calibri"/>
              </a:defRPr>
            </a:pPr>
            <a:endParaRPr lang="en-US"/>
          </a:p>
        </c:txPr>
        <c:crossAx val="2094734552"/>
        <c:crosses val="autoZero"/>
        <c:auto val="1"/>
        <c:lblAlgn val="ctr"/>
        <c:lblOffset val="100"/>
        <c:noMultiLvlLbl val="1"/>
      </c:catAx>
      <c:valAx>
        <c:axId val="2094734552"/>
        <c:scaling>
          <c:orientation val="minMax"/>
          <c:max val="200"/>
          <c:min val="0"/>
        </c:scaling>
        <c:delete val="0"/>
        <c:axPos val="l"/>
        <c:majorGridlines>
          <c:spPr>
            <a:ln w="6350" cap="flat">
              <a:solidFill>
                <a:srgbClr val="D5DDE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9"/>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1904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group and the task. The robot must keep 0.30 m from a wall using only its laser scanner. We built it in simulation first, then ran it on the real robot. About 15 minutes: how it works, results, what went wrong, then a live demo.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Restate the goal. The only sensor is the laser scanner. The robot follows the left wall. The demo box is 2 by 2 metres, so it must also handle four corners.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diagram left to right. The laser scan comes in on the scan topic, the controller node turns it into a speed and a turn rate, and publishes them on cmd_vel. The data logger is a separate node that only listens, so measuring never changes how the robot behaves. The tags in monospace are the names used in the code and on the command line. The same node runs in Gazebo and on the real robot.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laser beams, one at 45 degrees and one at 90 degrees to the side, give both how far the wall is and the angle of the robot to the wall. We then look slightly ahead, so the robot reacts before it drifts. Beams are chosen by angle and averaged with a median, which removes bad readings.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PID has three parts. P reacts to how big the error is now. D reacts to how fast the error is changing, which stops overshoot. I fixes a constant offset, and we left it at zero in every reported run because on a straight wall there is no steady push.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asks for two PIDs. The second one sets the forward speed. It slows the robot near a corner or when it is off the target, and lets it speed up on a clean straight. The earlier modes are kept in the same code so we could compare all three on the same runs.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 corner the wall disappears and a new one appears ahead. The robot stops moving forward, turns in place, and only resumes wall following once the front is clear. Two separate thresholds, stop and clear, stop it from flicking back and forth. If the wall is lost completely, it slows and turns back toward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errors come from the true robot position in Gazebo. The first baseline run used our first gains, so it shows the starting point of tuning. The speed-PID design held the wall much more tightly, and it did so a little slower: lap 92 s against 79 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runs use the robot's own laser as the measurement. Rule-based means the speed came from simple rules, not a PID. Straights are held within a few millimetres in three of the four runs. The repeat run at 0.065 m/s was less accurate, which shows run-to-run variation. The largest errors always appear just after a corner. The line plot shows measured distance during straight following only.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 PID (baseline) is the constant-speed version. Its real-robot run was on the right wall, so it is not a perfectly like-for-like comparison with the left-wall Advanced PID runs. At the same 0.05 m/s the Advanced PID error is about half the Normal PID error, and it gives the shortest lap at 0.065 m/s. Be ready to say that a repeat run at 0.065 m/s was less accurate (9.9 mm RMS), so we do not claim a guaranteed gain.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strategy: keep the controller identical, make the input robust to real scanner noise, raise the speed gradually, and make each run repeatable. Left photo: the Gazebo box. Below it: the real 2 by 2 metre box from above. The network problem cost us time and is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two to tell as a story: the negative distance (our first explanation was wrong) and the network problem. The lesson in both is to check the data against known geometry and the setup before changing code.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 repository open in a browser and show the commit history with commits from both members. Check the address is the final one before the demo.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recommendation is the Advanced PID: a steering PID plus a speed PID, on the left wall, with a maximum speed of 0.065 metres per second. Reasons: in Gazebo it held the wall much more tightly than the Normal PID with our first gains, and on the real robot it matched the accuracy of rule-based speed with laps 16 to 27 percent shorter. If the robot misbehaves during the demo, restart at 0.05. Be honest about the limits: we have not run the Normal PID on the real robot on the left wall, and one repeat run was less accurate.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Robot charged, laptop on the lab network, repository open. If the robot misbehaves, restart at the fallback speed of 0.05 m/s. </a:t>
            </a:r>
            <a:r>
              <a:rPr lang="en-AU" dirty="0"/>
              <a:t>Yes, without changing any code. Run the controller with a timer that sends </a:t>
            </a:r>
            <a:r>
              <a:rPr lang="en-AU" dirty="0" err="1"/>
              <a:t>Ctrl+C</a:t>
            </a:r>
            <a:r>
              <a:rPr lang="en-AU" dirty="0"/>
              <a:t> after N seconds:</a:t>
            </a:r>
          </a:p>
          <a:p>
            <a:r>
              <a:rPr lang="en-AU" sz="1200" kern="1200" dirty="0">
                <a:solidFill>
                  <a:schemeClr val="tx1"/>
                </a:solidFill>
                <a:latin typeface="+mn-lt"/>
                <a:ea typeface="+mn-ea"/>
                <a:cs typeface="+mn-cs"/>
              </a:rPr>
              <a:t>timeout -s INT 130 ros2 run </a:t>
            </a:r>
            <a:r>
              <a:rPr lang="en-AU" sz="1200" kern="1200" dirty="0" err="1">
                <a:solidFill>
                  <a:schemeClr val="tx1"/>
                </a:solidFill>
                <a:latin typeface="+mn-lt"/>
                <a:ea typeface="+mn-ea"/>
                <a:cs typeface="+mn-cs"/>
              </a:rPr>
              <a:t>wall_follower</a:t>
            </a:r>
            <a:r>
              <a:rPr lang="en-AU" sz="1200" kern="1200" dirty="0">
                <a:solidFill>
                  <a:schemeClr val="tx1"/>
                </a:solidFill>
                <a:latin typeface="+mn-lt"/>
                <a:ea typeface="+mn-ea"/>
                <a:cs typeface="+mn-cs"/>
              </a:rPr>
              <a:t> </a:t>
            </a:r>
            <a:r>
              <a:rPr lang="en-AU" sz="1200" kern="1200" dirty="0" err="1">
                <a:solidFill>
                  <a:schemeClr val="tx1"/>
                </a:solidFill>
                <a:latin typeface="+mn-lt"/>
                <a:ea typeface="+mn-ea"/>
                <a:cs typeface="+mn-cs"/>
              </a:rPr>
              <a:t>wall_follower_node</a:t>
            </a:r>
            <a:r>
              <a:rPr lang="en-AU" sz="1200" kern="1200" dirty="0">
                <a:solidFill>
                  <a:schemeClr val="tx1"/>
                </a:solidFill>
                <a:latin typeface="+mn-lt"/>
                <a:ea typeface="+mn-ea"/>
                <a:cs typeface="+mn-cs"/>
              </a:rPr>
              <a:t> --</a:t>
            </a:r>
            <a:r>
              <a:rPr lang="en-AU" sz="1200" kern="1200" dirty="0" err="1">
                <a:solidFill>
                  <a:schemeClr val="tx1"/>
                </a:solidFill>
                <a:latin typeface="+mn-lt"/>
                <a:ea typeface="+mn-ea"/>
                <a:cs typeface="+mn-cs"/>
              </a:rPr>
              <a:t>ros-args</a:t>
            </a:r>
            <a:r>
              <a:rPr lang="en-AU" sz="1200" kern="1200" dirty="0">
                <a:solidFill>
                  <a:schemeClr val="tx1"/>
                </a:solidFill>
                <a:latin typeface="+mn-lt"/>
                <a:ea typeface="+mn-ea"/>
                <a:cs typeface="+mn-cs"/>
              </a:rPr>
              <a:t> -p side:=left -p mode:=</a:t>
            </a:r>
            <a:r>
              <a:rPr lang="en-AU" sz="1200" kern="1200" dirty="0" err="1">
                <a:solidFill>
                  <a:schemeClr val="tx1"/>
                </a:solidFill>
                <a:latin typeface="+mn-lt"/>
                <a:ea typeface="+mn-ea"/>
                <a:cs typeface="+mn-cs"/>
              </a:rPr>
              <a:t>extended_pid</a:t>
            </a:r>
            <a:r>
              <a:rPr lang="en-AU" sz="1200" kern="1200" dirty="0">
                <a:solidFill>
                  <a:schemeClr val="tx1"/>
                </a:solidFill>
                <a:latin typeface="+mn-lt"/>
                <a:ea typeface="+mn-ea"/>
                <a:cs typeface="+mn-cs"/>
              </a:rPr>
              <a:t> -p </a:t>
            </a:r>
            <a:r>
              <a:rPr lang="en-AU" sz="1200" kern="1200" dirty="0" err="1">
                <a:solidFill>
                  <a:schemeClr val="tx1"/>
                </a:solidFill>
                <a:latin typeface="+mn-lt"/>
                <a:ea typeface="+mn-ea"/>
                <a:cs typeface="+mn-cs"/>
              </a:rPr>
              <a:t>use_sim_time</a:t>
            </a:r>
            <a:r>
              <a:rPr lang="en-AU" sz="1200" kern="1200" dirty="0">
                <a:solidFill>
                  <a:schemeClr val="tx1"/>
                </a:solidFill>
                <a:latin typeface="+mn-lt"/>
                <a:ea typeface="+mn-ea"/>
                <a:cs typeface="+mn-cs"/>
              </a:rPr>
              <a:t>:=false -p </a:t>
            </a:r>
            <a:r>
              <a:rPr lang="en-AU" sz="1200" kern="1200" dirty="0" err="1">
                <a:solidFill>
                  <a:schemeClr val="tx1"/>
                </a:solidFill>
                <a:latin typeface="+mn-lt"/>
                <a:ea typeface="+mn-ea"/>
                <a:cs typeface="+mn-cs"/>
              </a:rPr>
              <a:t>v_max</a:t>
            </a:r>
            <a:r>
              <a:rPr lang="en-AU" sz="1200" kern="1200" dirty="0">
                <a:solidFill>
                  <a:schemeClr val="tx1"/>
                </a:solidFill>
                <a:latin typeface="+mn-lt"/>
                <a:ea typeface="+mn-ea"/>
                <a:cs typeface="+mn-cs"/>
              </a:rPr>
              <a:t>:=0.065 -p </a:t>
            </a:r>
            <a:r>
              <a:rPr lang="en-AU" sz="1200" kern="1200" dirty="0" err="1">
                <a:solidFill>
                  <a:schemeClr val="tx1"/>
                </a:solidFill>
                <a:latin typeface="+mn-lt"/>
                <a:ea typeface="+mn-ea"/>
                <a:cs typeface="+mn-cs"/>
              </a:rPr>
              <a:t>v_min</a:t>
            </a:r>
            <a:r>
              <a:rPr lang="en-AU" sz="1200" kern="1200" dirty="0">
                <a:solidFill>
                  <a:schemeClr val="tx1"/>
                </a:solidFill>
                <a:latin typeface="+mn-lt"/>
                <a:ea typeface="+mn-ea"/>
                <a:cs typeface="+mn-cs"/>
              </a:rPr>
              <a:t>:=0.02 -p </a:t>
            </a:r>
            <a:r>
              <a:rPr lang="en-AU" sz="1200" kern="1200" dirty="0" err="1">
                <a:solidFill>
                  <a:schemeClr val="tx1"/>
                </a:solidFill>
                <a:latin typeface="+mn-lt"/>
                <a:ea typeface="+mn-ea"/>
                <a:cs typeface="+mn-cs"/>
              </a:rPr>
              <a:t>kp_w</a:t>
            </a:r>
            <a:r>
              <a:rPr lang="en-AU" sz="1200" kern="1200" dirty="0">
                <a:solidFill>
                  <a:schemeClr val="tx1"/>
                </a:solidFill>
                <a:latin typeface="+mn-lt"/>
                <a:ea typeface="+mn-ea"/>
                <a:cs typeface="+mn-cs"/>
              </a:rPr>
              <a:t>:=3.0 -p </a:t>
            </a:r>
            <a:r>
              <a:rPr lang="en-AU" sz="1200" kern="1200" dirty="0" err="1">
                <a:solidFill>
                  <a:schemeClr val="tx1"/>
                </a:solidFill>
                <a:latin typeface="+mn-lt"/>
                <a:ea typeface="+mn-ea"/>
                <a:cs typeface="+mn-cs"/>
              </a:rPr>
              <a:t>kd_w</a:t>
            </a:r>
            <a:r>
              <a:rPr lang="en-AU" sz="1200" kern="1200" dirty="0">
                <a:solidFill>
                  <a:schemeClr val="tx1"/>
                </a:solidFill>
                <a:latin typeface="+mn-lt"/>
                <a:ea typeface="+mn-ea"/>
                <a:cs typeface="+mn-cs"/>
              </a:rPr>
              <a:t>:=0.8 -p lookahead:=0.2 -p </a:t>
            </a:r>
            <a:r>
              <a:rPr lang="en-AU" sz="1200" kern="1200" dirty="0" err="1">
                <a:solidFill>
                  <a:schemeClr val="tx1"/>
                </a:solidFill>
                <a:latin typeface="+mn-lt"/>
                <a:ea typeface="+mn-ea"/>
                <a:cs typeface="+mn-cs"/>
              </a:rPr>
              <a:t>front_stop</a:t>
            </a:r>
            <a:r>
              <a:rPr lang="en-AU" sz="1200" kern="1200" dirty="0">
                <a:solidFill>
                  <a:schemeClr val="tx1"/>
                </a:solidFill>
                <a:latin typeface="+mn-lt"/>
                <a:ea typeface="+mn-ea"/>
                <a:cs typeface="+mn-cs"/>
              </a:rPr>
              <a:t>:=0.34</a:t>
            </a:r>
          </a:p>
          <a:p>
            <a:pPr lvl="0"/>
            <a:r>
              <a:rPr lang="en-AU" sz="1200" kern="1200" dirty="0">
                <a:solidFill>
                  <a:schemeClr val="tx1"/>
                </a:solidFill>
                <a:latin typeface="+mn-lt"/>
                <a:ea typeface="+mn-ea"/>
                <a:cs typeface="+mn-cs"/>
              </a:rPr>
              <a:t>130</a:t>
            </a:r>
            <a:r>
              <a:rPr lang="en-AU" dirty="0"/>
              <a:t> is the time in seconds. One lap at 0.065 m/s takes about 116 s, so 130 s gives about one lap.</a:t>
            </a:r>
          </a:p>
          <a:p>
            <a:pPr lvl="0"/>
            <a:r>
              <a:rPr lang="en-AU" sz="1200" kern="1200" dirty="0">
                <a:solidFill>
                  <a:schemeClr val="tx1"/>
                </a:solidFill>
                <a:latin typeface="+mn-lt"/>
                <a:ea typeface="+mn-ea"/>
                <a:cs typeface="+mn-cs"/>
              </a:rPr>
              <a:t>-s INT</a:t>
            </a:r>
            <a:r>
              <a:rPr lang="en-AU" dirty="0"/>
              <a:t> matters: it sends the same signal as </a:t>
            </a:r>
            <a:r>
              <a:rPr lang="en-AU" dirty="0" err="1"/>
              <a:t>Ctrl+C</a:t>
            </a:r>
            <a:r>
              <a:rPr lang="en-AU" dirty="0"/>
              <a:t>, so your stop-on-exit code runs. Without it the robot may keep driving.</a:t>
            </a:r>
          </a:p>
          <a:p>
            <a:r>
              <a:rPr lang="en-AU" dirty="0"/>
              <a:t>As a safety backup, in a second terminal, this sends a stop command at any time:</a:t>
            </a:r>
          </a:p>
          <a:p>
            <a:r>
              <a:rPr lang="en-AU" sz="1200" kern="1200" dirty="0">
                <a:solidFill>
                  <a:schemeClr val="tx1"/>
                </a:solidFill>
                <a:latin typeface="+mn-lt"/>
                <a:ea typeface="+mn-ea"/>
                <a:cs typeface="+mn-cs"/>
              </a:rPr>
              <a:t>ros2 topic pub --once /</a:t>
            </a:r>
            <a:r>
              <a:rPr lang="en-AU" sz="1200" kern="1200" dirty="0" err="1">
                <a:solidFill>
                  <a:schemeClr val="tx1"/>
                </a:solidFill>
                <a:latin typeface="+mn-lt"/>
                <a:ea typeface="+mn-ea"/>
                <a:cs typeface="+mn-cs"/>
              </a:rPr>
              <a:t>cmd_vel</a:t>
            </a:r>
            <a:r>
              <a:rPr lang="en-AU" sz="1200" kern="1200" dirty="0">
                <a:solidFill>
                  <a:schemeClr val="tx1"/>
                </a:solidFill>
                <a:latin typeface="+mn-lt"/>
                <a:ea typeface="+mn-ea"/>
                <a:cs typeface="+mn-cs"/>
              </a:rPr>
              <a:t> </a:t>
            </a:r>
            <a:r>
              <a:rPr lang="en-AU" sz="1200" kern="1200" dirty="0" err="1">
                <a:solidFill>
                  <a:schemeClr val="tx1"/>
                </a:solidFill>
                <a:latin typeface="+mn-lt"/>
                <a:ea typeface="+mn-ea"/>
                <a:cs typeface="+mn-cs"/>
              </a:rPr>
              <a:t>geometry_msgs</a:t>
            </a:r>
            <a:r>
              <a:rPr lang="en-AU" sz="1200" kern="1200" dirty="0">
                <a:solidFill>
                  <a:schemeClr val="tx1"/>
                </a:solidFill>
                <a:latin typeface="+mn-lt"/>
                <a:ea typeface="+mn-ea"/>
                <a:cs typeface="+mn-cs"/>
              </a:rPr>
              <a:t>/msg/Twist "{}"</a:t>
            </a:r>
          </a:p>
          <a:p>
            <a:r>
              <a:rPr lang="en-AU" dirty="0"/>
              <a:t>Test it once in Gazebo, or with the robot's wheels lifted, before using it in the demo. Keep a hand on </a:t>
            </a:r>
            <a:r>
              <a:rPr lang="en-AU" dirty="0" err="1"/>
              <a:t>Ctrl+C</a:t>
            </a:r>
            <a:r>
              <a:rPr lang="en-AU" dirty="0"/>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3F6F8"/>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5B6B79"/>
                </a:solidFill>
                <a:latin typeface="Calibri"/>
                <a:ea typeface="Calibri"/>
                <a:cs typeface="Calibri"/>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4283D"/>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5B6B79"/>
                </a:solidFill>
                <a:latin typeface="Calibri"/>
                <a:ea typeface="Calibri"/>
                <a:cs typeface="Calibri"/>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chart" Target="../charts/chart3.xml"/></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A8D88C-3338-2D63-4ADC-FA3877558137}"/>
              </a:ext>
            </a:extLst>
          </p:cNvPr>
          <p:cNvPicPr>
            <a:picLocks noChangeAspect="1"/>
          </p:cNvPicPr>
          <p:nvPr/>
        </p:nvPicPr>
        <p:blipFill>
          <a:blip r:embed="rId3">
            <a:alphaModFix amt="85000"/>
          </a:blip>
          <a:srcRect t="32614" b="11136"/>
          <a:stretch>
            <a:fillRect/>
          </a:stretch>
        </p:blipFill>
        <p:spPr>
          <a:xfrm>
            <a:off x="4643845" y="150223"/>
            <a:ext cx="4310743" cy="3233057"/>
          </a:xfrm>
          <a:prstGeom prst="roundRect">
            <a:avLst>
              <a:gd name="adj" fmla="val 8594"/>
            </a:avLst>
          </a:prstGeom>
          <a:solidFill>
            <a:srgbClr val="FFFFFF">
              <a:shade val="85000"/>
            </a:srgbClr>
          </a:solidFill>
          <a:ln>
            <a:noFill/>
          </a:ln>
          <a:effectLst>
            <a:outerShdw blurRad="76200" dir="13500000" sy="23000" kx="1200000" algn="br" rotWithShape="0">
              <a:prstClr val="black">
                <a:alpha val="20000"/>
              </a:prstClr>
            </a:outerShdw>
            <a:reflection blurRad="12700" stA="38000" endPos="28000" dist="5000" dir="5400000" sy="-100000" algn="bl" rotWithShape="0"/>
          </a:effectLst>
        </p:spPr>
      </p:pic>
      <p:sp>
        <p:nvSpPr>
          <p:cNvPr id="2" name="Text 0"/>
          <p:cNvSpPr txBox="1"/>
          <p:nvPr/>
        </p:nvSpPr>
        <p:spPr>
          <a:xfrm>
            <a:off x="640080" y="1315155"/>
            <a:ext cx="7315200" cy="365760"/>
          </a:xfrm>
          <a:prstGeom prst="rect">
            <a:avLst/>
          </a:prstGeom>
          <a:noFill/>
          <a:ln/>
        </p:spPr>
        <p:txBody>
          <a:bodyPr wrap="square" lIns="0" tIns="0" rIns="0" bIns="0" rtlCol="0" anchor="ctr"/>
          <a:lstStyle/>
          <a:p>
            <a:pPr marL="0" indent="0">
              <a:buNone/>
            </a:pPr>
            <a:r>
              <a:rPr lang="en-US" sz="1600" b="1" kern="0" spc="400" dirty="0">
                <a:solidFill>
                  <a:srgbClr val="E8A33D"/>
                </a:solidFill>
                <a:latin typeface="Calibri" pitchFamily="34" charset="0"/>
                <a:ea typeface="Calibri" pitchFamily="34" charset="-122"/>
                <a:cs typeface="Calibri" pitchFamily="34" charset="-120"/>
              </a:rPr>
              <a:t>ENG612  PROJECT 2</a:t>
            </a:r>
            <a:endParaRPr lang="en-US" sz="1600" dirty="0"/>
          </a:p>
        </p:txBody>
      </p:sp>
      <p:sp>
        <p:nvSpPr>
          <p:cNvPr id="3" name="Text 1"/>
          <p:cNvSpPr txBox="1"/>
          <p:nvPr/>
        </p:nvSpPr>
        <p:spPr>
          <a:xfrm>
            <a:off x="640080" y="1821452"/>
            <a:ext cx="7680960" cy="1463040"/>
          </a:xfrm>
          <a:prstGeom prst="rect">
            <a:avLst/>
          </a:prstGeom>
          <a:noFill/>
          <a:ln/>
        </p:spPr>
        <p:txBody>
          <a:bodyPr wrap="square" lIns="0" tIns="0" rIns="0" bIns="0" rtlCol="0" anchor="t"/>
          <a:lstStyle/>
          <a:p>
            <a:pPr marL="0" indent="0">
              <a:buNone/>
            </a:pPr>
            <a:r>
              <a:rPr lang="en-US" sz="4200" b="1" dirty="0">
                <a:solidFill>
                  <a:srgbClr val="FFFFFF"/>
                </a:solidFill>
                <a:latin typeface="Cambria" pitchFamily="34" charset="0"/>
                <a:ea typeface="Cambria" pitchFamily="34" charset="-122"/>
                <a:cs typeface="Cambria" pitchFamily="34" charset="-120"/>
              </a:rPr>
              <a:t>A TurtleBot3 that follows a wall at 0.30 m</a:t>
            </a:r>
            <a:endParaRPr lang="en-US" sz="4200" dirty="0"/>
          </a:p>
        </p:txBody>
      </p:sp>
      <p:sp>
        <p:nvSpPr>
          <p:cNvPr id="4" name="Text 2"/>
          <p:cNvSpPr txBox="1"/>
          <p:nvPr/>
        </p:nvSpPr>
        <p:spPr>
          <a:xfrm>
            <a:off x="640080" y="3375932"/>
            <a:ext cx="7680960" cy="457200"/>
          </a:xfrm>
          <a:prstGeom prst="rect">
            <a:avLst/>
          </a:prstGeom>
          <a:noFill/>
          <a:ln/>
        </p:spPr>
        <p:txBody>
          <a:bodyPr wrap="square" lIns="0" tIns="0" rIns="0" bIns="0" rtlCol="0" anchor="ctr"/>
          <a:lstStyle/>
          <a:p>
            <a:pPr marL="0" indent="0">
              <a:buNone/>
            </a:pPr>
            <a:r>
              <a:rPr lang="en-US" sz="2000" dirty="0">
                <a:solidFill>
                  <a:srgbClr val="C9D6E0"/>
                </a:solidFill>
                <a:latin typeface="Calibri" pitchFamily="34" charset="0"/>
                <a:ea typeface="Calibri" pitchFamily="34" charset="-122"/>
                <a:cs typeface="Calibri" pitchFamily="34" charset="-120"/>
              </a:rPr>
              <a:t>PID control, tested in Gazebo and on the real robot</a:t>
            </a:r>
            <a:endParaRPr lang="en-US" sz="2000" dirty="0"/>
          </a:p>
        </p:txBody>
      </p:sp>
      <p:sp>
        <p:nvSpPr>
          <p:cNvPr id="8" name="Text 3">
            <a:extLst>
              <a:ext uri="{FF2B5EF4-FFF2-40B4-BE49-F238E27FC236}">
                <a16:creationId xmlns:a16="http://schemas.microsoft.com/office/drawing/2014/main" id="{7D1BF2DF-A293-0E18-FCEF-49D6961474FD}"/>
              </a:ext>
            </a:extLst>
          </p:cNvPr>
          <p:cNvSpPr txBox="1"/>
          <p:nvPr/>
        </p:nvSpPr>
        <p:spPr>
          <a:xfrm>
            <a:off x="548640" y="4077788"/>
            <a:ext cx="7863840" cy="731520"/>
          </a:xfrm>
          <a:prstGeom prst="rect">
            <a:avLst/>
          </a:prstGeom>
          <a:noFill/>
          <a:ln/>
        </p:spPr>
        <p:txBody>
          <a:bodyPr wrap="square" lIns="0" tIns="0" rIns="0" bIns="0" rtlCol="0" anchor="ctr"/>
          <a:lstStyle/>
          <a:p>
            <a:r>
              <a:rPr lang="en-AU" sz="1600" dirty="0">
                <a:solidFill>
                  <a:schemeClr val="bg1"/>
                </a:solidFill>
              </a:rPr>
              <a:t>Kazi Ragib Yeahsar (35502987)</a:t>
            </a:r>
            <a:br>
              <a:rPr lang="en-AU" sz="1600" dirty="0">
                <a:solidFill>
                  <a:schemeClr val="bg1"/>
                </a:solidFill>
              </a:rPr>
            </a:br>
            <a:r>
              <a:rPr lang="en-AU" sz="1600" dirty="0">
                <a:solidFill>
                  <a:schemeClr val="bg1"/>
                </a:solidFill>
              </a:rPr>
              <a:t>Mir Tahir Tahsin Ahmad (35624701)</a:t>
            </a:r>
            <a:endParaRPr lang="en-US" sz="1600" dirty="0">
              <a:solidFill>
                <a:schemeClr val="bg1"/>
              </a:solidFill>
            </a:endParaRPr>
          </a:p>
        </p:txBody>
      </p:sp>
      <p:sp>
        <p:nvSpPr>
          <p:cNvPr id="9" name="Teardrop 8">
            <a:extLst>
              <a:ext uri="{FF2B5EF4-FFF2-40B4-BE49-F238E27FC236}">
                <a16:creationId xmlns:a16="http://schemas.microsoft.com/office/drawing/2014/main" id="{FD636104-265E-854E-E8D3-475CF9B73329}"/>
              </a:ext>
            </a:extLst>
          </p:cNvPr>
          <p:cNvSpPr/>
          <p:nvPr/>
        </p:nvSpPr>
        <p:spPr>
          <a:xfrm>
            <a:off x="480434" y="98579"/>
            <a:ext cx="1416571" cy="1268221"/>
          </a:xfrm>
          <a:prstGeom prst="teardrop">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1" name="Picture 10">
            <a:extLst>
              <a:ext uri="{FF2B5EF4-FFF2-40B4-BE49-F238E27FC236}">
                <a16:creationId xmlns:a16="http://schemas.microsoft.com/office/drawing/2014/main" id="{9AA9200A-DC52-F757-D869-3B5EE844DD58}"/>
              </a:ext>
            </a:extLst>
          </p:cNvPr>
          <p:cNvPicPr>
            <a:picLocks noChangeAspect="1"/>
          </p:cNvPicPr>
          <p:nvPr/>
        </p:nvPicPr>
        <p:blipFill>
          <a:blip r:embed="rId4"/>
          <a:stretch>
            <a:fillRect/>
          </a:stretch>
        </p:blipFill>
        <p:spPr>
          <a:xfrm>
            <a:off x="662590" y="394624"/>
            <a:ext cx="1053783" cy="67587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548640" y="320040"/>
            <a:ext cx="8046720" cy="731520"/>
          </a:xfrm>
          <a:prstGeom prst="rect">
            <a:avLst/>
          </a:prstGeom>
          <a:noFill/>
          <a:ln/>
        </p:spPr>
        <p:txBody>
          <a:bodyPr wrap="square" lIns="0" tIns="0" rIns="0" bIns="0" rtlCol="0" anchor="ctr"/>
          <a:lstStyle/>
          <a:p>
            <a:pPr marL="0" indent="0">
              <a:buNone/>
            </a:pPr>
            <a:r>
              <a:rPr lang="en-US" sz="3200" b="1" dirty="0">
                <a:solidFill>
                  <a:srgbClr val="14283D"/>
                </a:solidFill>
                <a:latin typeface="Cambria" pitchFamily="34" charset="0"/>
                <a:ea typeface="Cambria" pitchFamily="34" charset="-122"/>
                <a:cs typeface="Cambria" pitchFamily="34" charset="-120"/>
              </a:rPr>
              <a:t>The task in three numbers</a:t>
            </a:r>
            <a:endParaRPr lang="en-US" sz="3200" dirty="0"/>
          </a:p>
        </p:txBody>
      </p:sp>
      <p:sp>
        <p:nvSpPr>
          <p:cNvPr id="4" name="Card"/>
          <p:cNvSpPr/>
          <p:nvPr/>
        </p:nvSpPr>
        <p:spPr>
          <a:xfrm>
            <a:off x="548640" y="1371600"/>
            <a:ext cx="2560320" cy="2194560"/>
          </a:xfrm>
          <a:prstGeom prst="roundRect">
            <a:avLst>
              <a:gd name="adj" fmla="val 3333"/>
            </a:avLst>
          </a:prstGeom>
          <a:solidFill>
            <a:srgbClr val="FFFFFF"/>
          </a:solidFill>
          <a:ln w="9525">
            <a:solidFill>
              <a:srgbClr val="D5DDE3"/>
            </a:solidFill>
            <a:prstDash val="solid"/>
          </a:ln>
          <a:effectLst>
            <a:outerShdw blurRad="76200" dist="25400" dir="5400000" algn="bl" rotWithShape="0">
              <a:srgbClr val="000000">
                <a:alpha val="12000"/>
              </a:srgbClr>
            </a:outerShdw>
          </a:effectLst>
        </p:spPr>
        <p:txBody>
          <a:bodyPr/>
          <a:lstStyle/>
          <a:p>
            <a:endParaRPr lang="en-AU"/>
          </a:p>
        </p:txBody>
      </p:sp>
      <p:sp>
        <p:nvSpPr>
          <p:cNvPr id="5" name="Text 2"/>
          <p:cNvSpPr txBox="1"/>
          <p:nvPr/>
        </p:nvSpPr>
        <p:spPr>
          <a:xfrm>
            <a:off x="731520" y="1554480"/>
            <a:ext cx="2194560" cy="914400"/>
          </a:xfrm>
          <a:prstGeom prst="rect">
            <a:avLst/>
          </a:prstGeom>
          <a:noFill/>
          <a:ln/>
        </p:spPr>
        <p:txBody>
          <a:bodyPr wrap="square" lIns="0" tIns="0" rIns="0" bIns="0" rtlCol="0" anchor="ctr"/>
          <a:lstStyle/>
          <a:p>
            <a:pPr marL="0" indent="0">
              <a:buNone/>
            </a:pPr>
            <a:r>
              <a:rPr lang="en-US" sz="4000" b="1" dirty="0">
                <a:solidFill>
                  <a:srgbClr val="0F8B8D"/>
                </a:solidFill>
                <a:latin typeface="Cambria" pitchFamily="34" charset="0"/>
                <a:ea typeface="Cambria" pitchFamily="34" charset="-122"/>
                <a:cs typeface="Cambria" pitchFamily="34" charset="-120"/>
              </a:rPr>
              <a:t>0.30 m</a:t>
            </a:r>
            <a:endParaRPr lang="en-US" sz="4000" dirty="0"/>
          </a:p>
        </p:txBody>
      </p:sp>
      <p:sp>
        <p:nvSpPr>
          <p:cNvPr id="6" name="Text 3"/>
          <p:cNvSpPr txBox="1"/>
          <p:nvPr/>
        </p:nvSpPr>
        <p:spPr>
          <a:xfrm>
            <a:off x="731520" y="2560320"/>
            <a:ext cx="2194560" cy="822960"/>
          </a:xfrm>
          <a:prstGeom prst="rect">
            <a:avLst/>
          </a:prstGeom>
          <a:noFill/>
          <a:ln/>
        </p:spPr>
        <p:txBody>
          <a:bodyPr wrap="square" lIns="0" tIns="0" rIns="0" bIns="0" rtlCol="0" anchor="t"/>
          <a:lstStyle/>
          <a:p>
            <a:pPr marL="0" indent="0">
              <a:buNone/>
            </a:pPr>
            <a:r>
              <a:rPr lang="en-US" sz="1600" dirty="0">
                <a:solidFill>
                  <a:srgbClr val="1F2D3A"/>
                </a:solidFill>
                <a:latin typeface="Calibri" pitchFamily="34" charset="0"/>
                <a:ea typeface="Calibri" pitchFamily="34" charset="-122"/>
                <a:cs typeface="Calibri" pitchFamily="34" charset="-120"/>
              </a:rPr>
              <a:t>Distance to keep from the wall</a:t>
            </a:r>
            <a:endParaRPr lang="en-US" sz="1600" dirty="0"/>
          </a:p>
        </p:txBody>
      </p:sp>
      <p:sp>
        <p:nvSpPr>
          <p:cNvPr id="7" name="Card"/>
          <p:cNvSpPr/>
          <p:nvPr/>
        </p:nvSpPr>
        <p:spPr>
          <a:xfrm>
            <a:off x="3291840" y="1371600"/>
            <a:ext cx="2560320" cy="2194560"/>
          </a:xfrm>
          <a:prstGeom prst="roundRect">
            <a:avLst>
              <a:gd name="adj" fmla="val 3333"/>
            </a:avLst>
          </a:prstGeom>
          <a:solidFill>
            <a:srgbClr val="FFFFFF"/>
          </a:solidFill>
          <a:ln w="9525">
            <a:solidFill>
              <a:srgbClr val="D5DDE3"/>
            </a:solidFill>
            <a:prstDash val="solid"/>
          </a:ln>
          <a:effectLst>
            <a:outerShdw blurRad="76200" dist="25400" dir="5400000" algn="bl" rotWithShape="0">
              <a:srgbClr val="000000">
                <a:alpha val="12000"/>
              </a:srgbClr>
            </a:outerShdw>
          </a:effectLst>
        </p:spPr>
        <p:txBody>
          <a:bodyPr/>
          <a:lstStyle/>
          <a:p>
            <a:endParaRPr lang="en-AU"/>
          </a:p>
        </p:txBody>
      </p:sp>
      <p:sp>
        <p:nvSpPr>
          <p:cNvPr id="8" name="Text 5"/>
          <p:cNvSpPr txBox="1"/>
          <p:nvPr/>
        </p:nvSpPr>
        <p:spPr>
          <a:xfrm>
            <a:off x="3474720" y="1554480"/>
            <a:ext cx="2194560" cy="914400"/>
          </a:xfrm>
          <a:prstGeom prst="rect">
            <a:avLst/>
          </a:prstGeom>
          <a:noFill/>
          <a:ln/>
        </p:spPr>
        <p:txBody>
          <a:bodyPr wrap="square" lIns="0" tIns="0" rIns="0" bIns="0" rtlCol="0" anchor="ctr"/>
          <a:lstStyle/>
          <a:p>
            <a:pPr marL="0" indent="0">
              <a:buNone/>
            </a:pPr>
            <a:r>
              <a:rPr lang="en-US" sz="4000" b="1" dirty="0">
                <a:solidFill>
                  <a:srgbClr val="0F8B8D"/>
                </a:solidFill>
                <a:latin typeface="Cambria" pitchFamily="34" charset="0"/>
                <a:ea typeface="Cambria" pitchFamily="34" charset="-122"/>
                <a:cs typeface="Cambria" pitchFamily="34" charset="-120"/>
              </a:rPr>
              <a:t>2 PIDs</a:t>
            </a:r>
            <a:endParaRPr lang="en-US" sz="4000" dirty="0"/>
          </a:p>
        </p:txBody>
      </p:sp>
      <p:sp>
        <p:nvSpPr>
          <p:cNvPr id="9" name="Text 6"/>
          <p:cNvSpPr txBox="1"/>
          <p:nvPr/>
        </p:nvSpPr>
        <p:spPr>
          <a:xfrm>
            <a:off x="3474720" y="2560320"/>
            <a:ext cx="2194560" cy="822960"/>
          </a:xfrm>
          <a:prstGeom prst="rect">
            <a:avLst/>
          </a:prstGeom>
          <a:noFill/>
          <a:ln/>
        </p:spPr>
        <p:txBody>
          <a:bodyPr wrap="square" lIns="0" tIns="0" rIns="0" bIns="0" rtlCol="0" anchor="t"/>
          <a:lstStyle/>
          <a:p>
            <a:pPr marL="0" indent="0">
              <a:buNone/>
            </a:pPr>
            <a:r>
              <a:rPr lang="en-US" sz="1600" dirty="0">
                <a:solidFill>
                  <a:srgbClr val="1F2D3A"/>
                </a:solidFill>
                <a:latin typeface="Calibri" pitchFamily="34" charset="0"/>
                <a:ea typeface="Calibri" pitchFamily="34" charset="-122"/>
                <a:cs typeface="Calibri" pitchFamily="34" charset="-120"/>
              </a:rPr>
              <a:t>Normal PID against Advanced PID (two PIDs)</a:t>
            </a:r>
            <a:endParaRPr lang="en-US" sz="1600" dirty="0"/>
          </a:p>
        </p:txBody>
      </p:sp>
      <p:sp>
        <p:nvSpPr>
          <p:cNvPr id="10" name="Card"/>
          <p:cNvSpPr/>
          <p:nvPr/>
        </p:nvSpPr>
        <p:spPr>
          <a:xfrm>
            <a:off x="6035040" y="1371600"/>
            <a:ext cx="2560320" cy="2194560"/>
          </a:xfrm>
          <a:prstGeom prst="roundRect">
            <a:avLst>
              <a:gd name="adj" fmla="val 3333"/>
            </a:avLst>
          </a:prstGeom>
          <a:solidFill>
            <a:srgbClr val="FFFFFF"/>
          </a:solidFill>
          <a:ln w="9525">
            <a:solidFill>
              <a:srgbClr val="D5DDE3"/>
            </a:solidFill>
            <a:prstDash val="solid"/>
          </a:ln>
          <a:effectLst>
            <a:outerShdw blurRad="76200" dist="25400" dir="5400000" algn="bl" rotWithShape="0">
              <a:srgbClr val="000000">
                <a:alpha val="12000"/>
              </a:srgbClr>
            </a:outerShdw>
          </a:effectLst>
        </p:spPr>
        <p:txBody>
          <a:bodyPr/>
          <a:lstStyle/>
          <a:p>
            <a:endParaRPr lang="en-AU"/>
          </a:p>
        </p:txBody>
      </p:sp>
      <p:sp>
        <p:nvSpPr>
          <p:cNvPr id="11" name="Text 8"/>
          <p:cNvSpPr txBox="1"/>
          <p:nvPr/>
        </p:nvSpPr>
        <p:spPr>
          <a:xfrm>
            <a:off x="6217920" y="1554480"/>
            <a:ext cx="2194560" cy="914400"/>
          </a:xfrm>
          <a:prstGeom prst="rect">
            <a:avLst/>
          </a:prstGeom>
          <a:noFill/>
          <a:ln/>
        </p:spPr>
        <p:txBody>
          <a:bodyPr wrap="square" lIns="0" tIns="0" rIns="0" bIns="0" rtlCol="0" anchor="ctr"/>
          <a:lstStyle/>
          <a:p>
            <a:pPr marL="0" indent="0">
              <a:buNone/>
            </a:pPr>
            <a:r>
              <a:rPr lang="en-US" sz="4000" b="1" dirty="0">
                <a:solidFill>
                  <a:srgbClr val="0F8B8D"/>
                </a:solidFill>
                <a:latin typeface="Cambria" pitchFamily="34" charset="0"/>
                <a:ea typeface="Cambria" pitchFamily="34" charset="-122"/>
                <a:cs typeface="Cambria" pitchFamily="34" charset="-120"/>
              </a:rPr>
              <a:t>2 × 2 m</a:t>
            </a:r>
            <a:endParaRPr lang="en-US" sz="4000" dirty="0"/>
          </a:p>
        </p:txBody>
      </p:sp>
      <p:sp>
        <p:nvSpPr>
          <p:cNvPr id="12" name="Text 9"/>
          <p:cNvSpPr txBox="1"/>
          <p:nvPr/>
        </p:nvSpPr>
        <p:spPr>
          <a:xfrm>
            <a:off x="6217920" y="2560320"/>
            <a:ext cx="2194560" cy="822960"/>
          </a:xfrm>
          <a:prstGeom prst="rect">
            <a:avLst/>
          </a:prstGeom>
          <a:noFill/>
          <a:ln/>
        </p:spPr>
        <p:txBody>
          <a:bodyPr wrap="square" lIns="0" tIns="0" rIns="0" bIns="0" rtlCol="0" anchor="t"/>
          <a:lstStyle/>
          <a:p>
            <a:pPr marL="0" indent="0">
              <a:buNone/>
            </a:pPr>
            <a:r>
              <a:rPr lang="en-US" sz="1600" dirty="0">
                <a:solidFill>
                  <a:srgbClr val="1F2D3A"/>
                </a:solidFill>
                <a:latin typeface="Calibri" pitchFamily="34" charset="0"/>
                <a:ea typeface="Calibri" pitchFamily="34" charset="-122"/>
                <a:cs typeface="Calibri" pitchFamily="34" charset="-120"/>
              </a:rPr>
              <a:t>Size of the demo box, with four corners</a:t>
            </a:r>
            <a:endParaRPr lang="en-US" sz="1600" dirty="0"/>
          </a:p>
        </p:txBody>
      </p:sp>
      <p:sp>
        <p:nvSpPr>
          <p:cNvPr id="13" name="Text 10"/>
          <p:cNvSpPr txBox="1"/>
          <p:nvPr/>
        </p:nvSpPr>
        <p:spPr>
          <a:xfrm>
            <a:off x="548640" y="3931920"/>
            <a:ext cx="8046720" cy="548640"/>
          </a:xfrm>
          <a:prstGeom prst="rect">
            <a:avLst/>
          </a:prstGeom>
          <a:noFill/>
          <a:ln/>
        </p:spPr>
        <p:txBody>
          <a:bodyPr wrap="square" lIns="0" tIns="0" rIns="0" bIns="0" rtlCol="0" anchor="ctr"/>
          <a:lstStyle/>
          <a:p>
            <a:pPr marL="0" indent="0">
              <a:buNone/>
            </a:pPr>
            <a:r>
              <a:rPr lang="en-US" sz="1600" dirty="0">
                <a:solidFill>
                  <a:srgbClr val="5B6B79"/>
                </a:solidFill>
                <a:latin typeface="Calibri" pitchFamily="34" charset="0"/>
                <a:ea typeface="Calibri" pitchFamily="34" charset="-122"/>
                <a:cs typeface="Calibri" pitchFamily="34" charset="-120"/>
              </a:rPr>
              <a:t>Built with ROS 2 Humble on a TurtleBot3 Burger, following the left wall. The robot only knows what its laser scanner sees.</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5B6B79"/>
                </a:solidFill>
                <a:latin typeface="Calibri"/>
                <a:ea typeface="Calibri"/>
                <a:cs typeface="Calibri"/>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548640" y="320040"/>
            <a:ext cx="8046720" cy="731520"/>
          </a:xfrm>
          <a:prstGeom prst="rect">
            <a:avLst/>
          </a:prstGeom>
          <a:noFill/>
          <a:ln/>
        </p:spPr>
        <p:txBody>
          <a:bodyPr wrap="square" lIns="0" tIns="0" rIns="0" bIns="0" rtlCol="0" anchor="ctr"/>
          <a:lstStyle/>
          <a:p>
            <a:pPr marL="0" indent="0">
              <a:buNone/>
            </a:pPr>
            <a:r>
              <a:rPr lang="en-US" sz="3200" b="1" dirty="0">
                <a:solidFill>
                  <a:srgbClr val="14283D"/>
                </a:solidFill>
                <a:latin typeface="Cambria" pitchFamily="34" charset="0"/>
                <a:ea typeface="Cambria" pitchFamily="34" charset="-122"/>
                <a:cs typeface="Cambria" pitchFamily="34" charset="-120"/>
              </a:rPr>
              <a:t>System architecture and code tags</a:t>
            </a:r>
            <a:endParaRPr lang="en-US" sz="3200" dirty="0"/>
          </a:p>
        </p:txBody>
      </p:sp>
      <p:sp>
        <p:nvSpPr>
          <p:cNvPr id="4" name="Robot card"/>
          <p:cNvSpPr/>
          <p:nvPr/>
        </p:nvSpPr>
        <p:spPr>
          <a:xfrm>
            <a:off x="365760" y="1097280"/>
            <a:ext cx="1920240" cy="3337560"/>
          </a:xfrm>
          <a:prstGeom prst="roundRect">
            <a:avLst>
              <a:gd name="adj" fmla="val 3810"/>
            </a:avLst>
          </a:prstGeom>
          <a:solidFill>
            <a:srgbClr val="FFFFFF"/>
          </a:solidFill>
          <a:ln w="9525">
            <a:solidFill>
              <a:srgbClr val="D5DDE3"/>
            </a:solidFill>
            <a:prstDash val="solid"/>
          </a:ln>
          <a:effectLst>
            <a:outerShdw blurRad="76200" dist="25400" dir="5400000" algn="bl" rotWithShape="0">
              <a:srgbClr val="000000">
                <a:alpha val="12000"/>
              </a:srgbClr>
            </a:outerShdw>
          </a:effectLst>
        </p:spPr>
        <p:txBody>
          <a:bodyPr/>
          <a:lstStyle/>
          <a:p>
            <a:endParaRPr lang="en-AU"/>
          </a:p>
        </p:txBody>
      </p:sp>
      <p:sp>
        <p:nvSpPr>
          <p:cNvPr id="5" name="Text 2"/>
          <p:cNvSpPr txBox="1"/>
          <p:nvPr/>
        </p:nvSpPr>
        <p:spPr>
          <a:xfrm>
            <a:off x="502920" y="1170432"/>
            <a:ext cx="1645920" cy="320040"/>
          </a:xfrm>
          <a:prstGeom prst="rect">
            <a:avLst/>
          </a:prstGeom>
          <a:noFill/>
          <a:ln/>
        </p:spPr>
        <p:txBody>
          <a:bodyPr wrap="square" lIns="0" tIns="0" rIns="0" bIns="0" rtlCol="0" anchor="ctr"/>
          <a:lstStyle/>
          <a:p>
            <a:pPr marL="0" indent="0">
              <a:buNone/>
            </a:pPr>
            <a:r>
              <a:rPr lang="en-US" sz="1400" b="1" dirty="0">
                <a:solidFill>
                  <a:srgbClr val="14283D"/>
                </a:solidFill>
                <a:latin typeface="Cambria" pitchFamily="34" charset="0"/>
                <a:ea typeface="Cambria" pitchFamily="34" charset="-122"/>
                <a:cs typeface="Cambria" pitchFamily="34" charset="-120"/>
              </a:rPr>
              <a:t>Robot or Gazebo</a:t>
            </a:r>
            <a:endParaRPr lang="en-US" sz="1400" dirty="0"/>
          </a:p>
        </p:txBody>
      </p:sp>
      <p:sp>
        <p:nvSpPr>
          <p:cNvPr id="6" name="Laser"/>
          <p:cNvSpPr/>
          <p:nvPr/>
        </p:nvSpPr>
        <p:spPr>
          <a:xfrm>
            <a:off x="548640" y="1600200"/>
            <a:ext cx="1554480" cy="548640"/>
          </a:xfrm>
          <a:prstGeom prst="roundRect">
            <a:avLst>
              <a:gd name="adj" fmla="val 10000"/>
            </a:avLst>
          </a:prstGeom>
          <a:solidFill>
            <a:srgbClr val="0F8B8D"/>
          </a:solidFill>
          <a:ln w="6350">
            <a:solidFill>
              <a:srgbClr val="0F8B8D"/>
            </a:solidFill>
            <a:prstDash val="solid"/>
          </a:ln>
        </p:spPr>
        <p:txBody>
          <a:bodyPr/>
          <a:lstStyle/>
          <a:p>
            <a:endParaRPr lang="en-AU"/>
          </a:p>
        </p:txBody>
      </p:sp>
      <p:sp>
        <p:nvSpPr>
          <p:cNvPr id="7" name="Text 4"/>
          <p:cNvSpPr txBox="1"/>
          <p:nvPr/>
        </p:nvSpPr>
        <p:spPr>
          <a:xfrm>
            <a:off x="548640" y="1600200"/>
            <a:ext cx="155448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LDS laser</a:t>
            </a:r>
            <a:endParaRPr lang="en-US" sz="1400" dirty="0"/>
          </a:p>
        </p:txBody>
      </p:sp>
      <p:sp>
        <p:nvSpPr>
          <p:cNvPr id="8" name="Wheels"/>
          <p:cNvSpPr/>
          <p:nvPr/>
        </p:nvSpPr>
        <p:spPr>
          <a:xfrm>
            <a:off x="548640" y="2377440"/>
            <a:ext cx="1554480" cy="548640"/>
          </a:xfrm>
          <a:prstGeom prst="roundRect">
            <a:avLst>
              <a:gd name="adj" fmla="val 10000"/>
            </a:avLst>
          </a:prstGeom>
          <a:solidFill>
            <a:srgbClr val="0F8B8D"/>
          </a:solidFill>
          <a:ln w="6350">
            <a:solidFill>
              <a:srgbClr val="0F8B8D"/>
            </a:solidFill>
            <a:prstDash val="solid"/>
          </a:ln>
        </p:spPr>
        <p:txBody>
          <a:bodyPr/>
          <a:lstStyle/>
          <a:p>
            <a:endParaRPr lang="en-AU"/>
          </a:p>
        </p:txBody>
      </p:sp>
      <p:sp>
        <p:nvSpPr>
          <p:cNvPr id="9" name="Text 6"/>
          <p:cNvSpPr txBox="1"/>
          <p:nvPr/>
        </p:nvSpPr>
        <p:spPr>
          <a:xfrm>
            <a:off x="548640" y="2377440"/>
            <a:ext cx="155448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Wheels</a:t>
            </a:r>
            <a:endParaRPr lang="en-US" sz="1400" dirty="0"/>
          </a:p>
        </p:txBody>
      </p:sp>
      <p:sp>
        <p:nvSpPr>
          <p:cNvPr id="10" name="Odometry"/>
          <p:cNvSpPr/>
          <p:nvPr/>
        </p:nvSpPr>
        <p:spPr>
          <a:xfrm>
            <a:off x="548640" y="3566160"/>
            <a:ext cx="1554480" cy="548640"/>
          </a:xfrm>
          <a:prstGeom prst="roundRect">
            <a:avLst>
              <a:gd name="adj" fmla="val 10000"/>
            </a:avLst>
          </a:prstGeom>
          <a:solidFill>
            <a:srgbClr val="0F8B8D"/>
          </a:solidFill>
          <a:ln w="6350">
            <a:solidFill>
              <a:srgbClr val="0F8B8D"/>
            </a:solidFill>
            <a:prstDash val="solid"/>
          </a:ln>
        </p:spPr>
        <p:txBody>
          <a:bodyPr/>
          <a:lstStyle/>
          <a:p>
            <a:endParaRPr lang="en-AU"/>
          </a:p>
        </p:txBody>
      </p:sp>
      <p:sp>
        <p:nvSpPr>
          <p:cNvPr id="11" name="Text 8"/>
          <p:cNvSpPr txBox="1"/>
          <p:nvPr/>
        </p:nvSpPr>
        <p:spPr>
          <a:xfrm>
            <a:off x="548640" y="3566160"/>
            <a:ext cx="155448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Odometry</a:t>
            </a:r>
            <a:endParaRPr lang="en-US" sz="1400" dirty="0"/>
          </a:p>
        </p:txBody>
      </p:sp>
      <p:sp>
        <p:nvSpPr>
          <p:cNvPr id="12" name="Flow arrow"/>
          <p:cNvSpPr/>
          <p:nvPr/>
        </p:nvSpPr>
        <p:spPr>
          <a:xfrm>
            <a:off x="2286000" y="1874520"/>
            <a:ext cx="868680" cy="0"/>
          </a:xfrm>
          <a:prstGeom prst="line">
            <a:avLst/>
          </a:prstGeom>
          <a:noFill/>
          <a:ln w="25400">
            <a:solidFill>
              <a:srgbClr val="14283D"/>
            </a:solidFill>
            <a:prstDash val="solid"/>
            <a:tailEnd type="triangle"/>
          </a:ln>
        </p:spPr>
        <p:txBody>
          <a:bodyPr/>
          <a:lstStyle/>
          <a:p>
            <a:endParaRPr lang="en-AU"/>
          </a:p>
        </p:txBody>
      </p:sp>
      <p:sp>
        <p:nvSpPr>
          <p:cNvPr id="13" name="Topic chip"/>
          <p:cNvSpPr/>
          <p:nvPr/>
        </p:nvSpPr>
        <p:spPr>
          <a:xfrm>
            <a:off x="2395728" y="1536192"/>
            <a:ext cx="640080" cy="256032"/>
          </a:xfrm>
          <a:prstGeom prst="roundRect">
            <a:avLst>
              <a:gd name="adj" fmla="val 17857"/>
            </a:avLst>
          </a:prstGeom>
          <a:solidFill>
            <a:srgbClr val="FDF1DC"/>
          </a:solidFill>
          <a:ln w="9525">
            <a:solidFill>
              <a:srgbClr val="E8A33D"/>
            </a:solidFill>
            <a:prstDash val="solid"/>
          </a:ln>
        </p:spPr>
        <p:txBody>
          <a:bodyPr/>
          <a:lstStyle/>
          <a:p>
            <a:endParaRPr lang="en-AU"/>
          </a:p>
        </p:txBody>
      </p:sp>
      <p:sp>
        <p:nvSpPr>
          <p:cNvPr id="14" name="Text 11"/>
          <p:cNvSpPr txBox="1"/>
          <p:nvPr/>
        </p:nvSpPr>
        <p:spPr>
          <a:xfrm>
            <a:off x="2395728" y="1536192"/>
            <a:ext cx="640080" cy="256032"/>
          </a:xfrm>
          <a:prstGeom prst="rect">
            <a:avLst/>
          </a:prstGeom>
          <a:noFill/>
          <a:ln/>
        </p:spPr>
        <p:txBody>
          <a:bodyPr wrap="square" lIns="0" tIns="0" rIns="0" bIns="0" rtlCol="0" anchor="ctr"/>
          <a:lstStyle/>
          <a:p>
            <a:pPr marL="0" indent="0" algn="ctr">
              <a:buNone/>
            </a:pPr>
            <a:r>
              <a:rPr lang="en-US" sz="1200" b="1" dirty="0">
                <a:solidFill>
                  <a:srgbClr val="1F2D3A"/>
                </a:solidFill>
                <a:latin typeface="Consolas" pitchFamily="34" charset="0"/>
                <a:ea typeface="Consolas" pitchFamily="34" charset="-122"/>
                <a:cs typeface="Consolas" pitchFamily="34" charset="-120"/>
              </a:rPr>
              <a:t>/scan</a:t>
            </a:r>
            <a:endParaRPr lang="en-US" sz="1200" dirty="0"/>
          </a:p>
        </p:txBody>
      </p:sp>
      <p:sp>
        <p:nvSpPr>
          <p:cNvPr id="15" name="Flow arrow"/>
          <p:cNvSpPr/>
          <p:nvPr/>
        </p:nvSpPr>
        <p:spPr>
          <a:xfrm>
            <a:off x="2286000" y="2651760"/>
            <a:ext cx="868680" cy="0"/>
          </a:xfrm>
          <a:prstGeom prst="line">
            <a:avLst/>
          </a:prstGeom>
          <a:noFill/>
          <a:ln w="25400">
            <a:solidFill>
              <a:srgbClr val="14283D"/>
            </a:solidFill>
            <a:prstDash val="solid"/>
            <a:headEnd type="triangle"/>
          </a:ln>
        </p:spPr>
        <p:txBody>
          <a:bodyPr/>
          <a:lstStyle/>
          <a:p>
            <a:endParaRPr lang="en-AU"/>
          </a:p>
        </p:txBody>
      </p:sp>
      <p:sp>
        <p:nvSpPr>
          <p:cNvPr id="16" name="Topic chip"/>
          <p:cNvSpPr/>
          <p:nvPr/>
        </p:nvSpPr>
        <p:spPr>
          <a:xfrm>
            <a:off x="2331720" y="2313432"/>
            <a:ext cx="777240" cy="256032"/>
          </a:xfrm>
          <a:prstGeom prst="roundRect">
            <a:avLst>
              <a:gd name="adj" fmla="val 17857"/>
            </a:avLst>
          </a:prstGeom>
          <a:solidFill>
            <a:srgbClr val="FDF1DC"/>
          </a:solidFill>
          <a:ln w="9525">
            <a:solidFill>
              <a:srgbClr val="E8A33D"/>
            </a:solidFill>
            <a:prstDash val="solid"/>
          </a:ln>
        </p:spPr>
        <p:txBody>
          <a:bodyPr/>
          <a:lstStyle/>
          <a:p>
            <a:endParaRPr lang="en-AU"/>
          </a:p>
        </p:txBody>
      </p:sp>
      <p:sp>
        <p:nvSpPr>
          <p:cNvPr id="17" name="Text 14"/>
          <p:cNvSpPr txBox="1"/>
          <p:nvPr/>
        </p:nvSpPr>
        <p:spPr>
          <a:xfrm>
            <a:off x="2331720" y="2313432"/>
            <a:ext cx="777240" cy="256032"/>
          </a:xfrm>
          <a:prstGeom prst="rect">
            <a:avLst/>
          </a:prstGeom>
          <a:noFill/>
          <a:ln/>
        </p:spPr>
        <p:txBody>
          <a:bodyPr wrap="square" lIns="0" tIns="0" rIns="0" bIns="0" rtlCol="0" anchor="ctr"/>
          <a:lstStyle/>
          <a:p>
            <a:pPr marL="0" indent="0" algn="ctr">
              <a:buNone/>
            </a:pPr>
            <a:r>
              <a:rPr lang="en-US" sz="1200" b="1" dirty="0">
                <a:solidFill>
                  <a:srgbClr val="1F2D3A"/>
                </a:solidFill>
                <a:latin typeface="Consolas" pitchFamily="34" charset="0"/>
                <a:ea typeface="Consolas" pitchFamily="34" charset="-122"/>
                <a:cs typeface="Consolas" pitchFamily="34" charset="-120"/>
              </a:rPr>
              <a:t>/cmd_vel</a:t>
            </a:r>
            <a:endParaRPr lang="en-US" sz="1200" dirty="0"/>
          </a:p>
        </p:txBody>
      </p:sp>
      <p:sp>
        <p:nvSpPr>
          <p:cNvPr id="18" name="Flow arrow"/>
          <p:cNvSpPr/>
          <p:nvPr/>
        </p:nvSpPr>
        <p:spPr>
          <a:xfrm>
            <a:off x="2286000" y="3840480"/>
            <a:ext cx="868680" cy="0"/>
          </a:xfrm>
          <a:prstGeom prst="line">
            <a:avLst/>
          </a:prstGeom>
          <a:noFill/>
          <a:ln w="25400">
            <a:solidFill>
              <a:srgbClr val="14283D"/>
            </a:solidFill>
            <a:prstDash val="solid"/>
            <a:tailEnd type="triangle"/>
          </a:ln>
        </p:spPr>
        <p:txBody>
          <a:bodyPr/>
          <a:lstStyle/>
          <a:p>
            <a:endParaRPr lang="en-AU"/>
          </a:p>
        </p:txBody>
      </p:sp>
      <p:sp>
        <p:nvSpPr>
          <p:cNvPr id="19" name="Topic chip"/>
          <p:cNvSpPr/>
          <p:nvPr/>
        </p:nvSpPr>
        <p:spPr>
          <a:xfrm>
            <a:off x="2395728" y="3502152"/>
            <a:ext cx="640080" cy="256032"/>
          </a:xfrm>
          <a:prstGeom prst="roundRect">
            <a:avLst>
              <a:gd name="adj" fmla="val 17857"/>
            </a:avLst>
          </a:prstGeom>
          <a:solidFill>
            <a:srgbClr val="FDF1DC"/>
          </a:solidFill>
          <a:ln w="9525">
            <a:solidFill>
              <a:srgbClr val="E8A33D"/>
            </a:solidFill>
            <a:prstDash val="solid"/>
          </a:ln>
        </p:spPr>
        <p:txBody>
          <a:bodyPr/>
          <a:lstStyle/>
          <a:p>
            <a:endParaRPr lang="en-AU"/>
          </a:p>
        </p:txBody>
      </p:sp>
      <p:sp>
        <p:nvSpPr>
          <p:cNvPr id="20" name="Text 17"/>
          <p:cNvSpPr txBox="1"/>
          <p:nvPr/>
        </p:nvSpPr>
        <p:spPr>
          <a:xfrm>
            <a:off x="2395728" y="3502152"/>
            <a:ext cx="640080" cy="256032"/>
          </a:xfrm>
          <a:prstGeom prst="rect">
            <a:avLst/>
          </a:prstGeom>
          <a:noFill/>
          <a:ln/>
        </p:spPr>
        <p:txBody>
          <a:bodyPr wrap="square" lIns="0" tIns="0" rIns="0" bIns="0" rtlCol="0" anchor="ctr"/>
          <a:lstStyle/>
          <a:p>
            <a:pPr marL="0" indent="0" algn="ctr">
              <a:buNone/>
            </a:pPr>
            <a:r>
              <a:rPr lang="en-US" sz="1200" b="1" dirty="0">
                <a:solidFill>
                  <a:srgbClr val="1F2D3A"/>
                </a:solidFill>
                <a:latin typeface="Consolas" pitchFamily="34" charset="0"/>
                <a:ea typeface="Consolas" pitchFamily="34" charset="-122"/>
                <a:cs typeface="Consolas" pitchFamily="34" charset="-120"/>
              </a:rPr>
              <a:t>/odom</a:t>
            </a:r>
            <a:endParaRPr lang="en-US" sz="1200" dirty="0"/>
          </a:p>
        </p:txBody>
      </p:sp>
      <p:sp>
        <p:nvSpPr>
          <p:cNvPr id="21" name="Controller node"/>
          <p:cNvSpPr/>
          <p:nvPr/>
        </p:nvSpPr>
        <p:spPr>
          <a:xfrm>
            <a:off x="3200400" y="1097280"/>
            <a:ext cx="3566160" cy="2286000"/>
          </a:xfrm>
          <a:prstGeom prst="roundRect">
            <a:avLst>
              <a:gd name="adj" fmla="val 3200"/>
            </a:avLst>
          </a:prstGeom>
          <a:solidFill>
            <a:srgbClr val="14283D"/>
          </a:solidFill>
          <a:ln w="6350">
            <a:solidFill>
              <a:srgbClr val="14283D"/>
            </a:solidFill>
            <a:prstDash val="solid"/>
          </a:ln>
          <a:effectLst>
            <a:outerShdw blurRad="76200" dist="25400" dir="5400000" algn="bl" rotWithShape="0">
              <a:srgbClr val="000000">
                <a:alpha val="12000"/>
              </a:srgbClr>
            </a:outerShdw>
          </a:effectLst>
        </p:spPr>
        <p:txBody>
          <a:bodyPr/>
          <a:lstStyle/>
          <a:p>
            <a:endParaRPr lang="en-AU"/>
          </a:p>
        </p:txBody>
      </p:sp>
      <p:sp>
        <p:nvSpPr>
          <p:cNvPr id="22" name="Text 19"/>
          <p:cNvSpPr txBox="1"/>
          <p:nvPr/>
        </p:nvSpPr>
        <p:spPr>
          <a:xfrm>
            <a:off x="3337560" y="1161288"/>
            <a:ext cx="3291840" cy="320040"/>
          </a:xfrm>
          <a:prstGeom prst="rect">
            <a:avLst/>
          </a:prstGeom>
          <a:noFill/>
          <a:ln/>
        </p:spPr>
        <p:txBody>
          <a:bodyPr wrap="square" lIns="0" tIns="0" rIns="0" bIns="0" rtlCol="0" anchor="ctr"/>
          <a:lstStyle/>
          <a:p>
            <a:pPr marL="0" indent="0">
              <a:buNone/>
            </a:pPr>
            <a:r>
              <a:rPr lang="en-US" sz="1400" b="1" dirty="0">
                <a:solidFill>
                  <a:srgbClr val="7FD6D8"/>
                </a:solidFill>
                <a:latin typeface="Consolas" pitchFamily="34" charset="0"/>
                <a:ea typeface="Consolas" pitchFamily="34" charset="-122"/>
                <a:cs typeface="Consolas" pitchFamily="34" charset="-120"/>
              </a:rPr>
              <a:t>wall_follower_node</a:t>
            </a:r>
            <a:endParaRPr lang="en-US" sz="1400" dirty="0"/>
          </a:p>
        </p:txBody>
      </p:sp>
      <p:sp>
        <p:nvSpPr>
          <p:cNvPr id="23" name="Block Scan processing"/>
          <p:cNvSpPr/>
          <p:nvPr/>
        </p:nvSpPr>
        <p:spPr>
          <a:xfrm>
            <a:off x="3337560" y="1554480"/>
            <a:ext cx="1600200" cy="822960"/>
          </a:xfrm>
          <a:prstGeom prst="roundRect">
            <a:avLst>
              <a:gd name="adj" fmla="val 6667"/>
            </a:avLst>
          </a:prstGeom>
          <a:solidFill>
            <a:srgbClr val="1E3A52"/>
          </a:solidFill>
          <a:ln w="9525">
            <a:solidFill>
              <a:srgbClr val="3C5C78"/>
            </a:solidFill>
            <a:prstDash val="solid"/>
          </a:ln>
        </p:spPr>
        <p:txBody>
          <a:bodyPr/>
          <a:lstStyle/>
          <a:p>
            <a:endParaRPr lang="en-AU"/>
          </a:p>
        </p:txBody>
      </p:sp>
      <p:sp>
        <p:nvSpPr>
          <p:cNvPr id="24" name="Text 21"/>
          <p:cNvSpPr txBox="1"/>
          <p:nvPr/>
        </p:nvSpPr>
        <p:spPr>
          <a:xfrm>
            <a:off x="3410712" y="1600200"/>
            <a:ext cx="146304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Scan processing</a:t>
            </a:r>
            <a:endParaRPr lang="en-US" sz="1300" dirty="0"/>
          </a:p>
        </p:txBody>
      </p:sp>
      <p:sp>
        <p:nvSpPr>
          <p:cNvPr id="25" name="Text 22"/>
          <p:cNvSpPr txBox="1"/>
          <p:nvPr/>
        </p:nvSpPr>
        <p:spPr>
          <a:xfrm>
            <a:off x="3410712" y="1938528"/>
            <a:ext cx="1463040" cy="384048"/>
          </a:xfrm>
          <a:prstGeom prst="rect">
            <a:avLst/>
          </a:prstGeom>
          <a:noFill/>
          <a:ln/>
        </p:spPr>
        <p:txBody>
          <a:bodyPr wrap="square" lIns="0" tIns="0" rIns="0" bIns="0" rtlCol="0" anchor="t"/>
          <a:lstStyle/>
          <a:p>
            <a:pPr marL="0" indent="0">
              <a:buNone/>
            </a:pPr>
            <a:r>
              <a:rPr lang="en-US" sz="1100" dirty="0">
                <a:solidFill>
                  <a:srgbClr val="BFD8E6"/>
                </a:solidFill>
                <a:latin typeface="Consolas" pitchFamily="34" charset="0"/>
                <a:ea typeface="Consolas" pitchFamily="34" charset="-122"/>
                <a:cs typeface="Consolas" pitchFamily="34" charset="-120"/>
              </a:rPr>
              <a:t>alpha, D, e = D - target</a:t>
            </a:r>
            <a:endParaRPr lang="en-US" sz="1100" dirty="0"/>
          </a:p>
        </p:txBody>
      </p:sp>
      <p:sp>
        <p:nvSpPr>
          <p:cNvPr id="26" name="Block Steering PID"/>
          <p:cNvSpPr/>
          <p:nvPr/>
        </p:nvSpPr>
        <p:spPr>
          <a:xfrm>
            <a:off x="5029200" y="1554480"/>
            <a:ext cx="1600200" cy="822960"/>
          </a:xfrm>
          <a:prstGeom prst="roundRect">
            <a:avLst>
              <a:gd name="adj" fmla="val 6667"/>
            </a:avLst>
          </a:prstGeom>
          <a:solidFill>
            <a:srgbClr val="1E3A52"/>
          </a:solidFill>
          <a:ln w="9525">
            <a:solidFill>
              <a:srgbClr val="3C5C78"/>
            </a:solidFill>
            <a:prstDash val="solid"/>
          </a:ln>
        </p:spPr>
        <p:txBody>
          <a:bodyPr/>
          <a:lstStyle/>
          <a:p>
            <a:endParaRPr lang="en-AU"/>
          </a:p>
        </p:txBody>
      </p:sp>
      <p:sp>
        <p:nvSpPr>
          <p:cNvPr id="27" name="Text 24"/>
          <p:cNvSpPr txBox="1"/>
          <p:nvPr/>
        </p:nvSpPr>
        <p:spPr>
          <a:xfrm>
            <a:off x="5102352" y="1600200"/>
            <a:ext cx="146304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Steering PID</a:t>
            </a:r>
            <a:endParaRPr lang="en-US" sz="1300" dirty="0"/>
          </a:p>
        </p:txBody>
      </p:sp>
      <p:sp>
        <p:nvSpPr>
          <p:cNvPr id="28" name="Text 25"/>
          <p:cNvSpPr txBox="1"/>
          <p:nvPr/>
        </p:nvSpPr>
        <p:spPr>
          <a:xfrm>
            <a:off x="5102352" y="1938528"/>
            <a:ext cx="1463040" cy="384048"/>
          </a:xfrm>
          <a:prstGeom prst="rect">
            <a:avLst/>
          </a:prstGeom>
          <a:noFill/>
          <a:ln/>
        </p:spPr>
        <p:txBody>
          <a:bodyPr wrap="square" lIns="0" tIns="0" rIns="0" bIns="0" rtlCol="0" anchor="t"/>
          <a:lstStyle/>
          <a:p>
            <a:pPr marL="0" indent="0">
              <a:buNone/>
            </a:pPr>
            <a:r>
              <a:rPr lang="en-US" sz="1100" dirty="0">
                <a:solidFill>
                  <a:srgbClr val="BFD8E6"/>
                </a:solidFill>
                <a:latin typeface="Consolas" pitchFamily="34" charset="0"/>
                <a:ea typeface="Consolas" pitchFamily="34" charset="-122"/>
                <a:cs typeface="Consolas" pitchFamily="34" charset="-120"/>
              </a:rPr>
              <a:t>kp_w  ki_w  kd_w</a:t>
            </a:r>
            <a:endParaRPr lang="en-US" sz="1100" dirty="0"/>
          </a:p>
        </p:txBody>
      </p:sp>
      <p:sp>
        <p:nvSpPr>
          <p:cNvPr id="29" name="Block Speed PID"/>
          <p:cNvSpPr/>
          <p:nvPr/>
        </p:nvSpPr>
        <p:spPr>
          <a:xfrm>
            <a:off x="3337560" y="2468880"/>
            <a:ext cx="1600200" cy="822960"/>
          </a:xfrm>
          <a:prstGeom prst="roundRect">
            <a:avLst>
              <a:gd name="adj" fmla="val 6667"/>
            </a:avLst>
          </a:prstGeom>
          <a:solidFill>
            <a:srgbClr val="1E3A52"/>
          </a:solidFill>
          <a:ln w="9525">
            <a:solidFill>
              <a:srgbClr val="3C5C78"/>
            </a:solidFill>
            <a:prstDash val="solid"/>
          </a:ln>
        </p:spPr>
        <p:txBody>
          <a:bodyPr/>
          <a:lstStyle/>
          <a:p>
            <a:endParaRPr lang="en-AU"/>
          </a:p>
        </p:txBody>
      </p:sp>
      <p:sp>
        <p:nvSpPr>
          <p:cNvPr id="30" name="Text 27"/>
          <p:cNvSpPr txBox="1"/>
          <p:nvPr/>
        </p:nvSpPr>
        <p:spPr>
          <a:xfrm>
            <a:off x="3410712" y="2514600"/>
            <a:ext cx="146304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Speed PID</a:t>
            </a:r>
            <a:endParaRPr lang="en-US" sz="1300" dirty="0"/>
          </a:p>
        </p:txBody>
      </p:sp>
      <p:sp>
        <p:nvSpPr>
          <p:cNvPr id="31" name="Text 28"/>
          <p:cNvSpPr txBox="1"/>
          <p:nvPr/>
        </p:nvSpPr>
        <p:spPr>
          <a:xfrm>
            <a:off x="3410712" y="2852928"/>
            <a:ext cx="1463040" cy="384048"/>
          </a:xfrm>
          <a:prstGeom prst="rect">
            <a:avLst/>
          </a:prstGeom>
          <a:noFill/>
          <a:ln/>
        </p:spPr>
        <p:txBody>
          <a:bodyPr wrap="square" lIns="0" tIns="0" rIns="0" bIns="0" rtlCol="0" anchor="t"/>
          <a:lstStyle/>
          <a:p>
            <a:pPr marL="0" indent="0">
              <a:buNone/>
            </a:pPr>
            <a:r>
              <a:rPr lang="en-US" sz="1100" dirty="0">
                <a:solidFill>
                  <a:srgbClr val="BFD8E6"/>
                </a:solidFill>
                <a:latin typeface="Consolas" pitchFamily="34" charset="0"/>
                <a:ea typeface="Consolas" pitchFamily="34" charset="-122"/>
                <a:cs typeface="Consolas" pitchFamily="34" charset="-120"/>
              </a:rPr>
              <a:t>kp_v  ki_v  kd_v  c_err</a:t>
            </a:r>
            <a:endParaRPr lang="en-US" sz="1100" dirty="0"/>
          </a:p>
        </p:txBody>
      </p:sp>
      <p:sp>
        <p:nvSpPr>
          <p:cNvPr id="32" name="Block Corner logic"/>
          <p:cNvSpPr/>
          <p:nvPr/>
        </p:nvSpPr>
        <p:spPr>
          <a:xfrm>
            <a:off x="5029200" y="2468880"/>
            <a:ext cx="1600200" cy="822960"/>
          </a:xfrm>
          <a:prstGeom prst="roundRect">
            <a:avLst>
              <a:gd name="adj" fmla="val 6667"/>
            </a:avLst>
          </a:prstGeom>
          <a:solidFill>
            <a:srgbClr val="1E3A52"/>
          </a:solidFill>
          <a:ln w="9525">
            <a:solidFill>
              <a:srgbClr val="3C5C78"/>
            </a:solidFill>
            <a:prstDash val="solid"/>
          </a:ln>
        </p:spPr>
        <p:txBody>
          <a:bodyPr/>
          <a:lstStyle/>
          <a:p>
            <a:endParaRPr lang="en-AU"/>
          </a:p>
        </p:txBody>
      </p:sp>
      <p:sp>
        <p:nvSpPr>
          <p:cNvPr id="33" name="Text 30"/>
          <p:cNvSpPr txBox="1"/>
          <p:nvPr/>
        </p:nvSpPr>
        <p:spPr>
          <a:xfrm>
            <a:off x="5102352" y="2514600"/>
            <a:ext cx="146304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Corner logic</a:t>
            </a:r>
            <a:endParaRPr lang="en-US" sz="1300" dirty="0"/>
          </a:p>
        </p:txBody>
      </p:sp>
      <p:sp>
        <p:nvSpPr>
          <p:cNvPr id="34" name="Text 31"/>
          <p:cNvSpPr txBox="1"/>
          <p:nvPr/>
        </p:nvSpPr>
        <p:spPr>
          <a:xfrm>
            <a:off x="5102352" y="2852928"/>
            <a:ext cx="1463040" cy="384048"/>
          </a:xfrm>
          <a:prstGeom prst="rect">
            <a:avLst/>
          </a:prstGeom>
          <a:noFill/>
          <a:ln/>
        </p:spPr>
        <p:txBody>
          <a:bodyPr wrap="square" lIns="0" tIns="0" rIns="0" bIns="0" rtlCol="0" anchor="t"/>
          <a:lstStyle/>
          <a:p>
            <a:pPr marL="0" indent="0">
              <a:buNone/>
            </a:pPr>
            <a:r>
              <a:rPr lang="en-US" sz="1100" dirty="0">
                <a:solidFill>
                  <a:srgbClr val="BFD8E6"/>
                </a:solidFill>
                <a:latin typeface="Consolas" pitchFamily="34" charset="0"/>
                <a:ea typeface="Consolas" pitchFamily="34" charset="-122"/>
                <a:cs typeface="Consolas" pitchFamily="34" charset="-120"/>
              </a:rPr>
              <a:t>front_stop  front_clear</a:t>
            </a:r>
            <a:endParaRPr lang="en-US" sz="1100" dirty="0"/>
          </a:p>
        </p:txBody>
      </p:sp>
      <p:sp>
        <p:nvSpPr>
          <p:cNvPr id="35" name="Logger node"/>
          <p:cNvSpPr/>
          <p:nvPr/>
        </p:nvSpPr>
        <p:spPr>
          <a:xfrm>
            <a:off x="3200400" y="3611880"/>
            <a:ext cx="3566160" cy="822960"/>
          </a:xfrm>
          <a:prstGeom prst="roundRect">
            <a:avLst>
              <a:gd name="adj" fmla="val 8889"/>
            </a:avLst>
          </a:prstGeom>
          <a:solidFill>
            <a:srgbClr val="FFFFFF"/>
          </a:solidFill>
          <a:ln w="19050">
            <a:solidFill>
              <a:srgbClr val="0F8B8D"/>
            </a:solidFill>
            <a:prstDash val="solid"/>
          </a:ln>
          <a:effectLst>
            <a:outerShdw blurRad="76200" dist="25400" dir="5400000" algn="bl" rotWithShape="0">
              <a:srgbClr val="000000">
                <a:alpha val="12000"/>
              </a:srgbClr>
            </a:outerShdw>
          </a:effectLst>
        </p:spPr>
        <p:txBody>
          <a:bodyPr/>
          <a:lstStyle/>
          <a:p>
            <a:endParaRPr lang="en-AU"/>
          </a:p>
        </p:txBody>
      </p:sp>
      <p:sp>
        <p:nvSpPr>
          <p:cNvPr id="36" name="Text 33"/>
          <p:cNvSpPr txBox="1"/>
          <p:nvPr/>
        </p:nvSpPr>
        <p:spPr>
          <a:xfrm>
            <a:off x="3337560" y="3657600"/>
            <a:ext cx="3291840" cy="292608"/>
          </a:xfrm>
          <a:prstGeom prst="rect">
            <a:avLst/>
          </a:prstGeom>
          <a:noFill/>
          <a:ln/>
        </p:spPr>
        <p:txBody>
          <a:bodyPr wrap="square" lIns="0" tIns="0" rIns="0" bIns="0" rtlCol="0" anchor="ctr"/>
          <a:lstStyle/>
          <a:p>
            <a:pPr marL="0" indent="0">
              <a:buNone/>
            </a:pPr>
            <a:r>
              <a:rPr lang="en-US" sz="1400" b="1" dirty="0">
                <a:solidFill>
                  <a:srgbClr val="0F8B8D"/>
                </a:solidFill>
                <a:latin typeface="Consolas" pitchFamily="34" charset="0"/>
                <a:ea typeface="Consolas" pitchFamily="34" charset="-122"/>
                <a:cs typeface="Consolas" pitchFamily="34" charset="-120"/>
              </a:rPr>
              <a:t>data_logger</a:t>
            </a:r>
            <a:endParaRPr lang="en-US" sz="1400" dirty="0"/>
          </a:p>
        </p:txBody>
      </p:sp>
      <p:sp>
        <p:nvSpPr>
          <p:cNvPr id="37" name="Text 34"/>
          <p:cNvSpPr txBox="1"/>
          <p:nvPr/>
        </p:nvSpPr>
        <p:spPr>
          <a:xfrm>
            <a:off x="3337560" y="3950208"/>
            <a:ext cx="3291840" cy="457200"/>
          </a:xfrm>
          <a:prstGeom prst="rect">
            <a:avLst/>
          </a:prstGeom>
          <a:noFill/>
          <a:ln/>
        </p:spPr>
        <p:txBody>
          <a:bodyPr wrap="square" lIns="0" tIns="0" rIns="0" bIns="0" rtlCol="0" anchor="t"/>
          <a:lstStyle/>
          <a:p>
            <a:pPr marL="0" indent="0">
              <a:buNone/>
            </a:pPr>
            <a:r>
              <a:rPr lang="en-US" sz="1200" dirty="0">
                <a:solidFill>
                  <a:srgbClr val="1F2D3A"/>
                </a:solidFill>
                <a:latin typeface="Calibri" pitchFamily="34" charset="0"/>
                <a:ea typeface="Calibri" pitchFamily="34" charset="-122"/>
                <a:cs typeface="Calibri" pitchFamily="34" charset="-120"/>
              </a:rPr>
              <a:t>listens to /scan /odom /cmd_vel and writes CSV logs. It never changes the robot.</a:t>
            </a:r>
            <a:endParaRPr lang="en-US" sz="1200" dirty="0"/>
          </a:p>
        </p:txBody>
      </p:sp>
      <p:sp>
        <p:nvSpPr>
          <p:cNvPr id="38" name="Params card"/>
          <p:cNvSpPr/>
          <p:nvPr/>
        </p:nvSpPr>
        <p:spPr>
          <a:xfrm>
            <a:off x="6995160" y="1097280"/>
            <a:ext cx="1783080" cy="2286000"/>
          </a:xfrm>
          <a:prstGeom prst="roundRect">
            <a:avLst>
              <a:gd name="adj" fmla="val 4103"/>
            </a:avLst>
          </a:prstGeom>
          <a:solidFill>
            <a:srgbClr val="FFFFFF"/>
          </a:solidFill>
          <a:ln w="9525">
            <a:solidFill>
              <a:srgbClr val="D5DDE3"/>
            </a:solidFill>
            <a:prstDash val="solid"/>
          </a:ln>
          <a:effectLst>
            <a:outerShdw blurRad="76200" dist="25400" dir="5400000" algn="bl" rotWithShape="0">
              <a:srgbClr val="000000">
                <a:alpha val="12000"/>
              </a:srgbClr>
            </a:outerShdw>
          </a:effectLst>
        </p:spPr>
        <p:txBody>
          <a:bodyPr/>
          <a:lstStyle/>
          <a:p>
            <a:endParaRPr lang="en-AU"/>
          </a:p>
        </p:txBody>
      </p:sp>
      <p:sp>
        <p:nvSpPr>
          <p:cNvPr id="39" name="Text 36"/>
          <p:cNvSpPr txBox="1"/>
          <p:nvPr/>
        </p:nvSpPr>
        <p:spPr>
          <a:xfrm>
            <a:off x="7132320" y="1161288"/>
            <a:ext cx="1554480" cy="274320"/>
          </a:xfrm>
          <a:prstGeom prst="rect">
            <a:avLst/>
          </a:prstGeom>
          <a:noFill/>
          <a:ln/>
        </p:spPr>
        <p:txBody>
          <a:bodyPr wrap="square" lIns="0" tIns="0" rIns="0" bIns="0" rtlCol="0" anchor="ctr"/>
          <a:lstStyle/>
          <a:p>
            <a:pPr marL="0" indent="0">
              <a:buNone/>
            </a:pPr>
            <a:r>
              <a:rPr lang="en-US" sz="1400" b="1" dirty="0">
                <a:solidFill>
                  <a:srgbClr val="14283D"/>
                </a:solidFill>
                <a:latin typeface="Cambria" pitchFamily="34" charset="0"/>
                <a:ea typeface="Cambria" pitchFamily="34" charset="-122"/>
                <a:cs typeface="Cambria" pitchFamily="34" charset="-120"/>
              </a:rPr>
              <a:t>Key tags</a:t>
            </a:r>
            <a:endParaRPr lang="en-US" sz="1400" dirty="0"/>
          </a:p>
        </p:txBody>
      </p:sp>
      <p:sp>
        <p:nvSpPr>
          <p:cNvPr id="40" name="Text 37"/>
          <p:cNvSpPr txBox="1"/>
          <p:nvPr/>
        </p:nvSpPr>
        <p:spPr>
          <a:xfrm>
            <a:off x="7132320" y="1481328"/>
            <a:ext cx="1600200" cy="1828800"/>
          </a:xfrm>
          <a:prstGeom prst="rect">
            <a:avLst/>
          </a:prstGeom>
          <a:noFill/>
          <a:ln/>
        </p:spPr>
        <p:txBody>
          <a:bodyPr wrap="square" lIns="0" tIns="0" rIns="0" bIns="0" rtlCol="0" anchor="t"/>
          <a:lstStyle/>
          <a:p>
            <a:pPr marL="0" indent="0">
              <a:spcAft>
                <a:spcPts val="400"/>
              </a:spcAft>
              <a:buNone/>
            </a:pPr>
            <a:r>
              <a:rPr lang="en-US" sz="1100" dirty="0">
                <a:solidFill>
                  <a:srgbClr val="1F2D3A"/>
                </a:solidFill>
                <a:latin typeface="Consolas" pitchFamily="34" charset="0"/>
                <a:ea typeface="Consolas" pitchFamily="34" charset="-122"/>
                <a:cs typeface="Consolas" pitchFamily="34" charset="-120"/>
              </a:rPr>
              <a:t>side:=left</a:t>
            </a:r>
            <a:endParaRPr lang="en-US" sz="1100" dirty="0"/>
          </a:p>
          <a:p>
            <a:pPr marL="0" indent="0">
              <a:spcAft>
                <a:spcPts val="400"/>
              </a:spcAft>
              <a:buNone/>
            </a:pPr>
            <a:r>
              <a:rPr lang="en-US" sz="1100" dirty="0">
                <a:solidFill>
                  <a:srgbClr val="1F2D3A"/>
                </a:solidFill>
                <a:latin typeface="Consolas" pitchFamily="34" charset="0"/>
                <a:ea typeface="Consolas" pitchFamily="34" charset="-122"/>
                <a:cs typeface="Consolas" pitchFamily="34" charset="-120"/>
              </a:rPr>
              <a:t>mode:=baseline</a:t>
            </a:r>
            <a:endParaRPr lang="en-US" sz="1100" dirty="0"/>
          </a:p>
          <a:p>
            <a:pPr marL="0" indent="0">
              <a:spcAft>
                <a:spcPts val="400"/>
              </a:spcAft>
              <a:buNone/>
            </a:pPr>
            <a:r>
              <a:rPr lang="en-US" sz="1100" dirty="0">
                <a:solidFill>
                  <a:srgbClr val="1F2D3A"/>
                </a:solidFill>
                <a:latin typeface="Consolas" pitchFamily="34" charset="0"/>
                <a:ea typeface="Consolas" pitchFamily="34" charset="-122"/>
                <a:cs typeface="Consolas" pitchFamily="34" charset="-120"/>
              </a:rPr>
              <a:t>mode:=extended_pid</a:t>
            </a:r>
            <a:endParaRPr lang="en-US" sz="1100" dirty="0"/>
          </a:p>
          <a:p>
            <a:pPr marL="0" indent="0">
              <a:spcAft>
                <a:spcPts val="400"/>
              </a:spcAft>
              <a:buNone/>
            </a:pPr>
            <a:r>
              <a:rPr lang="en-US" sz="1100" dirty="0">
                <a:solidFill>
                  <a:srgbClr val="1F2D3A"/>
                </a:solidFill>
                <a:latin typeface="Consolas" pitchFamily="34" charset="0"/>
                <a:ea typeface="Consolas" pitchFamily="34" charset="-122"/>
                <a:cs typeface="Consolas" pitchFamily="34" charset="-120"/>
              </a:rPr>
              <a:t>target:=0.30</a:t>
            </a:r>
            <a:endParaRPr lang="en-US" sz="1100" dirty="0"/>
          </a:p>
          <a:p>
            <a:pPr marL="0" indent="0">
              <a:spcAft>
                <a:spcPts val="400"/>
              </a:spcAft>
              <a:buNone/>
            </a:pPr>
            <a:r>
              <a:rPr lang="en-US" sz="1100" dirty="0">
                <a:solidFill>
                  <a:srgbClr val="1F2D3A"/>
                </a:solidFill>
                <a:latin typeface="Consolas" pitchFamily="34" charset="0"/>
                <a:ea typeface="Consolas" pitchFamily="34" charset="-122"/>
                <a:cs typeface="Consolas" pitchFamily="34" charset="-120"/>
              </a:rPr>
              <a:t>v_max  v_min</a:t>
            </a:r>
            <a:endParaRPr lang="en-US" sz="1100" dirty="0"/>
          </a:p>
          <a:p>
            <a:pPr marL="0" indent="0">
              <a:spcAft>
                <a:spcPts val="400"/>
              </a:spcAft>
              <a:buNone/>
            </a:pPr>
            <a:r>
              <a:rPr lang="en-US" sz="1100" dirty="0">
                <a:solidFill>
                  <a:srgbClr val="1F2D3A"/>
                </a:solidFill>
                <a:latin typeface="Consolas" pitchFamily="34" charset="0"/>
                <a:ea typeface="Consolas" pitchFamily="34" charset="-122"/>
                <a:cs typeface="Consolas" pitchFamily="34" charset="-120"/>
              </a:rPr>
              <a:t>lookahead</a:t>
            </a:r>
            <a:endParaRPr lang="en-US" sz="1100" dirty="0"/>
          </a:p>
        </p:txBody>
      </p:sp>
      <p:sp>
        <p:nvSpPr>
          <p:cNvPr id="41" name="Files card"/>
          <p:cNvSpPr/>
          <p:nvPr/>
        </p:nvSpPr>
        <p:spPr>
          <a:xfrm>
            <a:off x="6995160" y="3611880"/>
            <a:ext cx="1783080" cy="822960"/>
          </a:xfrm>
          <a:prstGeom prst="roundRect">
            <a:avLst>
              <a:gd name="adj" fmla="val 8889"/>
            </a:avLst>
          </a:prstGeom>
          <a:solidFill>
            <a:srgbClr val="FFFFFF"/>
          </a:solidFill>
          <a:ln w="9525">
            <a:solidFill>
              <a:srgbClr val="D5DDE3"/>
            </a:solidFill>
            <a:prstDash val="solid"/>
          </a:ln>
          <a:effectLst>
            <a:outerShdw blurRad="76200" dist="25400" dir="5400000" algn="bl" rotWithShape="0">
              <a:srgbClr val="000000">
                <a:alpha val="12000"/>
              </a:srgbClr>
            </a:outerShdw>
          </a:effectLst>
        </p:spPr>
        <p:txBody>
          <a:bodyPr/>
          <a:lstStyle/>
          <a:p>
            <a:endParaRPr lang="en-AU"/>
          </a:p>
        </p:txBody>
      </p:sp>
      <p:sp>
        <p:nvSpPr>
          <p:cNvPr id="42" name="Text 39"/>
          <p:cNvSpPr txBox="1"/>
          <p:nvPr/>
        </p:nvSpPr>
        <p:spPr>
          <a:xfrm>
            <a:off x="7132320" y="3675888"/>
            <a:ext cx="1600200" cy="713232"/>
          </a:xfrm>
          <a:prstGeom prst="rect">
            <a:avLst/>
          </a:prstGeom>
          <a:noFill/>
          <a:ln/>
        </p:spPr>
        <p:txBody>
          <a:bodyPr wrap="square" lIns="0" tIns="0" rIns="0" bIns="0" rtlCol="0" anchor="ctr"/>
          <a:lstStyle/>
          <a:p>
            <a:pPr marL="0" indent="0">
              <a:buNone/>
            </a:pPr>
            <a:r>
              <a:rPr lang="en-US" sz="1100" dirty="0">
                <a:solidFill>
                  <a:srgbClr val="1F2D3A"/>
                </a:solidFill>
                <a:latin typeface="Consolas" pitchFamily="34" charset="0"/>
                <a:ea typeface="Consolas" pitchFamily="34" charset="-122"/>
                <a:cs typeface="Consolas" pitchFamily="34" charset="-120"/>
              </a:rPr>
              <a:t>sim.launch.py</a:t>
            </a:r>
            <a:endParaRPr lang="en-US" sz="1100" dirty="0"/>
          </a:p>
          <a:p>
            <a:pPr marL="0" indent="0">
              <a:buNone/>
            </a:pPr>
            <a:r>
              <a:rPr lang="en-US" sz="1100" dirty="0">
                <a:solidFill>
                  <a:srgbClr val="1F2D3A"/>
                </a:solidFill>
                <a:latin typeface="Consolas" pitchFamily="34" charset="0"/>
                <a:ea typeface="Consolas" pitchFamily="34" charset="-122"/>
                <a:cs typeface="Consolas" pitchFamily="34" charset="-120"/>
              </a:rPr>
              <a:t>lab_terrain.world</a:t>
            </a:r>
            <a:endParaRPr lang="en-US" sz="1100" dirty="0"/>
          </a:p>
          <a:p>
            <a:pPr marL="0" indent="0">
              <a:buNone/>
            </a:pPr>
            <a:r>
              <a:rPr lang="en-US" sz="1100" dirty="0">
                <a:solidFill>
                  <a:srgbClr val="1F2D3A"/>
                </a:solidFill>
                <a:latin typeface="Consolas" pitchFamily="34" charset="0"/>
                <a:ea typeface="Consolas" pitchFamily="34" charset="-122"/>
                <a:cs typeface="Consolas" pitchFamily="34" charset="-120"/>
              </a:rPr>
              <a:t>docs/logs/*.csv</a:t>
            </a:r>
            <a:endParaRPr lang="en-US" sz="1100" dirty="0"/>
          </a:p>
        </p:txBody>
      </p:sp>
      <p:sp>
        <p:nvSpPr>
          <p:cNvPr id="43" name="Flow arrow"/>
          <p:cNvSpPr/>
          <p:nvPr/>
        </p:nvSpPr>
        <p:spPr>
          <a:xfrm>
            <a:off x="6766560" y="2240280"/>
            <a:ext cx="182880" cy="0"/>
          </a:xfrm>
          <a:prstGeom prst="line">
            <a:avLst/>
          </a:prstGeom>
          <a:noFill/>
          <a:ln w="25400">
            <a:solidFill>
              <a:srgbClr val="14283D"/>
            </a:solidFill>
            <a:prstDash val="solid"/>
            <a:headEnd type="triangle"/>
          </a:ln>
        </p:spPr>
        <p:txBody>
          <a:bodyPr/>
          <a:lstStyle/>
          <a:p>
            <a:endParaRPr lang="en-AU"/>
          </a:p>
        </p:txBody>
      </p:sp>
      <p:sp>
        <p:nvSpPr>
          <p:cNvPr id="44" name="Text 41"/>
          <p:cNvSpPr txBox="1"/>
          <p:nvPr/>
        </p:nvSpPr>
        <p:spPr>
          <a:xfrm>
            <a:off x="365760" y="4553712"/>
            <a:ext cx="6400800" cy="228600"/>
          </a:xfrm>
          <a:prstGeom prst="rect">
            <a:avLst/>
          </a:prstGeom>
          <a:noFill/>
          <a:ln/>
        </p:spPr>
        <p:txBody>
          <a:bodyPr wrap="square" lIns="0" tIns="0" rIns="0" bIns="0" rtlCol="0" anchor="ctr"/>
          <a:lstStyle/>
          <a:p>
            <a:pPr marL="0" indent="0">
              <a:buNone/>
            </a:pPr>
            <a:r>
              <a:rPr lang="en-US" sz="1200" dirty="0">
                <a:solidFill>
                  <a:srgbClr val="5B6B79"/>
                </a:solidFill>
                <a:latin typeface="Calibri" pitchFamily="34" charset="0"/>
                <a:ea typeface="Calibri" pitchFamily="34" charset="-122"/>
                <a:cs typeface="Calibri" pitchFamily="34" charset="-120"/>
              </a:rPr>
              <a:t>Normal PID = baseline.  Advanced PID = extended_pid.</a:t>
            </a:r>
            <a:endParaRPr lang="en-US" sz="1200" dirty="0"/>
          </a:p>
        </p:txBody>
      </p:sp>
      <p:sp>
        <p:nvSpPr>
          <p:cNvPr id="3"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5B6B79"/>
                </a:solidFill>
                <a:latin typeface="Calibri"/>
                <a:ea typeface="Calibri"/>
                <a:cs typeface="Calibri"/>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548640" y="320040"/>
            <a:ext cx="8046720" cy="731520"/>
          </a:xfrm>
          <a:prstGeom prst="rect">
            <a:avLst/>
          </a:prstGeom>
          <a:noFill/>
          <a:ln/>
        </p:spPr>
        <p:txBody>
          <a:bodyPr wrap="square" lIns="0" tIns="0" rIns="0" bIns="0" rtlCol="0" anchor="ctr"/>
          <a:lstStyle/>
          <a:p>
            <a:pPr marL="0" indent="0">
              <a:buNone/>
            </a:pPr>
            <a:r>
              <a:rPr lang="en-US" sz="3200" b="1" dirty="0">
                <a:solidFill>
                  <a:srgbClr val="14283D"/>
                </a:solidFill>
                <a:latin typeface="Cambria" pitchFamily="34" charset="0"/>
                <a:ea typeface="Cambria" pitchFamily="34" charset="-122"/>
                <a:cs typeface="Cambria" pitchFamily="34" charset="-120"/>
              </a:rPr>
              <a:t>Step 1: turning a scan into a distance</a:t>
            </a:r>
            <a:endParaRPr lang="en-US" sz="3200" dirty="0"/>
          </a:p>
        </p:txBody>
      </p:sp>
      <p:grpSp>
        <p:nvGrpSpPr>
          <p:cNvPr id="3" name="Group 2">
            <a:extLst>
              <a:ext uri="{FF2B5EF4-FFF2-40B4-BE49-F238E27FC236}">
                <a16:creationId xmlns:a16="http://schemas.microsoft.com/office/drawing/2014/main" id="{9220EBCB-78BE-697C-5E54-4B0369BAC139}"/>
              </a:ext>
            </a:extLst>
          </p:cNvPr>
          <p:cNvGrpSpPr/>
          <p:nvPr/>
        </p:nvGrpSpPr>
        <p:grpSpPr>
          <a:xfrm>
            <a:off x="548640" y="1280160"/>
            <a:ext cx="4206240" cy="3017520"/>
            <a:chOff x="548640" y="1280160"/>
            <a:chExt cx="4206240" cy="3017520"/>
          </a:xfrm>
        </p:grpSpPr>
        <p:sp>
          <p:nvSpPr>
            <p:cNvPr id="4" name="Diagram panel"/>
            <p:cNvSpPr/>
            <p:nvPr/>
          </p:nvSpPr>
          <p:spPr>
            <a:xfrm>
              <a:off x="548640" y="1280160"/>
              <a:ext cx="4206240" cy="3017520"/>
            </a:xfrm>
            <a:prstGeom prst="roundRect">
              <a:avLst>
                <a:gd name="adj" fmla="val 2424"/>
              </a:avLst>
            </a:prstGeom>
            <a:solidFill>
              <a:srgbClr val="FFFFFF"/>
            </a:solidFill>
            <a:ln w="9525">
              <a:solidFill>
                <a:srgbClr val="D5DDE3"/>
              </a:solidFill>
              <a:prstDash val="solid"/>
            </a:ln>
            <a:effectLst>
              <a:outerShdw blurRad="76200" dist="25400" dir="5400000" algn="bl" rotWithShape="0">
                <a:srgbClr val="000000">
                  <a:alpha val="12000"/>
                </a:srgbClr>
              </a:outerShdw>
            </a:effectLst>
          </p:spPr>
          <p:txBody>
            <a:bodyPr/>
            <a:lstStyle/>
            <a:p>
              <a:endParaRPr lang="en-AU"/>
            </a:p>
          </p:txBody>
        </p:sp>
        <p:sp>
          <p:nvSpPr>
            <p:cNvPr id="5" name="Wall"/>
            <p:cNvSpPr/>
            <p:nvPr/>
          </p:nvSpPr>
          <p:spPr>
            <a:xfrm>
              <a:off x="822960" y="1554480"/>
              <a:ext cx="3657600" cy="164592"/>
            </a:xfrm>
            <a:prstGeom prst="rect">
              <a:avLst/>
            </a:prstGeom>
            <a:solidFill>
              <a:srgbClr val="14283D"/>
            </a:solidFill>
            <a:ln w="6350">
              <a:solidFill>
                <a:srgbClr val="14283D"/>
              </a:solidFill>
              <a:prstDash val="solid"/>
            </a:ln>
          </p:spPr>
          <p:txBody>
            <a:bodyPr/>
            <a:lstStyle/>
            <a:p>
              <a:endParaRPr lang="en-AU"/>
            </a:p>
          </p:txBody>
        </p:sp>
        <p:sp>
          <p:nvSpPr>
            <p:cNvPr id="6" name="Text 3"/>
            <p:cNvSpPr txBox="1"/>
            <p:nvPr/>
          </p:nvSpPr>
          <p:spPr>
            <a:xfrm>
              <a:off x="822960" y="1783080"/>
              <a:ext cx="914400" cy="274320"/>
            </a:xfrm>
            <a:prstGeom prst="rect">
              <a:avLst/>
            </a:prstGeom>
            <a:noFill/>
            <a:ln/>
          </p:spPr>
          <p:txBody>
            <a:bodyPr wrap="square" lIns="0" tIns="0" rIns="0" bIns="0" rtlCol="0" anchor="ctr"/>
            <a:lstStyle/>
            <a:p>
              <a:pPr marL="0" indent="0">
                <a:buNone/>
              </a:pPr>
              <a:r>
                <a:rPr lang="en-US" sz="1400" b="1" dirty="0">
                  <a:solidFill>
                    <a:srgbClr val="14283D"/>
                  </a:solidFill>
                  <a:latin typeface="Calibri" pitchFamily="34" charset="0"/>
                  <a:ea typeface="Calibri" pitchFamily="34" charset="-122"/>
                  <a:cs typeface="Calibri" pitchFamily="34" charset="-120"/>
                </a:rPr>
                <a:t>Wall</a:t>
              </a:r>
              <a:endParaRPr lang="en-US" sz="1400" dirty="0"/>
            </a:p>
          </p:txBody>
        </p:sp>
        <p:sp>
          <p:nvSpPr>
            <p:cNvPr id="7" name="Robot"/>
            <p:cNvSpPr/>
            <p:nvPr/>
          </p:nvSpPr>
          <p:spPr>
            <a:xfrm>
              <a:off x="2148840" y="3429000"/>
              <a:ext cx="640080" cy="640080"/>
            </a:xfrm>
            <a:prstGeom prst="ellipse">
              <a:avLst/>
            </a:prstGeom>
            <a:solidFill>
              <a:srgbClr val="0F8B8D"/>
            </a:solidFill>
            <a:ln w="6350">
              <a:solidFill>
                <a:srgbClr val="0F8B8D"/>
              </a:solidFill>
              <a:prstDash val="solid"/>
            </a:ln>
          </p:spPr>
          <p:txBody>
            <a:bodyPr/>
            <a:lstStyle/>
            <a:p>
              <a:endParaRPr lang="en-AU"/>
            </a:p>
          </p:txBody>
        </p:sp>
        <p:sp>
          <p:nvSpPr>
            <p:cNvPr id="8" name="Text 5"/>
            <p:cNvSpPr txBox="1"/>
            <p:nvPr/>
          </p:nvSpPr>
          <p:spPr>
            <a:xfrm>
              <a:off x="2880360" y="3657600"/>
              <a:ext cx="914400" cy="274320"/>
            </a:xfrm>
            <a:prstGeom prst="rect">
              <a:avLst/>
            </a:prstGeom>
            <a:noFill/>
            <a:ln/>
          </p:spPr>
          <p:txBody>
            <a:bodyPr wrap="square" lIns="0" tIns="0" rIns="0" bIns="0" rtlCol="0" anchor="ctr"/>
            <a:lstStyle/>
            <a:p>
              <a:pPr marL="0" indent="0">
                <a:buNone/>
              </a:pPr>
              <a:r>
                <a:rPr lang="en-US" sz="1400" b="1" dirty="0">
                  <a:solidFill>
                    <a:srgbClr val="0F8B8D"/>
                  </a:solidFill>
                  <a:latin typeface="Calibri" pitchFamily="34" charset="0"/>
                  <a:ea typeface="Calibri" pitchFamily="34" charset="-122"/>
                  <a:cs typeface="Calibri" pitchFamily="34" charset="-120"/>
                </a:rPr>
                <a:t>Robot</a:t>
              </a:r>
              <a:endParaRPr lang="en-US" sz="1400" dirty="0"/>
            </a:p>
          </p:txBody>
        </p:sp>
        <p:sp>
          <p:nvSpPr>
            <p:cNvPr id="9" name="Distance"/>
            <p:cNvSpPr/>
            <p:nvPr/>
          </p:nvSpPr>
          <p:spPr>
            <a:xfrm>
              <a:off x="2468880" y="1719072"/>
              <a:ext cx="0" cy="1709928"/>
            </a:xfrm>
            <a:prstGeom prst="line">
              <a:avLst/>
            </a:prstGeom>
            <a:noFill/>
            <a:ln w="38100">
              <a:solidFill>
                <a:srgbClr val="E8A33D"/>
              </a:solidFill>
              <a:prstDash val="dash"/>
              <a:headEnd type="triangle"/>
              <a:tailEnd type="triangle"/>
            </a:ln>
          </p:spPr>
          <p:txBody>
            <a:bodyPr/>
            <a:lstStyle/>
            <a:p>
              <a:endParaRPr lang="en-AU"/>
            </a:p>
          </p:txBody>
        </p:sp>
        <p:sp>
          <p:nvSpPr>
            <p:cNvPr id="10" name="Text 7"/>
            <p:cNvSpPr txBox="1"/>
            <p:nvPr/>
          </p:nvSpPr>
          <p:spPr>
            <a:xfrm>
              <a:off x="2606040" y="2377440"/>
              <a:ext cx="1645920" cy="274320"/>
            </a:xfrm>
            <a:prstGeom prst="rect">
              <a:avLst/>
            </a:prstGeom>
            <a:noFill/>
            <a:ln/>
          </p:spPr>
          <p:txBody>
            <a:bodyPr wrap="square" lIns="0" tIns="0" rIns="0" bIns="0" rtlCol="0" anchor="ctr"/>
            <a:lstStyle/>
            <a:p>
              <a:pPr marL="0" indent="0">
                <a:buNone/>
              </a:pPr>
              <a:r>
                <a:rPr lang="en-US" sz="1400" b="1" dirty="0">
                  <a:solidFill>
                    <a:srgbClr val="1F2D3A"/>
                  </a:solidFill>
                  <a:latin typeface="Calibri" pitchFamily="34" charset="0"/>
                  <a:ea typeface="Calibri" pitchFamily="34" charset="-122"/>
                  <a:cs typeface="Calibri" pitchFamily="34" charset="-120"/>
                </a:rPr>
                <a:t>target 0.30 m</a:t>
              </a:r>
              <a:endParaRPr lang="en-US" sz="1400" dirty="0"/>
            </a:p>
          </p:txBody>
        </p:sp>
      </p:grpSp>
      <p:sp>
        <p:nvSpPr>
          <p:cNvPr id="11" name="Text 8"/>
          <p:cNvSpPr txBox="1"/>
          <p:nvPr/>
        </p:nvSpPr>
        <p:spPr>
          <a:xfrm>
            <a:off x="5029200" y="1280160"/>
            <a:ext cx="3566160" cy="30175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F2D3A"/>
                </a:solidFill>
                <a:latin typeface="Calibri" pitchFamily="34" charset="0"/>
                <a:ea typeface="Calibri" pitchFamily="34" charset="-122"/>
                <a:cs typeface="Calibri" pitchFamily="34" charset="-120"/>
              </a:rPr>
              <a:t>Two side beams give the distance and the angle to the wall.</a:t>
            </a:r>
            <a:endParaRPr lang="en-US" sz="1600" dirty="0"/>
          </a:p>
          <a:p>
            <a:pPr marL="342900" indent="-342900">
              <a:spcAft>
                <a:spcPts val="1000"/>
              </a:spcAft>
              <a:buSzPct val="100000"/>
              <a:buChar char="•"/>
            </a:pPr>
            <a:r>
              <a:rPr lang="en-US" sz="1600" dirty="0">
                <a:solidFill>
                  <a:srgbClr val="1F2D3A"/>
                </a:solidFill>
                <a:latin typeface="Calibri" pitchFamily="34" charset="0"/>
                <a:ea typeface="Calibri" pitchFamily="34" charset="-122"/>
                <a:cs typeface="Calibri" pitchFamily="34" charset="-120"/>
              </a:rPr>
              <a:t>A short look-ahead lets the robot react before it drifts.</a:t>
            </a:r>
            <a:endParaRPr lang="en-US" sz="1600" dirty="0"/>
          </a:p>
          <a:p>
            <a:pPr marL="342900" indent="-342900">
              <a:spcAft>
                <a:spcPts val="1000"/>
              </a:spcAft>
              <a:buSzPct val="100000"/>
              <a:buChar char="•"/>
            </a:pPr>
            <a:r>
              <a:rPr lang="en-US" sz="1600" dirty="0">
                <a:solidFill>
                  <a:srgbClr val="1F2D3A"/>
                </a:solidFill>
                <a:latin typeface="Calibri" pitchFamily="34" charset="0"/>
                <a:ea typeface="Calibri" pitchFamily="34" charset="-122"/>
                <a:cs typeface="Calibri" pitchFamily="34" charset="-120"/>
              </a:rPr>
              <a:t>Median filtering ignores bad readings from the scanner.</a:t>
            </a:r>
            <a:endParaRPr lang="en-US" sz="1600" dirty="0"/>
          </a:p>
          <a:p>
            <a:pPr marL="0" indent="0">
              <a:spcAft>
                <a:spcPts val="1000"/>
              </a:spcAft>
              <a:buNone/>
            </a:pPr>
            <a:r>
              <a:rPr lang="en-US" sz="1600" b="1" dirty="0">
                <a:solidFill>
                  <a:srgbClr val="0F8B8D"/>
                </a:solidFill>
                <a:latin typeface="Calibri" pitchFamily="34" charset="0"/>
                <a:ea typeface="Calibri" pitchFamily="34" charset="-122"/>
                <a:cs typeface="Calibri" pitchFamily="34" charset="-120"/>
              </a:rPr>
              <a:t>Error = measured distance − 0.30 m</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5B6B79"/>
                </a:solidFill>
                <a:latin typeface="Calibri"/>
                <a:ea typeface="Calibri"/>
                <a:cs typeface="Calibri"/>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txBox="1"/>
          <p:nvPr/>
        </p:nvSpPr>
        <p:spPr>
          <a:xfrm>
            <a:off x="548640" y="320040"/>
            <a:ext cx="8046720" cy="731520"/>
          </a:xfrm>
          <a:prstGeom prst="rect">
            <a:avLst/>
          </a:prstGeom>
          <a:noFill/>
          <a:ln/>
        </p:spPr>
        <p:txBody>
          <a:bodyPr wrap="square" lIns="0" tIns="0" rIns="0" bIns="0" rtlCol="0" anchor="ctr"/>
          <a:lstStyle/>
          <a:p>
            <a:pPr marL="0" indent="0">
              <a:buNone/>
            </a:pPr>
            <a:r>
              <a:rPr lang="en-US" sz="3200" b="1" dirty="0">
                <a:solidFill>
                  <a:srgbClr val="14283D"/>
                </a:solidFill>
                <a:latin typeface="Cambria" pitchFamily="34" charset="0"/>
                <a:ea typeface="Cambria" pitchFamily="34" charset="-122"/>
                <a:cs typeface="Cambria" pitchFamily="34" charset="-120"/>
              </a:rPr>
              <a:t>Step 2: PID steering, in plain words</a:t>
            </a:r>
            <a:endParaRPr lang="en-US" sz="3200" dirty="0"/>
          </a:p>
        </p:txBody>
      </p:sp>
      <p:grpSp>
        <p:nvGrpSpPr>
          <p:cNvPr id="20" name="Group 19">
            <a:extLst>
              <a:ext uri="{FF2B5EF4-FFF2-40B4-BE49-F238E27FC236}">
                <a16:creationId xmlns:a16="http://schemas.microsoft.com/office/drawing/2014/main" id="{2A1973EF-7012-26EE-1789-DA7FB20E59E9}"/>
              </a:ext>
            </a:extLst>
          </p:cNvPr>
          <p:cNvGrpSpPr/>
          <p:nvPr/>
        </p:nvGrpSpPr>
        <p:grpSpPr>
          <a:xfrm>
            <a:off x="548640" y="1280160"/>
            <a:ext cx="8046720" cy="868680"/>
            <a:chOff x="548640" y="1280160"/>
            <a:chExt cx="8046720" cy="868680"/>
          </a:xfrm>
        </p:grpSpPr>
        <p:sp>
          <p:nvSpPr>
            <p:cNvPr id="4" name="Card"/>
            <p:cNvSpPr/>
            <p:nvPr/>
          </p:nvSpPr>
          <p:spPr>
            <a:xfrm>
              <a:off x="548640" y="1280160"/>
              <a:ext cx="8046720" cy="868680"/>
            </a:xfrm>
            <a:prstGeom prst="roundRect">
              <a:avLst>
                <a:gd name="adj" fmla="val 8421"/>
              </a:avLst>
            </a:prstGeom>
            <a:solidFill>
              <a:srgbClr val="FFFFFF"/>
            </a:solidFill>
            <a:ln w="9525">
              <a:solidFill>
                <a:srgbClr val="D5DDE3"/>
              </a:solidFill>
              <a:prstDash val="solid"/>
            </a:ln>
            <a:effectLst>
              <a:outerShdw blurRad="76200" dist="25400" dir="5400000" algn="bl" rotWithShape="0">
                <a:srgbClr val="000000">
                  <a:alpha val="12000"/>
                </a:srgbClr>
              </a:outerShdw>
            </a:effectLst>
          </p:spPr>
          <p:txBody>
            <a:bodyPr/>
            <a:lstStyle/>
            <a:p>
              <a:endParaRPr lang="en-AU"/>
            </a:p>
          </p:txBody>
        </p:sp>
        <p:sp>
          <p:nvSpPr>
            <p:cNvPr id="5" name="Letter P"/>
            <p:cNvSpPr/>
            <p:nvPr/>
          </p:nvSpPr>
          <p:spPr>
            <a:xfrm>
              <a:off x="731520" y="1417320"/>
              <a:ext cx="594360" cy="594360"/>
            </a:xfrm>
            <a:prstGeom prst="ellipse">
              <a:avLst/>
            </a:prstGeom>
            <a:solidFill>
              <a:srgbClr val="0F8B8D"/>
            </a:solidFill>
            <a:ln w="6350">
              <a:solidFill>
                <a:srgbClr val="0F8B8D"/>
              </a:solidFill>
              <a:prstDash val="solid"/>
            </a:ln>
          </p:spPr>
          <p:txBody>
            <a:bodyPr/>
            <a:lstStyle/>
            <a:p>
              <a:endParaRPr lang="en-AU"/>
            </a:p>
          </p:txBody>
        </p:sp>
        <p:sp>
          <p:nvSpPr>
            <p:cNvPr id="6" name="Text 3"/>
            <p:cNvSpPr txBox="1"/>
            <p:nvPr/>
          </p:nvSpPr>
          <p:spPr>
            <a:xfrm>
              <a:off x="731520" y="141732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P</a:t>
              </a:r>
              <a:endParaRPr lang="en-US" sz="2400" dirty="0"/>
            </a:p>
          </p:txBody>
        </p:sp>
        <p:sp>
          <p:nvSpPr>
            <p:cNvPr id="7" name="Text 4"/>
            <p:cNvSpPr txBox="1"/>
            <p:nvPr/>
          </p:nvSpPr>
          <p:spPr>
            <a:xfrm>
              <a:off x="1554480" y="1389888"/>
              <a:ext cx="2011680" cy="640080"/>
            </a:xfrm>
            <a:prstGeom prst="rect">
              <a:avLst/>
            </a:prstGeom>
            <a:noFill/>
            <a:ln/>
          </p:spPr>
          <p:txBody>
            <a:bodyPr wrap="square" lIns="0" tIns="0" rIns="0" bIns="0" rtlCol="0" anchor="ctr"/>
            <a:lstStyle/>
            <a:p>
              <a:pPr marL="0" indent="0">
                <a:buNone/>
              </a:pPr>
              <a:r>
                <a:rPr lang="en-US" sz="2000" b="1" dirty="0">
                  <a:solidFill>
                    <a:srgbClr val="14283D"/>
                  </a:solidFill>
                  <a:latin typeface="Cambria" pitchFamily="34" charset="0"/>
                  <a:ea typeface="Cambria" pitchFamily="34" charset="-122"/>
                  <a:cs typeface="Cambria" pitchFamily="34" charset="-120"/>
                </a:rPr>
                <a:t>Proportional</a:t>
              </a:r>
              <a:endParaRPr lang="en-US" sz="2000" dirty="0"/>
            </a:p>
          </p:txBody>
        </p:sp>
        <p:sp>
          <p:nvSpPr>
            <p:cNvPr id="8" name="Text 5"/>
            <p:cNvSpPr txBox="1"/>
            <p:nvPr/>
          </p:nvSpPr>
          <p:spPr>
            <a:xfrm>
              <a:off x="3657600" y="1371600"/>
              <a:ext cx="4754880" cy="685800"/>
            </a:xfrm>
            <a:prstGeom prst="rect">
              <a:avLst/>
            </a:prstGeom>
            <a:noFill/>
            <a:ln/>
          </p:spPr>
          <p:txBody>
            <a:bodyPr wrap="square" lIns="0" tIns="0" rIns="0" bIns="0" rtlCol="0" anchor="ctr"/>
            <a:lstStyle/>
            <a:p>
              <a:pPr marL="0" indent="0">
                <a:buNone/>
              </a:pPr>
              <a:r>
                <a:rPr lang="en-US" sz="1600" dirty="0">
                  <a:solidFill>
                    <a:srgbClr val="1F2D3A"/>
                  </a:solidFill>
                  <a:latin typeface="Calibri" pitchFamily="34" charset="0"/>
                  <a:ea typeface="Calibri" pitchFamily="34" charset="-122"/>
                  <a:cs typeface="Calibri" pitchFamily="34" charset="-120"/>
                </a:rPr>
                <a:t>Steer harder when the robot is further from 0.30 m</a:t>
              </a:r>
              <a:endParaRPr lang="en-US" sz="1600" dirty="0"/>
            </a:p>
          </p:txBody>
        </p:sp>
      </p:grpSp>
      <p:grpSp>
        <p:nvGrpSpPr>
          <p:cNvPr id="3" name="Group 2">
            <a:extLst>
              <a:ext uri="{FF2B5EF4-FFF2-40B4-BE49-F238E27FC236}">
                <a16:creationId xmlns:a16="http://schemas.microsoft.com/office/drawing/2014/main" id="{8F003C02-ABD2-6130-444A-A8D84A50FF57}"/>
              </a:ext>
            </a:extLst>
          </p:cNvPr>
          <p:cNvGrpSpPr/>
          <p:nvPr/>
        </p:nvGrpSpPr>
        <p:grpSpPr>
          <a:xfrm>
            <a:off x="548640" y="3218688"/>
            <a:ext cx="8046720" cy="868680"/>
            <a:chOff x="548640" y="2286000"/>
            <a:chExt cx="8046720" cy="868680"/>
          </a:xfrm>
        </p:grpSpPr>
        <p:sp>
          <p:nvSpPr>
            <p:cNvPr id="9" name="Card"/>
            <p:cNvSpPr/>
            <p:nvPr/>
          </p:nvSpPr>
          <p:spPr>
            <a:xfrm>
              <a:off x="548640" y="2286000"/>
              <a:ext cx="8046720" cy="868680"/>
            </a:xfrm>
            <a:prstGeom prst="roundRect">
              <a:avLst>
                <a:gd name="adj" fmla="val 8421"/>
              </a:avLst>
            </a:prstGeom>
            <a:solidFill>
              <a:srgbClr val="FFFFFF"/>
            </a:solidFill>
            <a:ln w="9525">
              <a:solidFill>
                <a:srgbClr val="D5DDE3"/>
              </a:solidFill>
              <a:prstDash val="solid"/>
            </a:ln>
            <a:effectLst>
              <a:outerShdw blurRad="76200" dist="25400" dir="5400000" algn="bl" rotWithShape="0">
                <a:srgbClr val="000000">
                  <a:alpha val="12000"/>
                </a:srgbClr>
              </a:outerShdw>
            </a:effectLst>
          </p:spPr>
          <p:txBody>
            <a:bodyPr/>
            <a:lstStyle/>
            <a:p>
              <a:endParaRPr lang="en-AU"/>
            </a:p>
          </p:txBody>
        </p:sp>
        <p:sp>
          <p:nvSpPr>
            <p:cNvPr id="10" name="Letter D"/>
            <p:cNvSpPr/>
            <p:nvPr/>
          </p:nvSpPr>
          <p:spPr>
            <a:xfrm>
              <a:off x="731520" y="2423160"/>
              <a:ext cx="594360" cy="594360"/>
            </a:xfrm>
            <a:prstGeom prst="ellipse">
              <a:avLst/>
            </a:prstGeom>
            <a:solidFill>
              <a:srgbClr val="14283D"/>
            </a:solidFill>
            <a:ln w="6350">
              <a:solidFill>
                <a:srgbClr val="14283D"/>
              </a:solidFill>
              <a:prstDash val="solid"/>
            </a:ln>
          </p:spPr>
          <p:txBody>
            <a:bodyPr/>
            <a:lstStyle/>
            <a:p>
              <a:endParaRPr lang="en-AU"/>
            </a:p>
          </p:txBody>
        </p:sp>
        <p:sp>
          <p:nvSpPr>
            <p:cNvPr id="11" name="Text 8"/>
            <p:cNvSpPr txBox="1"/>
            <p:nvPr/>
          </p:nvSpPr>
          <p:spPr>
            <a:xfrm>
              <a:off x="731520" y="242316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D</a:t>
              </a:r>
              <a:endParaRPr lang="en-US" sz="2400" dirty="0"/>
            </a:p>
          </p:txBody>
        </p:sp>
        <p:sp>
          <p:nvSpPr>
            <p:cNvPr id="12" name="Text 9"/>
            <p:cNvSpPr txBox="1"/>
            <p:nvPr/>
          </p:nvSpPr>
          <p:spPr>
            <a:xfrm>
              <a:off x="1554480" y="2395728"/>
              <a:ext cx="2011680" cy="640080"/>
            </a:xfrm>
            <a:prstGeom prst="rect">
              <a:avLst/>
            </a:prstGeom>
            <a:noFill/>
            <a:ln/>
          </p:spPr>
          <p:txBody>
            <a:bodyPr wrap="square" lIns="0" tIns="0" rIns="0" bIns="0" rtlCol="0" anchor="ctr"/>
            <a:lstStyle/>
            <a:p>
              <a:pPr marL="0" indent="0">
                <a:buNone/>
              </a:pPr>
              <a:r>
                <a:rPr lang="en-US" sz="2000" b="1" dirty="0">
                  <a:solidFill>
                    <a:srgbClr val="14283D"/>
                  </a:solidFill>
                  <a:latin typeface="Cambria" pitchFamily="34" charset="0"/>
                  <a:ea typeface="Cambria" pitchFamily="34" charset="-122"/>
                  <a:cs typeface="Cambria" pitchFamily="34" charset="-120"/>
                </a:rPr>
                <a:t>Derivative</a:t>
              </a:r>
              <a:endParaRPr lang="en-US" sz="2000" dirty="0"/>
            </a:p>
          </p:txBody>
        </p:sp>
        <p:sp>
          <p:nvSpPr>
            <p:cNvPr id="13" name="Text 10"/>
            <p:cNvSpPr txBox="1"/>
            <p:nvPr/>
          </p:nvSpPr>
          <p:spPr>
            <a:xfrm>
              <a:off x="3657600" y="2377440"/>
              <a:ext cx="4754880" cy="685800"/>
            </a:xfrm>
            <a:prstGeom prst="rect">
              <a:avLst/>
            </a:prstGeom>
            <a:noFill/>
            <a:ln/>
          </p:spPr>
          <p:txBody>
            <a:bodyPr wrap="square" lIns="0" tIns="0" rIns="0" bIns="0" rtlCol="0" anchor="ctr"/>
            <a:lstStyle/>
            <a:p>
              <a:pPr marL="0" indent="0">
                <a:buNone/>
              </a:pPr>
              <a:r>
                <a:rPr lang="en-US" sz="1600" dirty="0">
                  <a:solidFill>
                    <a:srgbClr val="1F2D3A"/>
                  </a:solidFill>
                  <a:latin typeface="Calibri" pitchFamily="34" charset="0"/>
                  <a:ea typeface="Calibri" pitchFamily="34" charset="-122"/>
                  <a:cs typeface="Calibri" pitchFamily="34" charset="-120"/>
                </a:rPr>
                <a:t>Calm the steering when the error is changing fast, to stop wobbling</a:t>
              </a:r>
              <a:endParaRPr lang="en-US" sz="1600" dirty="0"/>
            </a:p>
          </p:txBody>
        </p:sp>
      </p:grpSp>
      <p:grpSp>
        <p:nvGrpSpPr>
          <p:cNvPr id="21" name="Group 20">
            <a:extLst>
              <a:ext uri="{FF2B5EF4-FFF2-40B4-BE49-F238E27FC236}">
                <a16:creationId xmlns:a16="http://schemas.microsoft.com/office/drawing/2014/main" id="{08ECF3A4-651E-9775-B558-1932FB242D91}"/>
              </a:ext>
            </a:extLst>
          </p:cNvPr>
          <p:cNvGrpSpPr/>
          <p:nvPr/>
        </p:nvGrpSpPr>
        <p:grpSpPr>
          <a:xfrm>
            <a:off x="548640" y="2240280"/>
            <a:ext cx="8046720" cy="868680"/>
            <a:chOff x="548640" y="3291840"/>
            <a:chExt cx="8046720" cy="868680"/>
          </a:xfrm>
        </p:grpSpPr>
        <p:sp>
          <p:nvSpPr>
            <p:cNvPr id="14" name="Card"/>
            <p:cNvSpPr/>
            <p:nvPr/>
          </p:nvSpPr>
          <p:spPr>
            <a:xfrm>
              <a:off x="548640" y="3291840"/>
              <a:ext cx="8046720" cy="868680"/>
            </a:xfrm>
            <a:prstGeom prst="roundRect">
              <a:avLst>
                <a:gd name="adj" fmla="val 8421"/>
              </a:avLst>
            </a:prstGeom>
            <a:solidFill>
              <a:srgbClr val="FFFFFF"/>
            </a:solidFill>
            <a:ln w="9525">
              <a:solidFill>
                <a:srgbClr val="D5DDE3"/>
              </a:solidFill>
              <a:prstDash val="solid"/>
            </a:ln>
            <a:effectLst>
              <a:outerShdw blurRad="76200" dist="25400" dir="5400000" algn="bl" rotWithShape="0">
                <a:srgbClr val="000000">
                  <a:alpha val="12000"/>
                </a:srgbClr>
              </a:outerShdw>
            </a:effectLst>
          </p:spPr>
          <p:txBody>
            <a:bodyPr/>
            <a:lstStyle/>
            <a:p>
              <a:endParaRPr lang="en-AU"/>
            </a:p>
          </p:txBody>
        </p:sp>
        <p:sp>
          <p:nvSpPr>
            <p:cNvPr id="15" name="Letter I"/>
            <p:cNvSpPr/>
            <p:nvPr/>
          </p:nvSpPr>
          <p:spPr>
            <a:xfrm>
              <a:off x="731520" y="3429000"/>
              <a:ext cx="594360" cy="594360"/>
            </a:xfrm>
            <a:prstGeom prst="ellipse">
              <a:avLst/>
            </a:prstGeom>
            <a:solidFill>
              <a:srgbClr val="5B6B79"/>
            </a:solidFill>
            <a:ln w="6350">
              <a:solidFill>
                <a:srgbClr val="5B6B79"/>
              </a:solidFill>
              <a:prstDash val="solid"/>
            </a:ln>
          </p:spPr>
          <p:txBody>
            <a:bodyPr/>
            <a:lstStyle/>
            <a:p>
              <a:endParaRPr lang="en-AU"/>
            </a:p>
          </p:txBody>
        </p:sp>
        <p:sp>
          <p:nvSpPr>
            <p:cNvPr id="16" name="Text 13"/>
            <p:cNvSpPr txBox="1"/>
            <p:nvPr/>
          </p:nvSpPr>
          <p:spPr>
            <a:xfrm>
              <a:off x="731520" y="342900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I</a:t>
              </a:r>
              <a:endParaRPr lang="en-US" sz="2400" dirty="0"/>
            </a:p>
          </p:txBody>
        </p:sp>
        <p:sp>
          <p:nvSpPr>
            <p:cNvPr id="17" name="Text 14"/>
            <p:cNvSpPr txBox="1"/>
            <p:nvPr/>
          </p:nvSpPr>
          <p:spPr>
            <a:xfrm>
              <a:off x="1554480" y="3401568"/>
              <a:ext cx="2011680" cy="640080"/>
            </a:xfrm>
            <a:prstGeom prst="rect">
              <a:avLst/>
            </a:prstGeom>
            <a:noFill/>
            <a:ln/>
          </p:spPr>
          <p:txBody>
            <a:bodyPr wrap="square" lIns="0" tIns="0" rIns="0" bIns="0" rtlCol="0" anchor="ctr"/>
            <a:lstStyle/>
            <a:p>
              <a:pPr marL="0" indent="0">
                <a:buNone/>
              </a:pPr>
              <a:r>
                <a:rPr lang="en-US" sz="2000" b="1" dirty="0">
                  <a:solidFill>
                    <a:srgbClr val="14283D"/>
                  </a:solidFill>
                  <a:latin typeface="Cambria" pitchFamily="34" charset="0"/>
                  <a:ea typeface="Cambria" pitchFamily="34" charset="-122"/>
                  <a:cs typeface="Cambria" pitchFamily="34" charset="-120"/>
                </a:rPr>
                <a:t>Integral</a:t>
              </a:r>
              <a:endParaRPr lang="en-US" sz="2000" dirty="0"/>
            </a:p>
          </p:txBody>
        </p:sp>
        <p:sp>
          <p:nvSpPr>
            <p:cNvPr id="18" name="Text 15"/>
            <p:cNvSpPr txBox="1"/>
            <p:nvPr/>
          </p:nvSpPr>
          <p:spPr>
            <a:xfrm>
              <a:off x="3657600" y="3383280"/>
              <a:ext cx="4754880" cy="685800"/>
            </a:xfrm>
            <a:prstGeom prst="rect">
              <a:avLst/>
            </a:prstGeom>
            <a:noFill/>
            <a:ln/>
          </p:spPr>
          <p:txBody>
            <a:bodyPr wrap="square" lIns="0" tIns="0" rIns="0" bIns="0" rtlCol="0" anchor="ctr"/>
            <a:lstStyle/>
            <a:p>
              <a:pPr marL="0" indent="0">
                <a:buNone/>
              </a:pPr>
              <a:r>
                <a:rPr lang="en-US" sz="1600" dirty="0">
                  <a:solidFill>
                    <a:srgbClr val="1F2D3A"/>
                  </a:solidFill>
                  <a:latin typeface="Calibri" pitchFamily="34" charset="0"/>
                  <a:ea typeface="Calibri" pitchFamily="34" charset="-122"/>
                  <a:cs typeface="Calibri" pitchFamily="34" charset="-120"/>
                </a:rPr>
                <a:t>Fixes a constant offset. Set to zero in all our runs</a:t>
              </a:r>
              <a:endParaRPr lang="en-US" sz="1600" dirty="0"/>
            </a:p>
          </p:txBody>
        </p:sp>
      </p:grpSp>
      <p:sp>
        <p:nvSpPr>
          <p:cNvPr id="19" name="Text 16"/>
          <p:cNvSpPr txBox="1"/>
          <p:nvPr/>
        </p:nvSpPr>
        <p:spPr>
          <a:xfrm>
            <a:off x="548640" y="4343400"/>
            <a:ext cx="7680960" cy="365760"/>
          </a:xfrm>
          <a:prstGeom prst="rect">
            <a:avLst/>
          </a:prstGeom>
          <a:noFill/>
          <a:ln/>
        </p:spPr>
        <p:txBody>
          <a:bodyPr wrap="square" lIns="0" tIns="0" rIns="0" bIns="0" rtlCol="0" anchor="ctr"/>
          <a:lstStyle/>
          <a:p>
            <a:pPr marL="0" indent="0">
              <a:buNone/>
            </a:pPr>
            <a:r>
              <a:rPr lang="en-US" sz="1400" dirty="0">
                <a:solidFill>
                  <a:srgbClr val="5B6B79"/>
                </a:solidFill>
                <a:latin typeface="Calibri" pitchFamily="34" charset="0"/>
                <a:ea typeface="Calibri" pitchFamily="34" charset="-122"/>
                <a:cs typeface="Calibri" pitchFamily="34" charset="-120"/>
              </a:rPr>
              <a:t>The result is a turn rate that keeps the robot on the left wall at 0.30 m.</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5B6B79"/>
                </a:solidFill>
                <a:latin typeface="Calibri"/>
                <a:ea typeface="Calibri"/>
                <a:cs typeface="Calibri"/>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1" name="Card">
            <a:extLst>
              <a:ext uri="{FF2B5EF4-FFF2-40B4-BE49-F238E27FC236}">
                <a16:creationId xmlns:a16="http://schemas.microsoft.com/office/drawing/2014/main" id="{83B38A6A-012C-C47C-9995-24BA24CA1C88}"/>
              </a:ext>
            </a:extLst>
          </p:cNvPr>
          <p:cNvSpPr/>
          <p:nvPr/>
        </p:nvSpPr>
        <p:spPr>
          <a:xfrm>
            <a:off x="548640" y="4069080"/>
            <a:ext cx="7943288" cy="954107"/>
          </a:xfrm>
          <a:prstGeom prst="roundRect">
            <a:avLst>
              <a:gd name="adj" fmla="val 5714"/>
            </a:avLst>
          </a:prstGeom>
          <a:solidFill>
            <a:srgbClr val="FFFFFF"/>
          </a:solidFill>
          <a:ln w="9525">
            <a:solidFill>
              <a:srgbClr val="D5DDE3"/>
            </a:solidFill>
            <a:prstDash val="solid"/>
          </a:ln>
          <a:effectLst>
            <a:outerShdw blurRad="76200" dist="25400" dir="5400000" algn="bl" rotWithShape="0">
              <a:srgbClr val="000000">
                <a:alpha val="12000"/>
              </a:srgbClr>
            </a:outerShdw>
          </a:effectLst>
        </p:spPr>
        <p:txBody>
          <a:bodyPr/>
          <a:lstStyle/>
          <a:p>
            <a:endParaRPr lang="en-AU"/>
          </a:p>
        </p:txBody>
      </p:sp>
      <p:sp>
        <p:nvSpPr>
          <p:cNvPr id="2" name="Title"/>
          <p:cNvSpPr txBox="1"/>
          <p:nvPr/>
        </p:nvSpPr>
        <p:spPr>
          <a:xfrm>
            <a:off x="548640" y="320040"/>
            <a:ext cx="8046720" cy="731520"/>
          </a:xfrm>
          <a:prstGeom prst="rect">
            <a:avLst/>
          </a:prstGeom>
          <a:noFill/>
          <a:ln/>
        </p:spPr>
        <p:txBody>
          <a:bodyPr wrap="square" lIns="0" tIns="0" rIns="0" bIns="0" rtlCol="0" anchor="ctr"/>
          <a:lstStyle/>
          <a:p>
            <a:pPr marL="0" indent="0">
              <a:buNone/>
            </a:pPr>
            <a:r>
              <a:rPr lang="en-US" sz="3200" b="1" dirty="0">
                <a:solidFill>
                  <a:srgbClr val="14283D"/>
                </a:solidFill>
                <a:latin typeface="Cambria" pitchFamily="34" charset="0"/>
                <a:ea typeface="Cambria" pitchFamily="34" charset="-122"/>
                <a:cs typeface="Cambria" pitchFamily="34" charset="-120"/>
              </a:rPr>
              <a:t>PID : controlling the speed</a:t>
            </a:r>
            <a:endParaRPr lang="en-US" sz="3200" dirty="0"/>
          </a:p>
        </p:txBody>
      </p:sp>
      <p:grpSp>
        <p:nvGrpSpPr>
          <p:cNvPr id="15" name="Group 14">
            <a:extLst>
              <a:ext uri="{FF2B5EF4-FFF2-40B4-BE49-F238E27FC236}">
                <a16:creationId xmlns:a16="http://schemas.microsoft.com/office/drawing/2014/main" id="{1153BB83-7836-ACEE-B5AE-F53A2EF8B6A8}"/>
              </a:ext>
            </a:extLst>
          </p:cNvPr>
          <p:cNvGrpSpPr/>
          <p:nvPr/>
        </p:nvGrpSpPr>
        <p:grpSpPr>
          <a:xfrm>
            <a:off x="548640" y="982980"/>
            <a:ext cx="8046720" cy="1554480"/>
            <a:chOff x="548640" y="1280160"/>
            <a:chExt cx="8046720" cy="1554480"/>
          </a:xfrm>
        </p:grpSpPr>
        <p:sp>
          <p:nvSpPr>
            <p:cNvPr id="4" name="Mode Normal PID"/>
            <p:cNvSpPr/>
            <p:nvPr/>
          </p:nvSpPr>
          <p:spPr>
            <a:xfrm>
              <a:off x="548640" y="1280160"/>
              <a:ext cx="2560320" cy="1554480"/>
            </a:xfrm>
            <a:prstGeom prst="roundRect">
              <a:avLst>
                <a:gd name="adj" fmla="val 4706"/>
              </a:avLst>
            </a:prstGeom>
            <a:solidFill>
              <a:srgbClr val="FFFFFF"/>
            </a:solidFill>
            <a:ln w="9525">
              <a:solidFill>
                <a:srgbClr val="D5DDE3"/>
              </a:solidFill>
              <a:prstDash val="solid"/>
            </a:ln>
            <a:effectLst>
              <a:outerShdw blurRad="76200" dist="25400" dir="5400000" algn="bl" rotWithShape="0">
                <a:srgbClr val="000000">
                  <a:alpha val="12000"/>
                </a:srgbClr>
              </a:outerShdw>
            </a:effectLst>
          </p:spPr>
          <p:txBody>
            <a:bodyPr/>
            <a:lstStyle/>
            <a:p>
              <a:endParaRPr lang="en-AU"/>
            </a:p>
          </p:txBody>
        </p:sp>
        <p:sp>
          <p:nvSpPr>
            <p:cNvPr id="5" name="Text 2"/>
            <p:cNvSpPr txBox="1"/>
            <p:nvPr/>
          </p:nvSpPr>
          <p:spPr>
            <a:xfrm>
              <a:off x="731520" y="1371600"/>
              <a:ext cx="2194560" cy="457200"/>
            </a:xfrm>
            <a:prstGeom prst="rect">
              <a:avLst/>
            </a:prstGeom>
            <a:noFill/>
            <a:ln/>
          </p:spPr>
          <p:txBody>
            <a:bodyPr wrap="square" lIns="0" tIns="0" rIns="0" bIns="0" rtlCol="0" anchor="ctr"/>
            <a:lstStyle/>
            <a:p>
              <a:pPr marL="0" indent="0">
                <a:buNone/>
              </a:pPr>
              <a:r>
                <a:rPr lang="en-US" sz="2000" b="1" dirty="0">
                  <a:solidFill>
                    <a:srgbClr val="0F8B8D"/>
                  </a:solidFill>
                  <a:latin typeface="Cambria" pitchFamily="34" charset="0"/>
                  <a:ea typeface="Cambria" pitchFamily="34" charset="-122"/>
                  <a:cs typeface="Cambria" pitchFamily="34" charset="-120"/>
                </a:rPr>
                <a:t>Normal PID</a:t>
              </a:r>
              <a:endParaRPr lang="en-US" sz="2000" dirty="0"/>
            </a:p>
          </p:txBody>
        </p:sp>
        <p:sp>
          <p:nvSpPr>
            <p:cNvPr id="6" name="Text 3"/>
            <p:cNvSpPr txBox="1"/>
            <p:nvPr/>
          </p:nvSpPr>
          <p:spPr>
            <a:xfrm>
              <a:off x="731520" y="1874520"/>
              <a:ext cx="2194560" cy="868680"/>
            </a:xfrm>
            <a:prstGeom prst="rect">
              <a:avLst/>
            </a:prstGeom>
            <a:noFill/>
            <a:ln/>
          </p:spPr>
          <p:txBody>
            <a:bodyPr wrap="square" lIns="0" tIns="0" rIns="0" bIns="0" rtlCol="0" anchor="t"/>
            <a:lstStyle/>
            <a:p>
              <a:pPr marL="0" indent="0">
                <a:buNone/>
              </a:pPr>
              <a:r>
                <a:rPr lang="en-US" sz="1600" dirty="0">
                  <a:solidFill>
                    <a:srgbClr val="1F2D3A"/>
                  </a:solidFill>
                  <a:latin typeface="Calibri" pitchFamily="34" charset="0"/>
                  <a:ea typeface="Calibri" pitchFamily="34" charset="-122"/>
                  <a:cs typeface="Calibri" pitchFamily="34" charset="-120"/>
                </a:rPr>
                <a:t>One PID for steering. Constant speed. (baseline)</a:t>
              </a:r>
              <a:endParaRPr lang="en-US" sz="1600" dirty="0"/>
            </a:p>
          </p:txBody>
        </p:sp>
        <p:sp>
          <p:nvSpPr>
            <p:cNvPr id="7" name="Mode Rule-based speed"/>
            <p:cNvSpPr/>
            <p:nvPr/>
          </p:nvSpPr>
          <p:spPr>
            <a:xfrm>
              <a:off x="3291840" y="1280160"/>
              <a:ext cx="2560320" cy="1554480"/>
            </a:xfrm>
            <a:prstGeom prst="roundRect">
              <a:avLst>
                <a:gd name="adj" fmla="val 4706"/>
              </a:avLst>
            </a:prstGeom>
            <a:solidFill>
              <a:srgbClr val="FFFFFF"/>
            </a:solidFill>
            <a:ln w="9525">
              <a:solidFill>
                <a:srgbClr val="D5DDE3"/>
              </a:solidFill>
              <a:prstDash val="solid"/>
            </a:ln>
            <a:effectLst>
              <a:outerShdw blurRad="76200" dist="25400" dir="5400000" algn="bl" rotWithShape="0">
                <a:srgbClr val="000000">
                  <a:alpha val="12000"/>
                </a:srgbClr>
              </a:outerShdw>
            </a:effectLst>
          </p:spPr>
          <p:txBody>
            <a:bodyPr/>
            <a:lstStyle/>
            <a:p>
              <a:endParaRPr lang="en-AU"/>
            </a:p>
          </p:txBody>
        </p:sp>
        <p:sp>
          <p:nvSpPr>
            <p:cNvPr id="8" name="Text 5"/>
            <p:cNvSpPr txBox="1"/>
            <p:nvPr/>
          </p:nvSpPr>
          <p:spPr>
            <a:xfrm>
              <a:off x="3474720" y="1371600"/>
              <a:ext cx="2194560" cy="457200"/>
            </a:xfrm>
            <a:prstGeom prst="rect">
              <a:avLst/>
            </a:prstGeom>
            <a:noFill/>
            <a:ln/>
          </p:spPr>
          <p:txBody>
            <a:bodyPr wrap="square" lIns="0" tIns="0" rIns="0" bIns="0" rtlCol="0" anchor="ctr"/>
            <a:lstStyle/>
            <a:p>
              <a:pPr marL="0" indent="0">
                <a:buNone/>
              </a:pPr>
              <a:r>
                <a:rPr lang="en-US" sz="2000" b="1" dirty="0">
                  <a:solidFill>
                    <a:srgbClr val="0F8B8D"/>
                  </a:solidFill>
                  <a:latin typeface="Cambria" pitchFamily="34" charset="0"/>
                  <a:ea typeface="Cambria" pitchFamily="34" charset="-122"/>
                  <a:cs typeface="Cambria" pitchFamily="34" charset="-120"/>
                </a:rPr>
                <a:t>Rule-based speed</a:t>
              </a:r>
              <a:endParaRPr lang="en-US" sz="2000" dirty="0"/>
            </a:p>
          </p:txBody>
        </p:sp>
        <p:sp>
          <p:nvSpPr>
            <p:cNvPr id="9" name="Text 6"/>
            <p:cNvSpPr txBox="1"/>
            <p:nvPr/>
          </p:nvSpPr>
          <p:spPr>
            <a:xfrm>
              <a:off x="3474720" y="1874520"/>
              <a:ext cx="2194560" cy="868680"/>
            </a:xfrm>
            <a:prstGeom prst="rect">
              <a:avLst/>
            </a:prstGeom>
            <a:noFill/>
            <a:ln/>
          </p:spPr>
          <p:txBody>
            <a:bodyPr wrap="square" lIns="0" tIns="0" rIns="0" bIns="0" rtlCol="0" anchor="t"/>
            <a:lstStyle/>
            <a:p>
              <a:pPr marL="0" indent="0">
                <a:buNone/>
              </a:pPr>
              <a:r>
                <a:rPr lang="en-US" sz="1600" dirty="0">
                  <a:solidFill>
                    <a:srgbClr val="1F2D3A"/>
                  </a:solidFill>
                  <a:latin typeface="Calibri" pitchFamily="34" charset="0"/>
                  <a:ea typeface="Calibri" pitchFamily="34" charset="-122"/>
                  <a:cs typeface="Calibri" pitchFamily="34" charset="-120"/>
                </a:rPr>
                <a:t>Speed set by simple rules. Not a true second PID. (extended)</a:t>
              </a:r>
              <a:endParaRPr lang="en-US" sz="1600" dirty="0"/>
            </a:p>
          </p:txBody>
        </p:sp>
        <p:sp>
          <p:nvSpPr>
            <p:cNvPr id="10" name="Mode Advanced PID"/>
            <p:cNvSpPr/>
            <p:nvPr/>
          </p:nvSpPr>
          <p:spPr>
            <a:xfrm>
              <a:off x="6035040" y="1280160"/>
              <a:ext cx="2560320" cy="1554480"/>
            </a:xfrm>
            <a:prstGeom prst="roundRect">
              <a:avLst>
                <a:gd name="adj" fmla="val 4706"/>
              </a:avLst>
            </a:prstGeom>
            <a:solidFill>
              <a:srgbClr val="14283D"/>
            </a:solidFill>
            <a:ln w="9525">
              <a:solidFill>
                <a:srgbClr val="14283D"/>
              </a:solidFill>
              <a:prstDash val="solid"/>
            </a:ln>
            <a:effectLst>
              <a:outerShdw blurRad="76200" dist="25400" dir="5400000" algn="bl" rotWithShape="0">
                <a:srgbClr val="000000">
                  <a:alpha val="12000"/>
                </a:srgbClr>
              </a:outerShdw>
            </a:effectLst>
          </p:spPr>
          <p:txBody>
            <a:bodyPr/>
            <a:lstStyle/>
            <a:p>
              <a:endParaRPr lang="en-AU"/>
            </a:p>
          </p:txBody>
        </p:sp>
        <p:sp>
          <p:nvSpPr>
            <p:cNvPr id="11" name="Text 8"/>
            <p:cNvSpPr txBox="1"/>
            <p:nvPr/>
          </p:nvSpPr>
          <p:spPr>
            <a:xfrm>
              <a:off x="6217920" y="1371600"/>
              <a:ext cx="2194560" cy="457200"/>
            </a:xfrm>
            <a:prstGeom prst="rect">
              <a:avLst/>
            </a:prstGeom>
            <a:noFill/>
            <a:ln/>
          </p:spPr>
          <p:txBody>
            <a:bodyPr wrap="square" lIns="0" tIns="0" rIns="0" bIns="0" rtlCol="0" anchor="ctr"/>
            <a:lstStyle/>
            <a:p>
              <a:pPr marL="0" indent="0">
                <a:buNone/>
              </a:pPr>
              <a:r>
                <a:rPr lang="en-US" sz="2000" b="1" dirty="0">
                  <a:solidFill>
                    <a:srgbClr val="7FD6D8"/>
                  </a:solidFill>
                  <a:latin typeface="Cambria" pitchFamily="34" charset="0"/>
                  <a:ea typeface="Cambria" pitchFamily="34" charset="-122"/>
                  <a:cs typeface="Cambria" pitchFamily="34" charset="-120"/>
                </a:rPr>
                <a:t>Advanced PID</a:t>
              </a:r>
              <a:endParaRPr lang="en-US" sz="2000" dirty="0"/>
            </a:p>
          </p:txBody>
        </p:sp>
        <p:sp>
          <p:nvSpPr>
            <p:cNvPr id="12" name="Text 9"/>
            <p:cNvSpPr txBox="1"/>
            <p:nvPr/>
          </p:nvSpPr>
          <p:spPr>
            <a:xfrm>
              <a:off x="6217920" y="1874520"/>
              <a:ext cx="2194560" cy="868680"/>
            </a:xfrm>
            <a:prstGeom prst="rect">
              <a:avLst/>
            </a:prstGeom>
            <a:noFill/>
            <a:ln/>
          </p:spPr>
          <p:txBody>
            <a:bodyPr wrap="square" lIns="0" tIns="0" rIns="0" bIns="0" rtlCol="0" anchor="t"/>
            <a:lstStyle/>
            <a:p>
              <a:pPr marL="0" indent="0">
                <a:buNone/>
              </a:pPr>
              <a:r>
                <a:rPr lang="en-US" sz="1600" dirty="0">
                  <a:solidFill>
                    <a:srgbClr val="FFFFFF"/>
                  </a:solidFill>
                  <a:latin typeface="Calibri" pitchFamily="34" charset="0"/>
                  <a:ea typeface="Calibri" pitchFamily="34" charset="-122"/>
                  <a:cs typeface="Calibri" pitchFamily="34" charset="-120"/>
                </a:rPr>
                <a:t>Two PIDs: one steers, one sets the speed. Our final design. (extended_pid)</a:t>
              </a:r>
              <a:endParaRPr lang="en-US" sz="1600" dirty="0"/>
            </a:p>
          </p:txBody>
        </p:sp>
      </p:grpSp>
      <p:sp>
        <p:nvSpPr>
          <p:cNvPr id="13" name="Card"/>
          <p:cNvSpPr/>
          <p:nvPr/>
        </p:nvSpPr>
        <p:spPr>
          <a:xfrm>
            <a:off x="548640" y="2704011"/>
            <a:ext cx="7943288" cy="1280160"/>
          </a:xfrm>
          <a:prstGeom prst="roundRect">
            <a:avLst>
              <a:gd name="adj" fmla="val 5714"/>
            </a:avLst>
          </a:prstGeom>
          <a:solidFill>
            <a:srgbClr val="FFFFFF"/>
          </a:solidFill>
          <a:ln w="9525">
            <a:solidFill>
              <a:srgbClr val="D5DDE3"/>
            </a:solidFill>
            <a:prstDash val="solid"/>
          </a:ln>
          <a:effectLst>
            <a:outerShdw blurRad="76200" dist="25400" dir="5400000" algn="bl" rotWithShape="0">
              <a:srgbClr val="000000">
                <a:alpha val="12000"/>
              </a:srgbClr>
            </a:outerShdw>
          </a:effectLst>
        </p:spPr>
        <p:txBody>
          <a:bodyPr/>
          <a:lstStyle/>
          <a:p>
            <a:endParaRPr lang="en-AU"/>
          </a:p>
        </p:txBody>
      </p:sp>
      <p:sp>
        <p:nvSpPr>
          <p:cNvPr id="14" name="Text 11"/>
          <p:cNvSpPr txBox="1"/>
          <p:nvPr/>
        </p:nvSpPr>
        <p:spPr>
          <a:xfrm>
            <a:off x="777240" y="2795451"/>
            <a:ext cx="7589520" cy="1097280"/>
          </a:xfrm>
          <a:prstGeom prst="rect">
            <a:avLst/>
          </a:prstGeom>
          <a:noFill/>
          <a:ln/>
        </p:spPr>
        <p:txBody>
          <a:bodyPr wrap="square" lIns="0" tIns="0" rIns="0" bIns="0" rtlCol="0" anchor="ctr"/>
          <a:lstStyle/>
          <a:p>
            <a:pPr marL="0" indent="0">
              <a:spcAft>
                <a:spcPts val="800"/>
              </a:spcAft>
              <a:buNone/>
            </a:pPr>
            <a:r>
              <a:rPr lang="en-US" sz="1600" b="1" dirty="0">
                <a:solidFill>
                  <a:srgbClr val="1F2D3A"/>
                </a:solidFill>
                <a:latin typeface="Calibri" pitchFamily="34" charset="0"/>
                <a:ea typeface="Calibri" pitchFamily="34" charset="-122"/>
                <a:cs typeface="Calibri" pitchFamily="34" charset="-120"/>
              </a:rPr>
              <a:t>Slow down when </a:t>
            </a:r>
            <a:r>
              <a:rPr lang="en-US" sz="1600" dirty="0">
                <a:solidFill>
                  <a:srgbClr val="1F2D3A"/>
                </a:solidFill>
                <a:latin typeface="Calibri" pitchFamily="34" charset="0"/>
                <a:ea typeface="Calibri" pitchFamily="34" charset="-122"/>
                <a:cs typeface="Calibri" pitchFamily="34" charset="-120"/>
              </a:rPr>
              <a:t>a wall is close ahead or the robot is off the 0.30 m line.</a:t>
            </a:r>
            <a:endParaRPr lang="en-US" sz="1600" dirty="0"/>
          </a:p>
          <a:p>
            <a:pPr marL="0" indent="0">
              <a:spcAft>
                <a:spcPts val="800"/>
              </a:spcAft>
              <a:buNone/>
            </a:pPr>
            <a:r>
              <a:rPr lang="en-US" sz="1600" b="1" dirty="0">
                <a:solidFill>
                  <a:srgbClr val="1F2D3A"/>
                </a:solidFill>
                <a:latin typeface="Calibri" pitchFamily="34" charset="0"/>
                <a:ea typeface="Calibri" pitchFamily="34" charset="-122"/>
                <a:cs typeface="Calibri" pitchFamily="34" charset="-120"/>
              </a:rPr>
              <a:t>Speed up when </a:t>
            </a:r>
            <a:r>
              <a:rPr lang="en-US" sz="1600" dirty="0">
                <a:solidFill>
                  <a:srgbClr val="1F2D3A"/>
                </a:solidFill>
                <a:latin typeface="Calibri" pitchFamily="34" charset="0"/>
                <a:ea typeface="Calibri" pitchFamily="34" charset="-122"/>
                <a:cs typeface="Calibri" pitchFamily="34" charset="-120"/>
              </a:rPr>
              <a:t>the path is clear and the error is small. Speed is kept between a minimum and maximum.</a:t>
            </a:r>
            <a:endParaRPr lang="en-US" sz="1600" dirty="0"/>
          </a:p>
        </p:txBody>
      </p:sp>
      <p:sp>
        <p:nvSpPr>
          <p:cNvPr id="25" name="Slide Number Placeholder 0"/>
          <p:cNvSpPr>
            <a:spLocks noGrp="1"/>
          </p:cNvSpPr>
          <p:nvPr>
            <p:ph type="sldNum" sz="quarter" idx="4294967295"/>
          </p:nvPr>
        </p:nvSpPr>
        <p:spPr>
          <a:xfrm>
            <a:off x="8595360" y="4748867"/>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5B6B79"/>
                </a:solidFill>
                <a:latin typeface="Calibri"/>
                <a:ea typeface="Calibri"/>
                <a:cs typeface="Calibri"/>
              </a:defRPr>
            </a:lvl1pPr>
          </a:lstStyle>
          <a:p>
            <a:pPr algn="l"/>
            <a:fld id="{F7021451-1387-4CA6-816F-3879F97B5CBC}" type="slidenum">
              <a:rPr lang="en-US" b="0"/>
              <a:t>6</a:t>
            </a:fld>
            <a:endParaRPr lang="en-US" dirty="0"/>
          </a:p>
        </p:txBody>
      </p:sp>
      <p:sp>
        <p:nvSpPr>
          <p:cNvPr id="20" name="TextBox 19">
            <a:extLst>
              <a:ext uri="{FF2B5EF4-FFF2-40B4-BE49-F238E27FC236}">
                <a16:creationId xmlns:a16="http://schemas.microsoft.com/office/drawing/2014/main" id="{0AA3130D-4EFB-5E55-4EBF-55BF462667C0}"/>
              </a:ext>
            </a:extLst>
          </p:cNvPr>
          <p:cNvSpPr txBox="1"/>
          <p:nvPr/>
        </p:nvSpPr>
        <p:spPr>
          <a:xfrm>
            <a:off x="679268" y="4069080"/>
            <a:ext cx="7014754" cy="954107"/>
          </a:xfrm>
          <a:prstGeom prst="rect">
            <a:avLst/>
          </a:prstGeom>
          <a:noFill/>
        </p:spPr>
        <p:txBody>
          <a:bodyPr wrap="square">
            <a:spAutoFit/>
          </a:bodyPr>
          <a:lstStyle/>
          <a:p>
            <a:pPr rtl="0">
              <a:buNone/>
            </a:pPr>
            <a:r>
              <a:rPr lang="en-AU" sz="1400" b="1" dirty="0"/>
              <a:t>Normal PID</a:t>
            </a:r>
            <a:r>
              <a:rPr lang="en-AU" sz="1400" dirty="0"/>
              <a:t> :</a:t>
            </a:r>
          </a:p>
          <a:p>
            <a:pPr marL="342900" lvl="0" indent="-342900" rtl="0">
              <a:buFont typeface="Arial" panose="020B0604020202020204" pitchFamily="34" charset="0"/>
              <a:buChar char="•"/>
            </a:pPr>
            <a:r>
              <a:rPr lang="en-AU" sz="1400" dirty="0" err="1"/>
              <a:t>Kp</a:t>
            </a:r>
            <a:r>
              <a:rPr lang="en-AU" sz="1400" dirty="0"/>
              <a:t> = 3.0 (</a:t>
            </a:r>
            <a:r>
              <a:rPr lang="en-AU" sz="1400" dirty="0" err="1"/>
              <a:t>kp_w</a:t>
            </a:r>
            <a:r>
              <a:rPr lang="en-AU" sz="1400" dirty="0"/>
              <a:t>) ; Ki = 0 ; </a:t>
            </a:r>
            <a:r>
              <a:rPr lang="en-AU" sz="1400" dirty="0" err="1"/>
              <a:t>Kd</a:t>
            </a:r>
            <a:r>
              <a:rPr lang="en-AU" sz="1400" dirty="0"/>
              <a:t> = 0.8 (</a:t>
            </a:r>
            <a:r>
              <a:rPr lang="en-AU" sz="1400" dirty="0" err="1"/>
              <a:t>kd_w</a:t>
            </a:r>
            <a:r>
              <a:rPr lang="en-AU" sz="1400" dirty="0"/>
              <a:t>)</a:t>
            </a:r>
          </a:p>
          <a:p>
            <a:pPr rtl="0">
              <a:buNone/>
            </a:pPr>
            <a:r>
              <a:rPr lang="en-AU" sz="1400" b="1" dirty="0"/>
              <a:t>Advanced PID:</a:t>
            </a:r>
            <a:endParaRPr lang="en-AU" sz="1400" dirty="0"/>
          </a:p>
          <a:p>
            <a:pPr marL="342900" lvl="0" indent="-342900" rtl="0">
              <a:buFont typeface="Arial" panose="020B0604020202020204" pitchFamily="34" charset="0"/>
              <a:buChar char="•"/>
            </a:pPr>
            <a:r>
              <a:rPr lang="en-AU" sz="1400" dirty="0" err="1"/>
              <a:t>Kpv</a:t>
            </a:r>
            <a:r>
              <a:rPr lang="en-AU" sz="1400" dirty="0"/>
              <a:t> = 0.5 ; Kiv = 0 ; </a:t>
            </a:r>
            <a:r>
              <a:rPr lang="en-AU" sz="1400" dirty="0" err="1"/>
              <a:t>Kdv</a:t>
            </a:r>
            <a:r>
              <a:rPr lang="en-AU" sz="1400" dirty="0"/>
              <a:t> = 0.15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548640" y="320040"/>
            <a:ext cx="8046720" cy="731520"/>
          </a:xfrm>
          <a:prstGeom prst="rect">
            <a:avLst/>
          </a:prstGeom>
          <a:noFill/>
          <a:ln/>
        </p:spPr>
        <p:txBody>
          <a:bodyPr wrap="square" lIns="0" tIns="0" rIns="0" bIns="0" rtlCol="0" anchor="ctr"/>
          <a:lstStyle/>
          <a:p>
            <a:pPr marL="0" indent="0">
              <a:buNone/>
            </a:pPr>
            <a:r>
              <a:rPr lang="en-US" sz="3200" b="1" dirty="0">
                <a:solidFill>
                  <a:srgbClr val="14283D"/>
                </a:solidFill>
                <a:latin typeface="Cambria" pitchFamily="34" charset="0"/>
                <a:ea typeface="Cambria" pitchFamily="34" charset="-122"/>
                <a:cs typeface="Cambria" pitchFamily="34" charset="-120"/>
              </a:rPr>
              <a:t>Handling corners</a:t>
            </a:r>
            <a:endParaRPr lang="en-US" sz="3200" dirty="0"/>
          </a:p>
        </p:txBody>
      </p:sp>
      <p:sp>
        <p:nvSpPr>
          <p:cNvPr id="4" name="Card"/>
          <p:cNvSpPr/>
          <p:nvPr/>
        </p:nvSpPr>
        <p:spPr>
          <a:xfrm>
            <a:off x="548640" y="1371600"/>
            <a:ext cx="1874520" cy="2286000"/>
          </a:xfrm>
          <a:prstGeom prst="roundRect">
            <a:avLst>
              <a:gd name="adj" fmla="val 3902"/>
            </a:avLst>
          </a:prstGeom>
          <a:solidFill>
            <a:srgbClr val="FFFFFF"/>
          </a:solidFill>
          <a:ln w="9525">
            <a:solidFill>
              <a:srgbClr val="D5DDE3"/>
            </a:solidFill>
            <a:prstDash val="solid"/>
          </a:ln>
          <a:effectLst>
            <a:outerShdw blurRad="76200" dist="25400" dir="5400000" algn="bl" rotWithShape="0">
              <a:srgbClr val="000000">
                <a:alpha val="12000"/>
              </a:srgbClr>
            </a:outerShdw>
          </a:effectLst>
        </p:spPr>
        <p:txBody>
          <a:bodyPr/>
          <a:lstStyle/>
          <a:p>
            <a:endParaRPr lang="en-AU"/>
          </a:p>
        </p:txBody>
      </p:sp>
      <p:sp>
        <p:nvSpPr>
          <p:cNvPr id="5" name="Num 1"/>
          <p:cNvSpPr/>
          <p:nvPr/>
        </p:nvSpPr>
        <p:spPr>
          <a:xfrm>
            <a:off x="731520" y="1554480"/>
            <a:ext cx="548640" cy="548640"/>
          </a:xfrm>
          <a:prstGeom prst="ellipse">
            <a:avLst/>
          </a:prstGeom>
          <a:solidFill>
            <a:srgbClr val="E8A33D"/>
          </a:solidFill>
          <a:ln w="6350">
            <a:solidFill>
              <a:srgbClr val="E8A33D"/>
            </a:solidFill>
            <a:prstDash val="solid"/>
          </a:ln>
        </p:spPr>
        <p:txBody>
          <a:bodyPr/>
          <a:lstStyle/>
          <a:p>
            <a:endParaRPr lang="en-AU"/>
          </a:p>
        </p:txBody>
      </p:sp>
      <p:sp>
        <p:nvSpPr>
          <p:cNvPr id="6" name="Text 3"/>
          <p:cNvSpPr txBox="1"/>
          <p:nvPr/>
        </p:nvSpPr>
        <p:spPr>
          <a:xfrm>
            <a:off x="731520" y="1554480"/>
            <a:ext cx="548640" cy="548640"/>
          </a:xfrm>
          <a:prstGeom prst="rect">
            <a:avLst/>
          </a:prstGeom>
          <a:noFill/>
          <a:ln/>
        </p:spPr>
        <p:txBody>
          <a:bodyPr wrap="square" lIns="0" tIns="0" rIns="0" bIns="0" rtlCol="0" anchor="ctr"/>
          <a:lstStyle/>
          <a:p>
            <a:pPr marL="0" indent="0" algn="ctr">
              <a:buNone/>
            </a:pPr>
            <a:r>
              <a:rPr lang="en-US" sz="2200" b="1" dirty="0">
                <a:solidFill>
                  <a:srgbClr val="14283D"/>
                </a:solidFill>
                <a:latin typeface="Cambria" pitchFamily="34" charset="0"/>
                <a:ea typeface="Cambria" pitchFamily="34" charset="-122"/>
                <a:cs typeface="Cambria" pitchFamily="34" charset="-120"/>
              </a:rPr>
              <a:t>1</a:t>
            </a:r>
            <a:endParaRPr lang="en-US" sz="2200" dirty="0"/>
          </a:p>
        </p:txBody>
      </p:sp>
      <p:sp>
        <p:nvSpPr>
          <p:cNvPr id="7" name="Text 4"/>
          <p:cNvSpPr txBox="1"/>
          <p:nvPr/>
        </p:nvSpPr>
        <p:spPr>
          <a:xfrm>
            <a:off x="731520" y="2240280"/>
            <a:ext cx="1554480" cy="365760"/>
          </a:xfrm>
          <a:prstGeom prst="rect">
            <a:avLst/>
          </a:prstGeom>
          <a:noFill/>
          <a:ln/>
        </p:spPr>
        <p:txBody>
          <a:bodyPr wrap="square" lIns="0" tIns="0" rIns="0" bIns="0" rtlCol="0" anchor="ctr"/>
          <a:lstStyle/>
          <a:p>
            <a:pPr marL="0" indent="0">
              <a:buNone/>
            </a:pPr>
            <a:r>
              <a:rPr lang="en-US" sz="1800" b="1" dirty="0">
                <a:solidFill>
                  <a:srgbClr val="14283D"/>
                </a:solidFill>
                <a:latin typeface="Cambria" pitchFamily="34" charset="0"/>
                <a:ea typeface="Cambria" pitchFamily="34" charset="-122"/>
                <a:cs typeface="Cambria" pitchFamily="34" charset="-120"/>
              </a:rPr>
              <a:t>Wall ahead</a:t>
            </a:r>
            <a:endParaRPr lang="en-US" sz="1800" dirty="0"/>
          </a:p>
        </p:txBody>
      </p:sp>
      <p:sp>
        <p:nvSpPr>
          <p:cNvPr id="8" name="Text 5"/>
          <p:cNvSpPr txBox="1"/>
          <p:nvPr/>
        </p:nvSpPr>
        <p:spPr>
          <a:xfrm>
            <a:off x="731520" y="2651760"/>
            <a:ext cx="1554480" cy="914400"/>
          </a:xfrm>
          <a:prstGeom prst="rect">
            <a:avLst/>
          </a:prstGeom>
          <a:noFill/>
          <a:ln/>
        </p:spPr>
        <p:txBody>
          <a:bodyPr wrap="square" lIns="0" tIns="0" rIns="0" bIns="0" rtlCol="0" anchor="t"/>
          <a:lstStyle/>
          <a:p>
            <a:pPr marL="0" indent="0">
              <a:buNone/>
            </a:pPr>
            <a:r>
              <a:rPr lang="en-US" sz="1400" dirty="0">
                <a:solidFill>
                  <a:srgbClr val="1F2D3A"/>
                </a:solidFill>
                <a:latin typeface="Calibri" pitchFamily="34" charset="0"/>
                <a:ea typeface="Calibri" pitchFamily="34" charset="-122"/>
                <a:cs typeface="Calibri" pitchFamily="34" charset="-120"/>
              </a:rPr>
              <a:t>The front distance drops below the stop limit</a:t>
            </a:r>
            <a:endParaRPr lang="en-US" sz="1400" dirty="0"/>
          </a:p>
        </p:txBody>
      </p:sp>
      <p:sp>
        <p:nvSpPr>
          <p:cNvPr id="9" name="Card"/>
          <p:cNvSpPr/>
          <p:nvPr/>
        </p:nvSpPr>
        <p:spPr>
          <a:xfrm>
            <a:off x="2606040" y="1371600"/>
            <a:ext cx="1874520" cy="2286000"/>
          </a:xfrm>
          <a:prstGeom prst="roundRect">
            <a:avLst>
              <a:gd name="adj" fmla="val 3902"/>
            </a:avLst>
          </a:prstGeom>
          <a:solidFill>
            <a:srgbClr val="FFFFFF"/>
          </a:solidFill>
          <a:ln w="9525">
            <a:solidFill>
              <a:srgbClr val="D5DDE3"/>
            </a:solidFill>
            <a:prstDash val="solid"/>
          </a:ln>
          <a:effectLst>
            <a:outerShdw blurRad="76200" dist="25400" dir="5400000" algn="bl" rotWithShape="0">
              <a:srgbClr val="000000">
                <a:alpha val="12000"/>
              </a:srgbClr>
            </a:outerShdw>
          </a:effectLst>
        </p:spPr>
        <p:txBody>
          <a:bodyPr/>
          <a:lstStyle/>
          <a:p>
            <a:endParaRPr lang="en-AU"/>
          </a:p>
        </p:txBody>
      </p:sp>
      <p:sp>
        <p:nvSpPr>
          <p:cNvPr id="10" name="Num 2"/>
          <p:cNvSpPr/>
          <p:nvPr/>
        </p:nvSpPr>
        <p:spPr>
          <a:xfrm>
            <a:off x="2788920" y="1554480"/>
            <a:ext cx="548640" cy="548640"/>
          </a:xfrm>
          <a:prstGeom prst="ellipse">
            <a:avLst/>
          </a:prstGeom>
          <a:solidFill>
            <a:srgbClr val="E8A33D"/>
          </a:solidFill>
          <a:ln w="6350">
            <a:solidFill>
              <a:srgbClr val="E8A33D"/>
            </a:solidFill>
            <a:prstDash val="solid"/>
          </a:ln>
        </p:spPr>
        <p:txBody>
          <a:bodyPr/>
          <a:lstStyle/>
          <a:p>
            <a:endParaRPr lang="en-AU"/>
          </a:p>
        </p:txBody>
      </p:sp>
      <p:sp>
        <p:nvSpPr>
          <p:cNvPr id="11" name="Text 8"/>
          <p:cNvSpPr txBox="1"/>
          <p:nvPr/>
        </p:nvSpPr>
        <p:spPr>
          <a:xfrm>
            <a:off x="2788920" y="1554480"/>
            <a:ext cx="548640" cy="548640"/>
          </a:xfrm>
          <a:prstGeom prst="rect">
            <a:avLst/>
          </a:prstGeom>
          <a:noFill/>
          <a:ln/>
        </p:spPr>
        <p:txBody>
          <a:bodyPr wrap="square" lIns="0" tIns="0" rIns="0" bIns="0" rtlCol="0" anchor="ctr"/>
          <a:lstStyle/>
          <a:p>
            <a:pPr marL="0" indent="0" algn="ctr">
              <a:buNone/>
            </a:pPr>
            <a:r>
              <a:rPr lang="en-US" sz="2200" b="1" dirty="0">
                <a:solidFill>
                  <a:srgbClr val="14283D"/>
                </a:solidFill>
                <a:latin typeface="Cambria" pitchFamily="34" charset="0"/>
                <a:ea typeface="Cambria" pitchFamily="34" charset="-122"/>
                <a:cs typeface="Cambria" pitchFamily="34" charset="-120"/>
              </a:rPr>
              <a:t>2</a:t>
            </a:r>
            <a:endParaRPr lang="en-US" sz="2200" dirty="0"/>
          </a:p>
        </p:txBody>
      </p:sp>
      <p:sp>
        <p:nvSpPr>
          <p:cNvPr id="12" name="Text 9"/>
          <p:cNvSpPr txBox="1"/>
          <p:nvPr/>
        </p:nvSpPr>
        <p:spPr>
          <a:xfrm>
            <a:off x="2788920" y="2240280"/>
            <a:ext cx="1554480" cy="365760"/>
          </a:xfrm>
          <a:prstGeom prst="rect">
            <a:avLst/>
          </a:prstGeom>
          <a:noFill/>
          <a:ln/>
        </p:spPr>
        <p:txBody>
          <a:bodyPr wrap="square" lIns="0" tIns="0" rIns="0" bIns="0" rtlCol="0" anchor="ctr"/>
          <a:lstStyle/>
          <a:p>
            <a:pPr marL="0" indent="0">
              <a:buNone/>
            </a:pPr>
            <a:r>
              <a:rPr lang="en-US" sz="1800" b="1" dirty="0">
                <a:solidFill>
                  <a:srgbClr val="14283D"/>
                </a:solidFill>
                <a:latin typeface="Cambria" pitchFamily="34" charset="0"/>
                <a:ea typeface="Cambria" pitchFamily="34" charset="-122"/>
                <a:cs typeface="Cambria" pitchFamily="34" charset="-120"/>
              </a:rPr>
              <a:t>Turn in place</a:t>
            </a:r>
            <a:endParaRPr lang="en-US" sz="1800" dirty="0"/>
          </a:p>
        </p:txBody>
      </p:sp>
      <p:sp>
        <p:nvSpPr>
          <p:cNvPr id="13" name="Text 10"/>
          <p:cNvSpPr txBox="1"/>
          <p:nvPr/>
        </p:nvSpPr>
        <p:spPr>
          <a:xfrm>
            <a:off x="2788920" y="2651760"/>
            <a:ext cx="1554480" cy="914400"/>
          </a:xfrm>
          <a:prstGeom prst="rect">
            <a:avLst/>
          </a:prstGeom>
          <a:noFill/>
          <a:ln/>
        </p:spPr>
        <p:txBody>
          <a:bodyPr wrap="square" lIns="0" tIns="0" rIns="0" bIns="0" rtlCol="0" anchor="t"/>
          <a:lstStyle/>
          <a:p>
            <a:pPr marL="0" indent="0">
              <a:buNone/>
            </a:pPr>
            <a:r>
              <a:rPr lang="en-US" sz="1400" dirty="0">
                <a:solidFill>
                  <a:srgbClr val="1F2D3A"/>
                </a:solidFill>
                <a:latin typeface="Calibri" pitchFamily="34" charset="0"/>
                <a:ea typeface="Calibri" pitchFamily="34" charset="-122"/>
                <a:cs typeface="Calibri" pitchFamily="34" charset="-120"/>
              </a:rPr>
              <a:t>The robot rotates away from the wall</a:t>
            </a:r>
            <a:endParaRPr lang="en-US" sz="1400" dirty="0"/>
          </a:p>
        </p:txBody>
      </p:sp>
      <p:sp>
        <p:nvSpPr>
          <p:cNvPr id="14" name="Card"/>
          <p:cNvSpPr/>
          <p:nvPr/>
        </p:nvSpPr>
        <p:spPr>
          <a:xfrm>
            <a:off x="4663440" y="1371600"/>
            <a:ext cx="1874520" cy="2286000"/>
          </a:xfrm>
          <a:prstGeom prst="roundRect">
            <a:avLst>
              <a:gd name="adj" fmla="val 3902"/>
            </a:avLst>
          </a:prstGeom>
          <a:solidFill>
            <a:srgbClr val="FFFFFF"/>
          </a:solidFill>
          <a:ln w="9525">
            <a:solidFill>
              <a:srgbClr val="D5DDE3"/>
            </a:solidFill>
            <a:prstDash val="solid"/>
          </a:ln>
          <a:effectLst>
            <a:outerShdw blurRad="76200" dist="25400" dir="5400000" algn="bl" rotWithShape="0">
              <a:srgbClr val="000000">
                <a:alpha val="12000"/>
              </a:srgbClr>
            </a:outerShdw>
          </a:effectLst>
        </p:spPr>
        <p:txBody>
          <a:bodyPr/>
          <a:lstStyle/>
          <a:p>
            <a:endParaRPr lang="en-AU"/>
          </a:p>
        </p:txBody>
      </p:sp>
      <p:sp>
        <p:nvSpPr>
          <p:cNvPr id="15" name="Num 3"/>
          <p:cNvSpPr/>
          <p:nvPr/>
        </p:nvSpPr>
        <p:spPr>
          <a:xfrm>
            <a:off x="4846320" y="1554480"/>
            <a:ext cx="548640" cy="548640"/>
          </a:xfrm>
          <a:prstGeom prst="ellipse">
            <a:avLst/>
          </a:prstGeom>
          <a:solidFill>
            <a:srgbClr val="E8A33D"/>
          </a:solidFill>
          <a:ln w="6350">
            <a:solidFill>
              <a:srgbClr val="E8A33D"/>
            </a:solidFill>
            <a:prstDash val="solid"/>
          </a:ln>
        </p:spPr>
        <p:txBody>
          <a:bodyPr/>
          <a:lstStyle/>
          <a:p>
            <a:endParaRPr lang="en-AU"/>
          </a:p>
        </p:txBody>
      </p:sp>
      <p:sp>
        <p:nvSpPr>
          <p:cNvPr id="16" name="Text 13"/>
          <p:cNvSpPr txBox="1"/>
          <p:nvPr/>
        </p:nvSpPr>
        <p:spPr>
          <a:xfrm>
            <a:off x="4846320" y="1554480"/>
            <a:ext cx="548640" cy="548640"/>
          </a:xfrm>
          <a:prstGeom prst="rect">
            <a:avLst/>
          </a:prstGeom>
          <a:noFill/>
          <a:ln/>
        </p:spPr>
        <p:txBody>
          <a:bodyPr wrap="square" lIns="0" tIns="0" rIns="0" bIns="0" rtlCol="0" anchor="ctr"/>
          <a:lstStyle/>
          <a:p>
            <a:pPr marL="0" indent="0" algn="ctr">
              <a:buNone/>
            </a:pPr>
            <a:r>
              <a:rPr lang="en-US" sz="2200" b="1" dirty="0">
                <a:solidFill>
                  <a:srgbClr val="14283D"/>
                </a:solidFill>
                <a:latin typeface="Cambria" pitchFamily="34" charset="0"/>
                <a:ea typeface="Cambria" pitchFamily="34" charset="-122"/>
                <a:cs typeface="Cambria" pitchFamily="34" charset="-120"/>
              </a:rPr>
              <a:t>3</a:t>
            </a:r>
            <a:endParaRPr lang="en-US" sz="2200" dirty="0"/>
          </a:p>
        </p:txBody>
      </p:sp>
      <p:sp>
        <p:nvSpPr>
          <p:cNvPr id="17" name="Text 14"/>
          <p:cNvSpPr txBox="1"/>
          <p:nvPr/>
        </p:nvSpPr>
        <p:spPr>
          <a:xfrm>
            <a:off x="4846320" y="2240280"/>
            <a:ext cx="1554480" cy="365760"/>
          </a:xfrm>
          <a:prstGeom prst="rect">
            <a:avLst/>
          </a:prstGeom>
          <a:noFill/>
          <a:ln/>
        </p:spPr>
        <p:txBody>
          <a:bodyPr wrap="square" lIns="0" tIns="0" rIns="0" bIns="0" rtlCol="0" anchor="ctr"/>
          <a:lstStyle/>
          <a:p>
            <a:pPr marL="0" indent="0">
              <a:buNone/>
            </a:pPr>
            <a:r>
              <a:rPr lang="en-US" sz="1800" b="1" dirty="0">
                <a:solidFill>
                  <a:srgbClr val="14283D"/>
                </a:solidFill>
                <a:latin typeface="Cambria" pitchFamily="34" charset="0"/>
                <a:ea typeface="Cambria" pitchFamily="34" charset="-122"/>
                <a:cs typeface="Cambria" pitchFamily="34" charset="-120"/>
              </a:rPr>
              <a:t>Front clear</a:t>
            </a:r>
            <a:endParaRPr lang="en-US" sz="1800" dirty="0"/>
          </a:p>
        </p:txBody>
      </p:sp>
      <p:sp>
        <p:nvSpPr>
          <p:cNvPr id="18" name="Text 15"/>
          <p:cNvSpPr txBox="1"/>
          <p:nvPr/>
        </p:nvSpPr>
        <p:spPr>
          <a:xfrm>
            <a:off x="4846320" y="2651760"/>
            <a:ext cx="1554480" cy="914400"/>
          </a:xfrm>
          <a:prstGeom prst="rect">
            <a:avLst/>
          </a:prstGeom>
          <a:noFill/>
          <a:ln/>
        </p:spPr>
        <p:txBody>
          <a:bodyPr wrap="square" lIns="0" tIns="0" rIns="0" bIns="0" rtlCol="0" anchor="t"/>
          <a:lstStyle/>
          <a:p>
            <a:pPr marL="0" indent="0">
              <a:buNone/>
            </a:pPr>
            <a:r>
              <a:rPr lang="en-US" sz="1400" dirty="0">
                <a:solidFill>
                  <a:srgbClr val="1F2D3A"/>
                </a:solidFill>
                <a:latin typeface="Calibri" pitchFamily="34" charset="0"/>
                <a:ea typeface="Calibri" pitchFamily="34" charset="-122"/>
                <a:cs typeface="Calibri" pitchFamily="34" charset="-120"/>
              </a:rPr>
              <a:t>Free space opens up beyond 1.2 m</a:t>
            </a:r>
            <a:endParaRPr lang="en-US" sz="1400" dirty="0"/>
          </a:p>
        </p:txBody>
      </p:sp>
      <p:sp>
        <p:nvSpPr>
          <p:cNvPr id="19" name="Card"/>
          <p:cNvSpPr/>
          <p:nvPr/>
        </p:nvSpPr>
        <p:spPr>
          <a:xfrm>
            <a:off x="6720840" y="1371600"/>
            <a:ext cx="1874520" cy="2286000"/>
          </a:xfrm>
          <a:prstGeom prst="roundRect">
            <a:avLst>
              <a:gd name="adj" fmla="val 3902"/>
            </a:avLst>
          </a:prstGeom>
          <a:solidFill>
            <a:srgbClr val="FFFFFF"/>
          </a:solidFill>
          <a:ln w="9525">
            <a:solidFill>
              <a:srgbClr val="D5DDE3"/>
            </a:solidFill>
            <a:prstDash val="solid"/>
          </a:ln>
          <a:effectLst>
            <a:outerShdw blurRad="76200" dist="25400" dir="5400000" algn="bl" rotWithShape="0">
              <a:srgbClr val="000000">
                <a:alpha val="12000"/>
              </a:srgbClr>
            </a:outerShdw>
          </a:effectLst>
        </p:spPr>
        <p:txBody>
          <a:bodyPr/>
          <a:lstStyle/>
          <a:p>
            <a:endParaRPr lang="en-AU"/>
          </a:p>
        </p:txBody>
      </p:sp>
      <p:sp>
        <p:nvSpPr>
          <p:cNvPr id="20" name="Num 4"/>
          <p:cNvSpPr/>
          <p:nvPr/>
        </p:nvSpPr>
        <p:spPr>
          <a:xfrm>
            <a:off x="6903720" y="1554480"/>
            <a:ext cx="548640" cy="548640"/>
          </a:xfrm>
          <a:prstGeom prst="ellipse">
            <a:avLst/>
          </a:prstGeom>
          <a:solidFill>
            <a:srgbClr val="E8A33D"/>
          </a:solidFill>
          <a:ln w="6350">
            <a:solidFill>
              <a:srgbClr val="E8A33D"/>
            </a:solidFill>
            <a:prstDash val="solid"/>
          </a:ln>
        </p:spPr>
        <p:txBody>
          <a:bodyPr/>
          <a:lstStyle/>
          <a:p>
            <a:endParaRPr lang="en-AU"/>
          </a:p>
        </p:txBody>
      </p:sp>
      <p:sp>
        <p:nvSpPr>
          <p:cNvPr id="21" name="Text 18"/>
          <p:cNvSpPr txBox="1"/>
          <p:nvPr/>
        </p:nvSpPr>
        <p:spPr>
          <a:xfrm>
            <a:off x="6903720" y="1554480"/>
            <a:ext cx="548640" cy="548640"/>
          </a:xfrm>
          <a:prstGeom prst="rect">
            <a:avLst/>
          </a:prstGeom>
          <a:noFill/>
          <a:ln/>
        </p:spPr>
        <p:txBody>
          <a:bodyPr wrap="square" lIns="0" tIns="0" rIns="0" bIns="0" rtlCol="0" anchor="ctr"/>
          <a:lstStyle/>
          <a:p>
            <a:pPr marL="0" indent="0" algn="ctr">
              <a:buNone/>
            </a:pPr>
            <a:r>
              <a:rPr lang="en-US" sz="2200" b="1" dirty="0">
                <a:solidFill>
                  <a:srgbClr val="14283D"/>
                </a:solidFill>
                <a:latin typeface="Cambria" pitchFamily="34" charset="0"/>
                <a:ea typeface="Cambria" pitchFamily="34" charset="-122"/>
                <a:cs typeface="Cambria" pitchFamily="34" charset="-120"/>
              </a:rPr>
              <a:t>4</a:t>
            </a:r>
            <a:endParaRPr lang="en-US" sz="2200" dirty="0"/>
          </a:p>
        </p:txBody>
      </p:sp>
      <p:sp>
        <p:nvSpPr>
          <p:cNvPr id="22" name="Text 19"/>
          <p:cNvSpPr txBox="1"/>
          <p:nvPr/>
        </p:nvSpPr>
        <p:spPr>
          <a:xfrm>
            <a:off x="6903720" y="2240280"/>
            <a:ext cx="1554480" cy="365760"/>
          </a:xfrm>
          <a:prstGeom prst="rect">
            <a:avLst/>
          </a:prstGeom>
          <a:noFill/>
          <a:ln/>
        </p:spPr>
        <p:txBody>
          <a:bodyPr wrap="square" lIns="0" tIns="0" rIns="0" bIns="0" rtlCol="0" anchor="ctr"/>
          <a:lstStyle/>
          <a:p>
            <a:pPr marL="0" indent="0">
              <a:buNone/>
            </a:pPr>
            <a:r>
              <a:rPr lang="en-US" sz="1800" b="1" dirty="0">
                <a:solidFill>
                  <a:srgbClr val="14283D"/>
                </a:solidFill>
                <a:latin typeface="Cambria" pitchFamily="34" charset="0"/>
                <a:ea typeface="Cambria" pitchFamily="34" charset="-122"/>
                <a:cs typeface="Cambria" pitchFamily="34" charset="-120"/>
              </a:rPr>
              <a:t>Follow again</a:t>
            </a:r>
            <a:endParaRPr lang="en-US" sz="1800" dirty="0"/>
          </a:p>
        </p:txBody>
      </p:sp>
      <p:sp>
        <p:nvSpPr>
          <p:cNvPr id="23" name="Text 20"/>
          <p:cNvSpPr txBox="1"/>
          <p:nvPr/>
        </p:nvSpPr>
        <p:spPr>
          <a:xfrm>
            <a:off x="6903720" y="2651760"/>
            <a:ext cx="1554480" cy="914400"/>
          </a:xfrm>
          <a:prstGeom prst="rect">
            <a:avLst/>
          </a:prstGeom>
          <a:noFill/>
          <a:ln/>
        </p:spPr>
        <p:txBody>
          <a:bodyPr wrap="square" lIns="0" tIns="0" rIns="0" bIns="0" rtlCol="0" anchor="t"/>
          <a:lstStyle/>
          <a:p>
            <a:pPr marL="0" indent="0">
              <a:buNone/>
            </a:pPr>
            <a:r>
              <a:rPr lang="en-US" sz="1400" dirty="0">
                <a:solidFill>
                  <a:srgbClr val="1F2D3A"/>
                </a:solidFill>
                <a:latin typeface="Calibri" pitchFamily="34" charset="0"/>
                <a:ea typeface="Calibri" pitchFamily="34" charset="-122"/>
                <a:cs typeface="Calibri" pitchFamily="34" charset="-120"/>
              </a:rPr>
              <a:t>Wall following resumes at 0.30 m</a:t>
            </a:r>
            <a:endParaRPr lang="en-US" sz="1400" dirty="0"/>
          </a:p>
        </p:txBody>
      </p:sp>
      <p:sp>
        <p:nvSpPr>
          <p:cNvPr id="24" name="Text 21"/>
          <p:cNvSpPr txBox="1"/>
          <p:nvPr/>
        </p:nvSpPr>
        <p:spPr>
          <a:xfrm>
            <a:off x="548640" y="3931920"/>
            <a:ext cx="8046720" cy="457200"/>
          </a:xfrm>
          <a:prstGeom prst="rect">
            <a:avLst/>
          </a:prstGeom>
          <a:noFill/>
          <a:ln/>
        </p:spPr>
        <p:txBody>
          <a:bodyPr wrap="square" lIns="0" tIns="0" rIns="0" bIns="0" rtlCol="0" anchor="ctr"/>
          <a:lstStyle/>
          <a:p>
            <a:pPr marL="0" indent="0">
              <a:buNone/>
            </a:pPr>
            <a:r>
              <a:rPr lang="en-US" sz="1600" dirty="0">
                <a:solidFill>
                  <a:srgbClr val="5B6B79"/>
                </a:solidFill>
                <a:latin typeface="Calibri" pitchFamily="34" charset="0"/>
                <a:ea typeface="Calibri" pitchFamily="34" charset="-122"/>
                <a:cs typeface="Calibri" pitchFamily="34" charset="-120"/>
              </a:rPr>
              <a:t>If the wall is lost, the robot slows down and turns back toward where it was.</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5B6B79"/>
                </a:solidFill>
                <a:latin typeface="Calibri"/>
                <a:ea typeface="Calibri"/>
                <a:cs typeface="Calibri"/>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548640" y="320040"/>
            <a:ext cx="8046720" cy="731520"/>
          </a:xfrm>
          <a:prstGeom prst="rect">
            <a:avLst/>
          </a:prstGeom>
          <a:noFill/>
          <a:ln/>
        </p:spPr>
        <p:txBody>
          <a:bodyPr wrap="square" lIns="0" tIns="0" rIns="0" bIns="0" rtlCol="0" anchor="ctr"/>
          <a:lstStyle/>
          <a:p>
            <a:pPr marL="0" indent="0">
              <a:buNone/>
            </a:pPr>
            <a:r>
              <a:rPr lang="en-US" sz="3200" b="1" dirty="0">
                <a:solidFill>
                  <a:srgbClr val="14283D"/>
                </a:solidFill>
                <a:latin typeface="Cambria" pitchFamily="34" charset="0"/>
                <a:ea typeface="Cambria" pitchFamily="34" charset="-122"/>
                <a:cs typeface="Cambria" pitchFamily="34" charset="-120"/>
              </a:rPr>
              <a:t>Gazebo results</a:t>
            </a:r>
            <a:endParaRPr lang="en-US" sz="3200" dirty="0"/>
          </a:p>
        </p:txBody>
      </p:sp>
      <p:graphicFrame>
        <p:nvGraphicFramePr>
          <p:cNvPr id="4" name="Chart 0"/>
          <p:cNvGraphicFramePr/>
          <p:nvPr>
            <p:extLst>
              <p:ext uri="{D42A27DB-BD31-4B8C-83A1-F6EECF244321}">
                <p14:modId xmlns:p14="http://schemas.microsoft.com/office/powerpoint/2010/main" val="2018341176"/>
              </p:ext>
            </p:extLst>
          </p:nvPr>
        </p:nvGraphicFramePr>
        <p:xfrm>
          <a:off x="548640" y="1188720"/>
          <a:ext cx="4023360" cy="31089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846320" y="1234440"/>
          <a:ext cx="3749040" cy="2718816"/>
        </p:xfrm>
        <a:graphic>
          <a:graphicData uri="http://schemas.openxmlformats.org/drawingml/2006/table">
            <a:tbl>
              <a:tblPr/>
              <a:tblGrid>
                <a:gridCol w="15544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420624">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Gazebo, true position</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4283D"/>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Normal PID</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4283D"/>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Advanced PID</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4283D"/>
                    </a:solidFill>
                  </a:tcPr>
                </a:tc>
                <a:extLst>
                  <a:ext uri="{0D108BD9-81ED-4DB2-BD59-A6C34878D82A}">
                    <a16:rowId xmlns:a16="http://schemas.microsoft.com/office/drawing/2014/main" val="10000"/>
                  </a:ext>
                </a:extLst>
              </a:tr>
              <a:tr h="420624">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RMS error</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31.1 mm</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b="1" dirty="0">
                          <a:solidFill>
                            <a:srgbClr val="1F2D3A"/>
                          </a:solidFill>
                          <a:latin typeface="Calibri" pitchFamily="34" charset="0"/>
                          <a:ea typeface="Calibri" pitchFamily="34" charset="-122"/>
                          <a:cs typeface="Calibri" pitchFamily="34" charset="-120"/>
                        </a:rPr>
                        <a:t>5.8 mm</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95th percentile</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50.3 mm</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b="1" dirty="0">
                          <a:solidFill>
                            <a:srgbClr val="1F2D3A"/>
                          </a:solidFill>
                          <a:latin typeface="Calibri" pitchFamily="34" charset="0"/>
                          <a:ea typeface="Calibri" pitchFamily="34" charset="-122"/>
                          <a:cs typeface="Calibri" pitchFamily="34" charset="-120"/>
                        </a:rPr>
                        <a:t>14.4 mm</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Worst error</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5.6 cm</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b="1" dirty="0">
                          <a:solidFill>
                            <a:srgbClr val="1F2D3A"/>
                          </a:solidFill>
                          <a:latin typeface="Calibri" pitchFamily="34" charset="0"/>
                          <a:ea typeface="Calibri" pitchFamily="34" charset="-122"/>
                          <a:cs typeface="Calibri" pitchFamily="34" charset="-120"/>
                        </a:rPr>
                        <a:t>1.8 cm</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Forward speed</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0.080 m/s fixed</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0.067 m/s mean</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624">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Lap time</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79 s</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92 s</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1"/>
          <p:cNvSpPr txBox="1"/>
          <p:nvPr/>
        </p:nvSpPr>
        <p:spPr>
          <a:xfrm>
            <a:off x="4846320" y="4160520"/>
            <a:ext cx="3749040" cy="548640"/>
          </a:xfrm>
          <a:prstGeom prst="rect">
            <a:avLst/>
          </a:prstGeom>
          <a:noFill/>
          <a:ln/>
        </p:spPr>
        <p:txBody>
          <a:bodyPr wrap="square" lIns="0" tIns="0" rIns="0" bIns="0" rtlCol="0" anchor="t"/>
          <a:lstStyle/>
          <a:p>
            <a:pPr marL="0" indent="0">
              <a:buNone/>
            </a:pPr>
            <a:r>
              <a:rPr lang="en-US" sz="1600" b="1" dirty="0">
                <a:solidFill>
                  <a:srgbClr val="0F8B8D"/>
                </a:solidFill>
                <a:latin typeface="Calibri" pitchFamily="34" charset="0"/>
                <a:ea typeface="Calibri" pitchFamily="34" charset="-122"/>
                <a:cs typeface="Calibri" pitchFamily="34" charset="-120"/>
              </a:rPr>
              <a:t>The Advanced PID is tighter and a little slower.</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5B6B79"/>
                </a:solidFill>
                <a:latin typeface="Calibri"/>
                <a:ea typeface="Calibri"/>
                <a:cs typeface="Calibri"/>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20040"/>
            <a:ext cx="8046720" cy="731520"/>
          </a:xfrm>
          <a:prstGeom prst="rect">
            <a:avLst/>
          </a:prstGeom>
          <a:noFill/>
          <a:ln/>
        </p:spPr>
        <p:txBody>
          <a:bodyPr wrap="square" lIns="0" tIns="0" rIns="0" bIns="0" rtlCol="0" anchor="ctr"/>
          <a:lstStyle/>
          <a:p>
            <a:pPr marL="0" indent="0">
              <a:buNone/>
            </a:pPr>
            <a:r>
              <a:rPr lang="en-US" sz="3200" b="1">
                <a:solidFill>
                  <a:srgbClr val="14283D"/>
                </a:solidFill>
                <a:latin typeface="Cambria" pitchFamily="34" charset="0"/>
                <a:ea typeface="Cambria" pitchFamily="34" charset="-122"/>
                <a:cs typeface="Cambria" pitchFamily="34" charset="-120"/>
              </a:rPr>
              <a:t>Real robot results</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484091366"/>
              </p:ext>
            </p:extLst>
          </p:nvPr>
        </p:nvGraphicFramePr>
        <p:xfrm>
          <a:off x="548640" y="1097280"/>
          <a:ext cx="8046720" cy="1243584"/>
        </p:xfrm>
        <a:graphic>
          <a:graphicData uri="http://schemas.openxmlformats.org/drawingml/2006/table">
            <a:tbl>
              <a:tblPr/>
              <a:tblGrid>
                <a:gridCol w="27432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tblGrid>
              <a:tr h="310896">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Run (max speed, m/s)</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4283D"/>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RMS</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4283D"/>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95th pct</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4283D"/>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Worst</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4283D"/>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Jitter</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4283D"/>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Lap</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4283D"/>
                    </a:solidFill>
                  </a:tcPr>
                </a:tc>
                <a:extLst>
                  <a:ext uri="{0D108BD9-81ED-4DB2-BD59-A6C34878D82A}">
                    <a16:rowId xmlns:a16="http://schemas.microsoft.com/office/drawing/2014/main" val="10000"/>
                  </a:ext>
                </a:extLst>
              </a:tr>
              <a:tr h="310896">
                <a:tc>
                  <a:txBody>
                    <a:bodyPr/>
                    <a:lstStyle/>
                    <a:p>
                      <a:pPr marL="0" indent="0">
                        <a:buNone/>
                      </a:pPr>
                      <a:r>
                        <a:rPr lang="en-AU" sz="1400" dirty="0"/>
                        <a:t>Normal PID (0.05)</a:t>
                      </a:r>
                      <a:endParaRPr lang="en-US" sz="1400" b="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AU" sz="1400" dirty="0"/>
                        <a:t>7.4 mm</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AU" sz="1400" dirty="0"/>
                        <a:t>12.4 mm</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AU" sz="1400" dirty="0"/>
                        <a:t>5.8 cm</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AU" sz="1400" dirty="0"/>
                        <a:t>0.053</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AU" sz="1400" dirty="0"/>
                        <a:t>124 s</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Advanced PID (0.05)</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3.8 mm</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6.5 mm</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5.4 cm</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0.037</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132 s</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Advanced PID (0.065)</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4.1 mm</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8.2 mm</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5.4 cm</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0.036</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116 s</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Text 1"/>
          <p:cNvSpPr txBox="1"/>
          <p:nvPr/>
        </p:nvSpPr>
        <p:spPr>
          <a:xfrm>
            <a:off x="548640" y="2743200"/>
            <a:ext cx="8046720" cy="274320"/>
          </a:xfrm>
          <a:prstGeom prst="rect">
            <a:avLst/>
          </a:prstGeom>
          <a:noFill/>
          <a:ln/>
        </p:spPr>
        <p:txBody>
          <a:bodyPr wrap="square" lIns="0" tIns="0" rIns="0" bIns="0" rtlCol="0" anchor="ctr"/>
          <a:lstStyle/>
          <a:p>
            <a:pPr marL="0" indent="0">
              <a:buNone/>
            </a:pPr>
            <a:r>
              <a:rPr lang="en-US" sz="1200">
                <a:solidFill>
                  <a:srgbClr val="5B6B79"/>
                </a:solidFill>
                <a:latin typeface="Calibri" pitchFamily="34" charset="0"/>
                <a:ea typeface="Calibri" pitchFamily="34" charset="-122"/>
                <a:cs typeface="Calibri" pitchFamily="34" charset="-120"/>
              </a:rPr>
              <a:t>RMS and 95th percentile: straights only. Worst: largest error outside turns. Jitter: variation of the steering command.</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B6B79"/>
                </a:solidFill>
                <a:latin typeface="Calibri"/>
                <a:ea typeface="Calibri"/>
                <a:cs typeface="Calibri"/>
              </a:defRPr>
            </a:lvl1pPr>
          </a:lstStyle>
          <a:p>
            <a:pPr algn="l"/>
            <a:fld id="{F7021451-1387-4CA6-816F-3879F97B5CBC}" type="slidenum">
              <a:rPr lang="en-US" b="0"/>
              <a:t>9</a:t>
            </a:fld>
            <a:endParaRPr lang="en-US"/>
          </a:p>
        </p:txBody>
      </p:sp>
      <p:pic>
        <p:nvPicPr>
          <p:cNvPr id="7" name="Picture 6">
            <a:extLst>
              <a:ext uri="{FF2B5EF4-FFF2-40B4-BE49-F238E27FC236}">
                <a16:creationId xmlns:a16="http://schemas.microsoft.com/office/drawing/2014/main" id="{C3D6A4D4-099C-D7B8-B5BB-81FD691C4F4D}"/>
              </a:ext>
            </a:extLst>
          </p:cNvPr>
          <p:cNvPicPr>
            <a:picLocks noChangeAspect="1"/>
          </p:cNvPicPr>
          <p:nvPr/>
        </p:nvPicPr>
        <p:blipFill>
          <a:blip r:embed="rId3"/>
          <a:stretch>
            <a:fillRect/>
          </a:stretch>
        </p:blipFill>
        <p:spPr>
          <a:xfrm>
            <a:off x="548640" y="3058913"/>
            <a:ext cx="6693108" cy="176454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20040"/>
            <a:ext cx="8046720" cy="731520"/>
          </a:xfrm>
          <a:prstGeom prst="rect">
            <a:avLst/>
          </a:prstGeom>
          <a:noFill/>
          <a:ln/>
        </p:spPr>
        <p:txBody>
          <a:bodyPr wrap="square" lIns="0" tIns="0" rIns="0" bIns="0" rtlCol="0" anchor="ctr"/>
          <a:lstStyle/>
          <a:p>
            <a:pPr marL="0" indent="0">
              <a:buNone/>
            </a:pPr>
            <a:r>
              <a:rPr lang="en-US" sz="3200" b="1" dirty="0">
                <a:solidFill>
                  <a:srgbClr val="14283D"/>
                </a:solidFill>
                <a:latin typeface="Cambria" pitchFamily="34" charset="0"/>
                <a:ea typeface="Cambria" pitchFamily="34" charset="-122"/>
                <a:cs typeface="Cambria" pitchFamily="34" charset="-120"/>
              </a:rPr>
              <a:t>Comparing the controllers</a:t>
            </a:r>
            <a:endParaRPr lang="en-US" sz="3200" dirty="0"/>
          </a:p>
        </p:txBody>
      </p:sp>
      <p:graphicFrame>
        <p:nvGraphicFramePr>
          <p:cNvPr id="3" name="Chart 0"/>
          <p:cNvGraphicFramePr/>
          <p:nvPr/>
        </p:nvGraphicFramePr>
        <p:xfrm>
          <a:off x="548640" y="1143000"/>
          <a:ext cx="4023360" cy="24688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1"/>
          <p:cNvGraphicFramePr/>
          <p:nvPr/>
        </p:nvGraphicFramePr>
        <p:xfrm>
          <a:off x="4572000" y="1143000"/>
          <a:ext cx="4023360" cy="2468880"/>
        </p:xfrm>
        <a:graphic>
          <a:graphicData uri="http://schemas.openxmlformats.org/drawingml/2006/chart">
            <c:chart xmlns:c="http://schemas.openxmlformats.org/drawingml/2006/chart" xmlns:r="http://schemas.openxmlformats.org/officeDocument/2006/relationships" r:id="rId4"/>
          </a:graphicData>
        </a:graphic>
      </p:graphicFrame>
      <p:sp>
        <p:nvSpPr>
          <p:cNvPr id="5" name="Shape 1"/>
          <p:cNvSpPr/>
          <p:nvPr/>
        </p:nvSpPr>
        <p:spPr>
          <a:xfrm>
            <a:off x="548640" y="3703320"/>
            <a:ext cx="8046720" cy="777240"/>
          </a:xfrm>
          <a:prstGeom prst="roundRect">
            <a:avLst>
              <a:gd name="adj" fmla="val 9412"/>
            </a:avLst>
          </a:prstGeom>
          <a:solidFill>
            <a:srgbClr val="FFFFFF"/>
          </a:solidFill>
          <a:ln w="9525">
            <a:solidFill>
              <a:srgbClr val="D5DDE3"/>
            </a:solidFill>
            <a:prstDash val="solid"/>
          </a:ln>
        </p:spPr>
        <p:txBody>
          <a:bodyPr/>
          <a:lstStyle/>
          <a:p>
            <a:endParaRPr lang="en-AU"/>
          </a:p>
        </p:txBody>
      </p:sp>
      <p:sp>
        <p:nvSpPr>
          <p:cNvPr id="6" name="Text 2"/>
          <p:cNvSpPr txBox="1"/>
          <p:nvPr/>
        </p:nvSpPr>
        <p:spPr>
          <a:xfrm>
            <a:off x="777240" y="3730752"/>
            <a:ext cx="7589520" cy="731520"/>
          </a:xfrm>
          <a:prstGeom prst="rect">
            <a:avLst/>
          </a:prstGeom>
          <a:noFill/>
          <a:ln/>
        </p:spPr>
        <p:txBody>
          <a:bodyPr wrap="square" lIns="0" tIns="0" rIns="0" bIns="0" rtlCol="0" anchor="ctr"/>
          <a:lstStyle/>
          <a:p>
            <a:pPr marL="0" indent="0">
              <a:buNone/>
            </a:pPr>
            <a:r>
              <a:rPr lang="en-US" sz="1400" b="1" dirty="0">
                <a:solidFill>
                  <a:srgbClr val="0F8B8D"/>
                </a:solidFill>
                <a:latin typeface="Calibri" pitchFamily="34" charset="0"/>
                <a:ea typeface="Calibri" pitchFamily="34" charset="-122"/>
                <a:cs typeface="Calibri" pitchFamily="34" charset="-120"/>
              </a:rPr>
              <a:t>Advanced PID is tighter: </a:t>
            </a:r>
            <a:r>
              <a:rPr lang="en-US" sz="1400" dirty="0">
                <a:solidFill>
                  <a:srgbClr val="1F2D3A"/>
                </a:solidFill>
                <a:latin typeface="Calibri" pitchFamily="34" charset="0"/>
                <a:ea typeface="Calibri" pitchFamily="34" charset="-122"/>
                <a:cs typeface="Calibri" pitchFamily="34" charset="-120"/>
              </a:rPr>
              <a:t>3.8 mm against 7.4 mm RMS for the Normal PID at 0.05 m/s, and a 7% shorter lap at 0.065 m/s (116 s against 124 s).</a:t>
            </a:r>
            <a:endParaRPr lang="en-US" sz="1400" dirty="0"/>
          </a:p>
        </p:txBody>
      </p:sp>
      <p:sp>
        <p:nvSpPr>
          <p:cNvPr id="7" name="Text 3"/>
          <p:cNvSpPr txBox="1"/>
          <p:nvPr/>
        </p:nvSpPr>
        <p:spPr>
          <a:xfrm>
            <a:off x="548640" y="4526280"/>
            <a:ext cx="7772400" cy="274320"/>
          </a:xfrm>
          <a:prstGeom prst="rect">
            <a:avLst/>
          </a:prstGeom>
          <a:noFill/>
          <a:ln/>
        </p:spPr>
        <p:txBody>
          <a:bodyPr wrap="square" lIns="0" tIns="0" rIns="0" bIns="0" rtlCol="0" anchor="ctr"/>
          <a:lstStyle/>
          <a:p>
            <a:pPr marL="0" indent="0">
              <a:buNone/>
            </a:pPr>
            <a:r>
              <a:rPr lang="en-US" sz="1100" dirty="0">
                <a:solidFill>
                  <a:srgbClr val="5B6B79"/>
                </a:solidFill>
                <a:latin typeface="Calibri" pitchFamily="34" charset="0"/>
                <a:ea typeface="Calibri" pitchFamily="34" charset="-122"/>
                <a:cs typeface="Calibri" pitchFamily="34" charset="-120"/>
              </a:rPr>
              <a:t>* Normal PID run was on the right wall at 0.05 m/s; the Advanced PID runs are on the left wall.</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B6B79"/>
                </a:solidFill>
                <a:latin typeface="Calibri"/>
                <a:ea typeface="Calibri"/>
                <a:cs typeface="Calibri"/>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txBox="1"/>
          <p:nvPr/>
        </p:nvSpPr>
        <p:spPr>
          <a:xfrm>
            <a:off x="548640" y="320040"/>
            <a:ext cx="8046720" cy="731520"/>
          </a:xfrm>
          <a:prstGeom prst="rect">
            <a:avLst/>
          </a:prstGeom>
          <a:noFill/>
          <a:ln/>
        </p:spPr>
        <p:txBody>
          <a:bodyPr wrap="square" lIns="0" tIns="0" rIns="0" bIns="0" rtlCol="0" anchor="ctr"/>
          <a:lstStyle/>
          <a:p>
            <a:pPr marL="0" indent="0">
              <a:buNone/>
            </a:pPr>
            <a:r>
              <a:rPr lang="en-US" sz="3200" b="1" dirty="0">
                <a:solidFill>
                  <a:srgbClr val="14283D"/>
                </a:solidFill>
                <a:latin typeface="Cambria" pitchFamily="34" charset="0"/>
                <a:ea typeface="Cambria" pitchFamily="34" charset="-122"/>
                <a:cs typeface="Cambria" pitchFamily="34" charset="-120"/>
              </a:rPr>
              <a:t>From Gazebo to the real robot</a:t>
            </a:r>
            <a:endParaRPr lang="en-US" sz="3200" dirty="0"/>
          </a:p>
        </p:txBody>
      </p:sp>
      <p:pic>
        <p:nvPicPr>
          <p:cNvPr id="4" name="Gazebo photo" descr="The simulated box in Gazebo with the robot and laser rays"/>
          <p:cNvPicPr>
            <a:picLocks noChangeAspect="1"/>
          </p:cNvPicPr>
          <p:nvPr/>
        </p:nvPicPr>
        <p:blipFill>
          <a:blip r:embed="rId3"/>
          <a:stretch>
            <a:fillRect/>
          </a:stretch>
        </p:blipFill>
        <p:spPr>
          <a:xfrm>
            <a:off x="548640" y="1188720"/>
            <a:ext cx="2377440" cy="1409090"/>
          </a:xfrm>
          <a:prstGeom prst="rect">
            <a:avLst/>
          </a:prstGeom>
        </p:spPr>
      </p:pic>
      <p:pic>
        <p:nvPicPr>
          <p:cNvPr id="5" name="Real box photo" descr="The real box from above with the robot at the start line"/>
          <p:cNvPicPr>
            <a:picLocks noChangeAspect="1"/>
          </p:cNvPicPr>
          <p:nvPr/>
        </p:nvPicPr>
        <p:blipFill>
          <a:blip r:embed="rId4"/>
          <a:stretch>
            <a:fillRect/>
          </a:stretch>
        </p:blipFill>
        <p:spPr>
          <a:xfrm>
            <a:off x="548640" y="2706624"/>
            <a:ext cx="2377440" cy="1783080"/>
          </a:xfrm>
          <a:prstGeom prst="rect">
            <a:avLst/>
          </a:prstGeom>
        </p:spPr>
      </p:pic>
      <p:sp>
        <p:nvSpPr>
          <p:cNvPr id="6" name="Text 1"/>
          <p:cNvSpPr txBox="1"/>
          <p:nvPr/>
        </p:nvSpPr>
        <p:spPr>
          <a:xfrm>
            <a:off x="548640" y="4553712"/>
            <a:ext cx="2651760" cy="228600"/>
          </a:xfrm>
          <a:prstGeom prst="rect">
            <a:avLst/>
          </a:prstGeom>
          <a:noFill/>
          <a:ln/>
        </p:spPr>
        <p:txBody>
          <a:bodyPr wrap="square" lIns="0" tIns="0" rIns="0" bIns="0" rtlCol="0" anchor="ctr"/>
          <a:lstStyle/>
          <a:p>
            <a:pPr marL="0" indent="0">
              <a:buNone/>
            </a:pPr>
            <a:r>
              <a:rPr lang="en-US" sz="1100" dirty="0">
                <a:solidFill>
                  <a:srgbClr val="5B6B79"/>
                </a:solidFill>
                <a:latin typeface="Calibri" pitchFamily="34" charset="0"/>
                <a:ea typeface="Calibri" pitchFamily="34" charset="-122"/>
                <a:cs typeface="Calibri" pitchFamily="34" charset="-120"/>
              </a:rPr>
              <a:t>Top: Gazebo box. Bottom: real lab box.</a:t>
            </a:r>
            <a:endParaRPr lang="en-US" sz="1100" dirty="0"/>
          </a:p>
        </p:txBody>
      </p:sp>
      <p:sp>
        <p:nvSpPr>
          <p:cNvPr id="7" name="Card"/>
          <p:cNvSpPr/>
          <p:nvPr/>
        </p:nvSpPr>
        <p:spPr>
          <a:xfrm>
            <a:off x="3200400" y="1188720"/>
            <a:ext cx="5394960" cy="731520"/>
          </a:xfrm>
          <a:prstGeom prst="roundRect">
            <a:avLst>
              <a:gd name="adj" fmla="val 10000"/>
            </a:avLst>
          </a:prstGeom>
          <a:solidFill>
            <a:srgbClr val="FFFFFF"/>
          </a:solidFill>
          <a:ln w="9525">
            <a:solidFill>
              <a:srgbClr val="D5DDE3"/>
            </a:solidFill>
            <a:prstDash val="solid"/>
          </a:ln>
          <a:effectLst>
            <a:outerShdw blurRad="76200" dist="25400" dir="5400000" algn="bl" rotWithShape="0">
              <a:srgbClr val="000000">
                <a:alpha val="12000"/>
              </a:srgbClr>
            </a:outerShdw>
          </a:effectLst>
        </p:spPr>
        <p:txBody>
          <a:bodyPr/>
          <a:lstStyle/>
          <a:p>
            <a:endParaRPr lang="en-AU"/>
          </a:p>
        </p:txBody>
      </p:sp>
      <p:sp>
        <p:nvSpPr>
          <p:cNvPr id="8" name="Text 3"/>
          <p:cNvSpPr txBox="1"/>
          <p:nvPr/>
        </p:nvSpPr>
        <p:spPr>
          <a:xfrm>
            <a:off x="3383280" y="1234440"/>
            <a:ext cx="1554480" cy="640080"/>
          </a:xfrm>
          <a:prstGeom prst="rect">
            <a:avLst/>
          </a:prstGeom>
          <a:noFill/>
          <a:ln/>
        </p:spPr>
        <p:txBody>
          <a:bodyPr wrap="square" lIns="0" tIns="0" rIns="0" bIns="0" rtlCol="0" anchor="ctr"/>
          <a:lstStyle/>
          <a:p>
            <a:pPr marL="0" indent="0">
              <a:buNone/>
            </a:pPr>
            <a:r>
              <a:rPr lang="en-US" sz="1600" b="1" dirty="0">
                <a:solidFill>
                  <a:srgbClr val="0F8B8D"/>
                </a:solidFill>
                <a:latin typeface="Cambria" pitchFamily="34" charset="0"/>
                <a:ea typeface="Cambria" pitchFamily="34" charset="-122"/>
                <a:cs typeface="Cambria" pitchFamily="34" charset="-120"/>
              </a:rPr>
              <a:t>Same code</a:t>
            </a:r>
            <a:endParaRPr lang="en-US" sz="1600" dirty="0"/>
          </a:p>
        </p:txBody>
      </p:sp>
      <p:sp>
        <p:nvSpPr>
          <p:cNvPr id="9" name="Text 4"/>
          <p:cNvSpPr txBox="1"/>
          <p:nvPr/>
        </p:nvSpPr>
        <p:spPr>
          <a:xfrm>
            <a:off x="4937760" y="1234440"/>
            <a:ext cx="3566160" cy="640080"/>
          </a:xfrm>
          <a:prstGeom prst="rect">
            <a:avLst/>
          </a:prstGeom>
          <a:noFill/>
          <a:ln/>
        </p:spPr>
        <p:txBody>
          <a:bodyPr wrap="square" lIns="0" tIns="0" rIns="0" bIns="0" rtlCol="0" anchor="ctr"/>
          <a:lstStyle/>
          <a:p>
            <a:pPr marL="0" indent="0">
              <a:buNone/>
            </a:pPr>
            <a:r>
              <a:rPr lang="en-US" sz="1400" dirty="0">
                <a:solidFill>
                  <a:srgbClr val="1F2D3A"/>
                </a:solidFill>
                <a:latin typeface="Calibri" pitchFamily="34" charset="0"/>
                <a:ea typeface="Calibri" pitchFamily="34" charset="-122"/>
                <a:cs typeface="Calibri" pitchFamily="34" charset="-120"/>
              </a:rPr>
              <a:t>The node reads the scan by angle, so the real scanner needs no code changes</a:t>
            </a:r>
            <a:endParaRPr lang="en-US" sz="1400" dirty="0"/>
          </a:p>
        </p:txBody>
      </p:sp>
      <p:sp>
        <p:nvSpPr>
          <p:cNvPr id="10" name="Card"/>
          <p:cNvSpPr/>
          <p:nvPr/>
        </p:nvSpPr>
        <p:spPr>
          <a:xfrm>
            <a:off x="3200400" y="2011680"/>
            <a:ext cx="5394960" cy="731520"/>
          </a:xfrm>
          <a:prstGeom prst="roundRect">
            <a:avLst>
              <a:gd name="adj" fmla="val 10000"/>
            </a:avLst>
          </a:prstGeom>
          <a:solidFill>
            <a:srgbClr val="FFFFFF"/>
          </a:solidFill>
          <a:ln w="9525">
            <a:solidFill>
              <a:srgbClr val="D5DDE3"/>
            </a:solidFill>
            <a:prstDash val="solid"/>
          </a:ln>
          <a:effectLst>
            <a:outerShdw blurRad="76200" dist="25400" dir="5400000" algn="bl" rotWithShape="0">
              <a:srgbClr val="000000">
                <a:alpha val="12000"/>
              </a:srgbClr>
            </a:outerShdw>
          </a:effectLst>
        </p:spPr>
        <p:txBody>
          <a:bodyPr/>
          <a:lstStyle/>
          <a:p>
            <a:endParaRPr lang="en-AU"/>
          </a:p>
        </p:txBody>
      </p:sp>
      <p:sp>
        <p:nvSpPr>
          <p:cNvPr id="11" name="Text 6"/>
          <p:cNvSpPr txBox="1"/>
          <p:nvPr/>
        </p:nvSpPr>
        <p:spPr>
          <a:xfrm>
            <a:off x="3383280" y="2057400"/>
            <a:ext cx="1554480" cy="640080"/>
          </a:xfrm>
          <a:prstGeom prst="rect">
            <a:avLst/>
          </a:prstGeom>
          <a:noFill/>
          <a:ln/>
        </p:spPr>
        <p:txBody>
          <a:bodyPr wrap="square" lIns="0" tIns="0" rIns="0" bIns="0" rtlCol="0" anchor="ctr"/>
          <a:lstStyle/>
          <a:p>
            <a:pPr marL="0" indent="0">
              <a:buNone/>
            </a:pPr>
            <a:r>
              <a:rPr lang="en-US" sz="1600" b="1" dirty="0">
                <a:solidFill>
                  <a:srgbClr val="0F8B8D"/>
                </a:solidFill>
                <a:latin typeface="Cambria" pitchFamily="34" charset="0"/>
                <a:ea typeface="Cambria" pitchFamily="34" charset="-122"/>
                <a:cs typeface="Cambria" pitchFamily="34" charset="-120"/>
              </a:rPr>
              <a:t>Slow first</a:t>
            </a:r>
            <a:endParaRPr lang="en-US" sz="1600" dirty="0"/>
          </a:p>
        </p:txBody>
      </p:sp>
      <p:sp>
        <p:nvSpPr>
          <p:cNvPr id="12" name="Text 7"/>
          <p:cNvSpPr txBox="1"/>
          <p:nvPr/>
        </p:nvSpPr>
        <p:spPr>
          <a:xfrm>
            <a:off x="4937760" y="2057400"/>
            <a:ext cx="3566160" cy="640080"/>
          </a:xfrm>
          <a:prstGeom prst="rect">
            <a:avLst/>
          </a:prstGeom>
          <a:noFill/>
          <a:ln/>
        </p:spPr>
        <p:txBody>
          <a:bodyPr wrap="square" lIns="0" tIns="0" rIns="0" bIns="0" rtlCol="0" anchor="ctr"/>
          <a:lstStyle/>
          <a:p>
            <a:pPr marL="0" indent="0">
              <a:buNone/>
            </a:pPr>
            <a:r>
              <a:rPr lang="en-US" sz="1400" dirty="0">
                <a:solidFill>
                  <a:srgbClr val="1F2D3A"/>
                </a:solidFill>
                <a:latin typeface="Calibri" pitchFamily="34" charset="0"/>
                <a:ea typeface="Calibri" pitchFamily="34" charset="-122"/>
                <a:cs typeface="Calibri" pitchFamily="34" charset="-120"/>
              </a:rPr>
              <a:t>Early real runs were slow, then raised to 0.065 m/s once the error stayed small</a:t>
            </a:r>
            <a:endParaRPr lang="en-US" sz="1400" dirty="0"/>
          </a:p>
        </p:txBody>
      </p:sp>
      <p:sp>
        <p:nvSpPr>
          <p:cNvPr id="13" name="Card"/>
          <p:cNvSpPr/>
          <p:nvPr/>
        </p:nvSpPr>
        <p:spPr>
          <a:xfrm>
            <a:off x="3200400" y="2834640"/>
            <a:ext cx="5394960" cy="731520"/>
          </a:xfrm>
          <a:prstGeom prst="roundRect">
            <a:avLst>
              <a:gd name="adj" fmla="val 10000"/>
            </a:avLst>
          </a:prstGeom>
          <a:solidFill>
            <a:srgbClr val="FFFFFF"/>
          </a:solidFill>
          <a:ln w="9525">
            <a:solidFill>
              <a:srgbClr val="D5DDE3"/>
            </a:solidFill>
            <a:prstDash val="solid"/>
          </a:ln>
          <a:effectLst>
            <a:outerShdw blurRad="76200" dist="25400" dir="5400000" algn="bl" rotWithShape="0">
              <a:srgbClr val="000000">
                <a:alpha val="12000"/>
              </a:srgbClr>
            </a:outerShdw>
          </a:effectLst>
        </p:spPr>
        <p:txBody>
          <a:bodyPr/>
          <a:lstStyle/>
          <a:p>
            <a:endParaRPr lang="en-AU"/>
          </a:p>
        </p:txBody>
      </p:sp>
      <p:sp>
        <p:nvSpPr>
          <p:cNvPr id="14" name="Text 9"/>
          <p:cNvSpPr txBox="1"/>
          <p:nvPr/>
        </p:nvSpPr>
        <p:spPr>
          <a:xfrm>
            <a:off x="3383280" y="2880360"/>
            <a:ext cx="1554480" cy="640080"/>
          </a:xfrm>
          <a:prstGeom prst="rect">
            <a:avLst/>
          </a:prstGeom>
          <a:noFill/>
          <a:ln/>
        </p:spPr>
        <p:txBody>
          <a:bodyPr wrap="square" lIns="0" tIns="0" rIns="0" bIns="0" rtlCol="0" anchor="ctr"/>
          <a:lstStyle/>
          <a:p>
            <a:pPr marL="0" indent="0">
              <a:buNone/>
            </a:pPr>
            <a:r>
              <a:rPr lang="en-US" sz="1600" b="1" dirty="0">
                <a:solidFill>
                  <a:srgbClr val="0F8B8D"/>
                </a:solidFill>
                <a:latin typeface="Cambria" pitchFamily="34" charset="0"/>
                <a:ea typeface="Cambria" pitchFamily="34" charset="-122"/>
                <a:cs typeface="Cambria" pitchFamily="34" charset="-120"/>
              </a:rPr>
              <a:t>Noise-proof</a:t>
            </a:r>
            <a:endParaRPr lang="en-US" sz="1600" dirty="0"/>
          </a:p>
        </p:txBody>
      </p:sp>
      <p:sp>
        <p:nvSpPr>
          <p:cNvPr id="15" name="Text 10"/>
          <p:cNvSpPr txBox="1"/>
          <p:nvPr/>
        </p:nvSpPr>
        <p:spPr>
          <a:xfrm>
            <a:off x="4937760" y="2880360"/>
            <a:ext cx="3566160" cy="640080"/>
          </a:xfrm>
          <a:prstGeom prst="rect">
            <a:avLst/>
          </a:prstGeom>
          <a:noFill/>
          <a:ln/>
        </p:spPr>
        <p:txBody>
          <a:bodyPr wrap="square" lIns="0" tIns="0" rIns="0" bIns="0" rtlCol="0" anchor="ctr"/>
          <a:lstStyle/>
          <a:p>
            <a:pPr marL="0" indent="0">
              <a:buNone/>
            </a:pPr>
            <a:r>
              <a:rPr lang="en-US" sz="1400" dirty="0">
                <a:solidFill>
                  <a:srgbClr val="1F2D3A"/>
                </a:solidFill>
                <a:latin typeface="Calibri" pitchFamily="34" charset="0"/>
                <a:ea typeface="Calibri" pitchFamily="34" charset="-122"/>
                <a:cs typeface="Calibri" pitchFamily="34" charset="-120"/>
              </a:rPr>
              <a:t>Medians and a range cap handle the dropped readings of the real scanner</a:t>
            </a:r>
            <a:endParaRPr lang="en-US" sz="1400" dirty="0"/>
          </a:p>
        </p:txBody>
      </p:sp>
      <p:sp>
        <p:nvSpPr>
          <p:cNvPr id="16" name="Card"/>
          <p:cNvSpPr/>
          <p:nvPr/>
        </p:nvSpPr>
        <p:spPr>
          <a:xfrm>
            <a:off x="3200400" y="3657600"/>
            <a:ext cx="5394960" cy="731520"/>
          </a:xfrm>
          <a:prstGeom prst="roundRect">
            <a:avLst>
              <a:gd name="adj" fmla="val 10000"/>
            </a:avLst>
          </a:prstGeom>
          <a:solidFill>
            <a:srgbClr val="FFFFFF"/>
          </a:solidFill>
          <a:ln w="9525">
            <a:solidFill>
              <a:srgbClr val="D5DDE3"/>
            </a:solidFill>
            <a:prstDash val="solid"/>
          </a:ln>
          <a:effectLst>
            <a:outerShdw blurRad="76200" dist="25400" dir="5400000" algn="bl" rotWithShape="0">
              <a:srgbClr val="000000">
                <a:alpha val="12000"/>
              </a:srgbClr>
            </a:outerShdw>
          </a:effectLst>
        </p:spPr>
        <p:txBody>
          <a:bodyPr/>
          <a:lstStyle/>
          <a:p>
            <a:endParaRPr lang="en-AU"/>
          </a:p>
        </p:txBody>
      </p:sp>
      <p:sp>
        <p:nvSpPr>
          <p:cNvPr id="17" name="Text 12"/>
          <p:cNvSpPr txBox="1"/>
          <p:nvPr/>
        </p:nvSpPr>
        <p:spPr>
          <a:xfrm>
            <a:off x="3383280" y="3703320"/>
            <a:ext cx="1554480" cy="640080"/>
          </a:xfrm>
          <a:prstGeom prst="rect">
            <a:avLst/>
          </a:prstGeom>
          <a:noFill/>
          <a:ln/>
        </p:spPr>
        <p:txBody>
          <a:bodyPr wrap="square" lIns="0" tIns="0" rIns="0" bIns="0" rtlCol="0" anchor="ctr"/>
          <a:lstStyle/>
          <a:p>
            <a:pPr marL="0" indent="0">
              <a:buNone/>
            </a:pPr>
            <a:r>
              <a:rPr lang="en-US" sz="1600" b="1" dirty="0">
                <a:solidFill>
                  <a:srgbClr val="0F8B8D"/>
                </a:solidFill>
                <a:latin typeface="Cambria" pitchFamily="34" charset="0"/>
                <a:ea typeface="Cambria" pitchFamily="34" charset="-122"/>
                <a:cs typeface="Cambria" pitchFamily="34" charset="-120"/>
              </a:rPr>
              <a:t>Repeatable</a:t>
            </a:r>
            <a:endParaRPr lang="en-US" sz="1600" dirty="0"/>
          </a:p>
        </p:txBody>
      </p:sp>
      <p:sp>
        <p:nvSpPr>
          <p:cNvPr id="18" name="Text 13"/>
          <p:cNvSpPr txBox="1"/>
          <p:nvPr/>
        </p:nvSpPr>
        <p:spPr>
          <a:xfrm>
            <a:off x="4937760" y="3703320"/>
            <a:ext cx="3566160" cy="640080"/>
          </a:xfrm>
          <a:prstGeom prst="rect">
            <a:avLst/>
          </a:prstGeom>
          <a:noFill/>
          <a:ln/>
        </p:spPr>
        <p:txBody>
          <a:bodyPr wrap="square" lIns="0" tIns="0" rIns="0" bIns="0" rtlCol="0" anchor="ctr"/>
          <a:lstStyle/>
          <a:p>
            <a:pPr marL="0" indent="0">
              <a:buNone/>
            </a:pPr>
            <a:r>
              <a:rPr lang="en-US" sz="1400" dirty="0">
                <a:solidFill>
                  <a:srgbClr val="1F2D3A"/>
                </a:solidFill>
                <a:latin typeface="Calibri" pitchFamily="34" charset="0"/>
                <a:ea typeface="Calibri" pitchFamily="34" charset="-122"/>
                <a:cs typeface="Calibri" pitchFamily="34" charset="-120"/>
              </a:rPr>
              <a:t>The logger waits for a good starting position before it records</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5B6B79"/>
                </a:solidFill>
                <a:latin typeface="Calibri"/>
                <a:ea typeface="Calibri"/>
                <a:cs typeface="Calibri"/>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
          <p:cNvSpPr txBox="1"/>
          <p:nvPr/>
        </p:nvSpPr>
        <p:spPr>
          <a:xfrm>
            <a:off x="548640" y="320040"/>
            <a:ext cx="8046720" cy="731520"/>
          </a:xfrm>
          <a:prstGeom prst="rect">
            <a:avLst/>
          </a:prstGeom>
          <a:noFill/>
          <a:ln/>
        </p:spPr>
        <p:txBody>
          <a:bodyPr wrap="square" lIns="0" tIns="0" rIns="0" bIns="0" rtlCol="0" anchor="ctr"/>
          <a:lstStyle/>
          <a:p>
            <a:pPr marL="0" indent="0">
              <a:buNone/>
            </a:pPr>
            <a:r>
              <a:rPr lang="en-US" sz="3200" b="1" dirty="0">
                <a:solidFill>
                  <a:srgbClr val="14283D"/>
                </a:solidFill>
                <a:latin typeface="Cambria" pitchFamily="34" charset="0"/>
                <a:ea typeface="Cambria" pitchFamily="34" charset="-122"/>
                <a:cs typeface="Cambria" pitchFamily="34" charset="-120"/>
              </a:rPr>
              <a:t>Problems we hit and how we solved them</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8046720" cy="3218688"/>
        </p:xfrm>
        <a:graphic>
          <a:graphicData uri="http://schemas.openxmlformats.org/drawingml/2006/table">
            <a:tbl>
              <a:tblPr/>
              <a:tblGrid>
                <a:gridCol w="2743200">
                  <a:extLst>
                    <a:ext uri="{9D8B030D-6E8A-4147-A177-3AD203B41FA5}">
                      <a16:colId xmlns:a16="http://schemas.microsoft.com/office/drawing/2014/main" val="20000"/>
                    </a:ext>
                  </a:extLst>
                </a:gridCol>
                <a:gridCol w="5303520">
                  <a:extLst>
                    <a:ext uri="{9D8B030D-6E8A-4147-A177-3AD203B41FA5}">
                      <a16:colId xmlns:a16="http://schemas.microsoft.com/office/drawing/2014/main" val="20001"/>
                    </a:ext>
                  </a:extLst>
                </a:gridCol>
              </a:tblGrid>
              <a:tr h="36576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we saw</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4283D"/>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we did</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4283D"/>
                    </a:solidFill>
                  </a:tcPr>
                </a:tc>
                <a:extLst>
                  <a:ext uri="{0D108BD9-81ED-4DB2-BD59-A6C34878D82A}">
                    <a16:rowId xmlns:a16="http://schemas.microsoft.com/office/drawing/2014/main" val="10000"/>
                  </a:ext>
                </a:extLst>
              </a:tr>
              <a:tr h="713232">
                <a:tc>
                  <a:txBody>
                    <a:bodyPr/>
                    <a:lstStyle/>
                    <a:p>
                      <a:pPr marL="0" indent="0">
                        <a:buNone/>
                      </a:pPr>
                      <a:r>
                        <a:rPr lang="en-US" sz="1400" b="1" dirty="0">
                          <a:solidFill>
                            <a:srgbClr val="1F2D3A"/>
                          </a:solidFill>
                          <a:latin typeface="Calibri" pitchFamily="34" charset="0"/>
                          <a:ea typeface="Calibri" pitchFamily="34" charset="-122"/>
                          <a:cs typeface="Calibri" pitchFamily="34" charset="-120"/>
                        </a:rPr>
                        <a:t>Robot dipped toward the wall after corners</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Compared the distance and front-distance logs, then added corner hysteresis and the second (speed) PID</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400" b="1" dirty="0">
                          <a:solidFill>
                            <a:srgbClr val="1F2D3A"/>
                          </a:solidFill>
                          <a:latin typeface="Calibri" pitchFamily="34" charset="0"/>
                          <a:ea typeface="Calibri" pitchFamily="34" charset="-122"/>
                          <a:cs typeface="Calibri" pitchFamily="34" charset="-120"/>
                        </a:rPr>
                        <a:t>Negative distances in a log</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Checked the column against the known box size first. It was a start-frame error, not a controller bug</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400" b="1" dirty="0">
                          <a:solidFill>
                            <a:srgbClr val="1F2D3A"/>
                          </a:solidFill>
                          <a:latin typeface="Calibri" pitchFamily="34" charset="0"/>
                          <a:ea typeface="Calibri" pitchFamily="34" charset="-122"/>
                          <a:cs typeface="Calibri" pitchFamily="34" charset="-120"/>
                        </a:rPr>
                        <a:t>No data from the robot</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Laptop and robot were on different networks, so multicast found nothing. Fixed with a unicast peer file</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400" b="1" dirty="0">
                          <a:solidFill>
                            <a:srgbClr val="1F2D3A"/>
                          </a:solidFill>
                          <a:latin typeface="Calibri" pitchFamily="34" charset="0"/>
                          <a:ea typeface="Calibri" pitchFamily="34" charset="-122"/>
                          <a:cs typeface="Calibri" pitchFamily="34" charset="-120"/>
                        </a:rPr>
                        <a:t>Runs could not be compared</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The logger now waits for a valid start position, and estimates it from the first scan</a:t>
                      </a:r>
                      <a:endParaRPr lang="en-US" sz="1400" dirty="0">
                        <a:latin typeface="Calibri" charset="0"/>
                        <a:ea typeface="Calibri" charset="0"/>
                        <a:cs typeface="Calibri" charset="0"/>
                      </a:endParaRPr>
                    </a:p>
                  </a:txBody>
                  <a:tcPr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5B6B79"/>
                </a:solidFill>
                <a:latin typeface="Calibri"/>
                <a:ea typeface="Calibri"/>
                <a:cs typeface="Calibri"/>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itle"/>
          <p:cNvSpPr txBox="1"/>
          <p:nvPr/>
        </p:nvSpPr>
        <p:spPr>
          <a:xfrm>
            <a:off x="548640" y="320040"/>
            <a:ext cx="8046720" cy="731520"/>
          </a:xfrm>
          <a:prstGeom prst="rect">
            <a:avLst/>
          </a:prstGeom>
          <a:noFill/>
          <a:ln/>
        </p:spPr>
        <p:txBody>
          <a:bodyPr wrap="square" lIns="0" tIns="0" rIns="0" bIns="0" rtlCol="0" anchor="ctr"/>
          <a:lstStyle/>
          <a:p>
            <a:pPr marL="0" indent="0">
              <a:buNone/>
            </a:pPr>
            <a:r>
              <a:rPr lang="en-US" sz="3200" b="1" dirty="0">
                <a:solidFill>
                  <a:srgbClr val="14283D"/>
                </a:solidFill>
                <a:latin typeface="Cambria" pitchFamily="34" charset="0"/>
                <a:ea typeface="Cambria" pitchFamily="34" charset="-122"/>
                <a:cs typeface="Cambria" pitchFamily="34" charset="-120"/>
              </a:rPr>
              <a:t>GitHub and teamwork</a:t>
            </a:r>
            <a:endParaRPr lang="en-US" sz="3200" dirty="0"/>
          </a:p>
        </p:txBody>
      </p:sp>
      <p:sp>
        <p:nvSpPr>
          <p:cNvPr id="4" name="Card"/>
          <p:cNvSpPr/>
          <p:nvPr/>
        </p:nvSpPr>
        <p:spPr>
          <a:xfrm>
            <a:off x="548640" y="1188720"/>
            <a:ext cx="3840480" cy="2651760"/>
          </a:xfrm>
          <a:prstGeom prst="roundRect">
            <a:avLst>
              <a:gd name="adj" fmla="val 2759"/>
            </a:avLst>
          </a:prstGeom>
          <a:solidFill>
            <a:srgbClr val="FFFFFF"/>
          </a:solidFill>
          <a:ln w="9525">
            <a:solidFill>
              <a:srgbClr val="D5DDE3"/>
            </a:solidFill>
            <a:prstDash val="solid"/>
          </a:ln>
          <a:effectLst>
            <a:outerShdw blurRad="76200" dist="25400" dir="5400000" algn="bl" rotWithShape="0">
              <a:srgbClr val="000000">
                <a:alpha val="12000"/>
              </a:srgbClr>
            </a:outerShdw>
          </a:effectLst>
        </p:spPr>
        <p:txBody>
          <a:bodyPr/>
          <a:lstStyle/>
          <a:p>
            <a:endParaRPr lang="en-AU"/>
          </a:p>
        </p:txBody>
      </p:sp>
      <p:sp>
        <p:nvSpPr>
          <p:cNvPr id="5" name="Text 2"/>
          <p:cNvSpPr txBox="1"/>
          <p:nvPr/>
        </p:nvSpPr>
        <p:spPr>
          <a:xfrm>
            <a:off x="777240" y="1325880"/>
            <a:ext cx="3383280" cy="2377440"/>
          </a:xfrm>
          <a:prstGeom prst="rect">
            <a:avLst/>
          </a:prstGeom>
          <a:noFill/>
          <a:ln/>
        </p:spPr>
        <p:txBody>
          <a:bodyPr wrap="square" lIns="0" tIns="0" rIns="0" bIns="0" rtlCol="0" anchor="t"/>
          <a:lstStyle/>
          <a:p>
            <a:pPr marL="0" indent="0">
              <a:spcAft>
                <a:spcPts val="800"/>
              </a:spcAft>
              <a:buNone/>
            </a:pPr>
            <a:r>
              <a:rPr lang="en-US" sz="1600" b="1" dirty="0">
                <a:solidFill>
                  <a:srgbClr val="0F8B8D"/>
                </a:solidFill>
                <a:latin typeface="Calibri" pitchFamily="34" charset="0"/>
                <a:ea typeface="Calibri" pitchFamily="34" charset="-122"/>
                <a:cs typeface="Calibri" pitchFamily="34" charset="-120"/>
              </a:rPr>
              <a:t>What is in the repository</a:t>
            </a:r>
            <a:endParaRPr lang="en-US" sz="1600" dirty="0"/>
          </a:p>
          <a:p>
            <a:pPr marL="342900" indent="-342900">
              <a:spcAft>
                <a:spcPts val="800"/>
              </a:spcAft>
              <a:buSzPct val="100000"/>
              <a:buChar char="•"/>
            </a:pPr>
            <a:r>
              <a:rPr lang="en-US" sz="1600" dirty="0">
                <a:solidFill>
                  <a:srgbClr val="1F2D3A"/>
                </a:solidFill>
                <a:latin typeface="Calibri" pitchFamily="34" charset="0"/>
                <a:ea typeface="Calibri" pitchFamily="34" charset="-122"/>
                <a:cs typeface="Calibri" pitchFamily="34" charset="-120"/>
              </a:rPr>
              <a:t>The ROS 2 package: node, logger, launch file, world</a:t>
            </a:r>
            <a:endParaRPr lang="en-US" sz="1600" dirty="0"/>
          </a:p>
          <a:p>
            <a:pPr marL="342900" indent="-342900">
              <a:spcAft>
                <a:spcPts val="800"/>
              </a:spcAft>
              <a:buSzPct val="100000"/>
              <a:buChar char="•"/>
            </a:pPr>
            <a:r>
              <a:rPr lang="en-US" sz="1600" dirty="0">
                <a:solidFill>
                  <a:srgbClr val="1F2D3A"/>
                </a:solidFill>
                <a:latin typeface="Calibri" pitchFamily="34" charset="0"/>
                <a:ea typeface="Calibri" pitchFamily="34" charset="-122"/>
                <a:cs typeface="Calibri" pitchFamily="34" charset="-120"/>
              </a:rPr>
              <a:t>Analysis script and all run logs</a:t>
            </a:r>
            <a:endParaRPr lang="en-US" sz="1600" dirty="0"/>
          </a:p>
          <a:p>
            <a:pPr marL="342900" indent="-342900">
              <a:spcAft>
                <a:spcPts val="800"/>
              </a:spcAft>
              <a:buSzPct val="100000"/>
              <a:buChar char="•"/>
            </a:pPr>
            <a:r>
              <a:rPr lang="en-US" sz="1600" dirty="0">
                <a:solidFill>
                  <a:srgbClr val="1F2D3A"/>
                </a:solidFill>
                <a:latin typeface="Calibri" pitchFamily="34" charset="0"/>
                <a:ea typeface="Calibri" pitchFamily="34" charset="-122"/>
                <a:cs typeface="Calibri" pitchFamily="34" charset="-120"/>
              </a:rPr>
              <a:t>A README with the run commands</a:t>
            </a:r>
            <a:endParaRPr lang="en-US" sz="1600" dirty="0"/>
          </a:p>
        </p:txBody>
      </p:sp>
      <p:sp>
        <p:nvSpPr>
          <p:cNvPr id="6" name="Card"/>
          <p:cNvSpPr/>
          <p:nvPr/>
        </p:nvSpPr>
        <p:spPr>
          <a:xfrm>
            <a:off x="4754880" y="1188720"/>
            <a:ext cx="3840480" cy="2651760"/>
          </a:xfrm>
          <a:prstGeom prst="roundRect">
            <a:avLst>
              <a:gd name="adj" fmla="val 2759"/>
            </a:avLst>
          </a:prstGeom>
          <a:solidFill>
            <a:srgbClr val="FFFFFF"/>
          </a:solidFill>
          <a:ln w="9525">
            <a:solidFill>
              <a:srgbClr val="D5DDE3"/>
            </a:solidFill>
            <a:prstDash val="solid"/>
          </a:ln>
          <a:effectLst>
            <a:outerShdw blurRad="76200" dist="25400" dir="5400000" algn="bl" rotWithShape="0">
              <a:srgbClr val="000000">
                <a:alpha val="12000"/>
              </a:srgbClr>
            </a:outerShdw>
          </a:effectLst>
        </p:spPr>
        <p:txBody>
          <a:bodyPr/>
          <a:lstStyle/>
          <a:p>
            <a:endParaRPr lang="en-AU"/>
          </a:p>
        </p:txBody>
      </p:sp>
      <p:sp>
        <p:nvSpPr>
          <p:cNvPr id="7" name="Text 4"/>
          <p:cNvSpPr txBox="1"/>
          <p:nvPr/>
        </p:nvSpPr>
        <p:spPr>
          <a:xfrm>
            <a:off x="4983480" y="1325880"/>
            <a:ext cx="3383280" cy="2377440"/>
          </a:xfrm>
          <a:prstGeom prst="rect">
            <a:avLst/>
          </a:prstGeom>
          <a:noFill/>
          <a:ln/>
        </p:spPr>
        <p:txBody>
          <a:bodyPr wrap="square" lIns="0" tIns="0" rIns="0" bIns="0" rtlCol="0" anchor="t"/>
          <a:lstStyle/>
          <a:p>
            <a:pPr marL="0" indent="0">
              <a:spcAft>
                <a:spcPts val="800"/>
              </a:spcAft>
              <a:buNone/>
            </a:pPr>
            <a:r>
              <a:rPr lang="en-US" sz="1600" b="1" dirty="0">
                <a:solidFill>
                  <a:srgbClr val="0F8B8D"/>
                </a:solidFill>
                <a:latin typeface="Calibri" pitchFamily="34" charset="0"/>
                <a:ea typeface="Calibri" pitchFamily="34" charset="-122"/>
                <a:cs typeface="Calibri" pitchFamily="34" charset="-120"/>
              </a:rPr>
              <a:t>How we worked</a:t>
            </a:r>
            <a:endParaRPr lang="en-US" sz="1600" dirty="0"/>
          </a:p>
          <a:p>
            <a:pPr marL="342900" indent="-342900">
              <a:spcAft>
                <a:spcPts val="800"/>
              </a:spcAft>
              <a:buSzPct val="100000"/>
              <a:buChar char="•"/>
            </a:pPr>
            <a:r>
              <a:rPr lang="en-US" sz="1600" dirty="0">
                <a:solidFill>
                  <a:srgbClr val="1F2D3A"/>
                </a:solidFill>
                <a:latin typeface="Calibri" pitchFamily="34" charset="0"/>
                <a:ea typeface="Calibri" pitchFamily="34" charset="-122"/>
                <a:cs typeface="Calibri" pitchFamily="34" charset="-120"/>
              </a:rPr>
              <a:t>Commits from both members, each under their own name</a:t>
            </a:r>
            <a:endParaRPr lang="en-US" sz="1600" dirty="0"/>
          </a:p>
          <a:p>
            <a:pPr marL="342900" indent="-342900">
              <a:spcAft>
                <a:spcPts val="800"/>
              </a:spcAft>
              <a:buSzPct val="100000"/>
              <a:buChar char="•"/>
            </a:pPr>
            <a:r>
              <a:rPr lang="en-US" sz="1600" dirty="0">
                <a:solidFill>
                  <a:srgbClr val="1F2D3A"/>
                </a:solidFill>
                <a:latin typeface="Calibri" pitchFamily="34" charset="0"/>
                <a:ea typeface="Calibri" pitchFamily="34" charset="-122"/>
                <a:cs typeface="Calibri" pitchFamily="34" charset="-120"/>
              </a:rPr>
              <a:t>Pull before every push</a:t>
            </a:r>
            <a:endParaRPr lang="en-US" sz="1600" dirty="0"/>
          </a:p>
          <a:p>
            <a:pPr marL="342900" indent="-342900">
              <a:spcAft>
                <a:spcPts val="800"/>
              </a:spcAft>
              <a:buSzPct val="100000"/>
              <a:buChar char="•"/>
            </a:pPr>
            <a:r>
              <a:rPr lang="en-US" sz="1600" dirty="0">
                <a:solidFill>
                  <a:srgbClr val="1F2D3A"/>
                </a:solidFill>
                <a:latin typeface="Calibri" pitchFamily="34" charset="0"/>
                <a:ea typeface="Calibri" pitchFamily="34" charset="-122"/>
                <a:cs typeface="Calibri" pitchFamily="34" charset="-120"/>
              </a:rPr>
              <a:t>Logs saved next to the code that made them</a:t>
            </a:r>
            <a:endParaRPr lang="en-US" sz="1600" dirty="0"/>
          </a:p>
        </p:txBody>
      </p:sp>
      <p:sp>
        <p:nvSpPr>
          <p:cNvPr id="8" name="Text 5"/>
          <p:cNvSpPr txBox="1"/>
          <p:nvPr/>
        </p:nvSpPr>
        <p:spPr>
          <a:xfrm>
            <a:off x="548640" y="4114800"/>
            <a:ext cx="8046720" cy="320040"/>
          </a:xfrm>
          <a:prstGeom prst="rect">
            <a:avLst/>
          </a:prstGeom>
          <a:noFill/>
          <a:ln/>
        </p:spPr>
        <p:txBody>
          <a:bodyPr wrap="square" lIns="0" tIns="0" rIns="0" bIns="0" rtlCol="0" anchor="ctr"/>
          <a:lstStyle/>
          <a:p>
            <a:pPr marL="0" indent="0">
              <a:buNone/>
            </a:pPr>
            <a:r>
              <a:rPr lang="en-US" sz="1600" b="1" dirty="0">
                <a:solidFill>
                  <a:srgbClr val="0F8B8D"/>
                </a:solidFill>
                <a:latin typeface="Calibri" pitchFamily="34" charset="0"/>
                <a:ea typeface="Calibri" pitchFamily="34" charset="-122"/>
                <a:cs typeface="Calibri" pitchFamily="34" charset="-120"/>
              </a:rPr>
              <a:t>Contributors: </a:t>
            </a:r>
            <a:r>
              <a:rPr lang="en-US" sz="1600" dirty="0">
                <a:solidFill>
                  <a:srgbClr val="1F2D3A"/>
                </a:solidFill>
                <a:latin typeface="Calibri" pitchFamily="34" charset="0"/>
                <a:ea typeface="Calibri" pitchFamily="34" charset="-122"/>
                <a:cs typeface="Calibri" pitchFamily="34" charset="-120"/>
              </a:rPr>
              <a:t>Kazi Ragib Yeahsar (ragib-yeahsar) and Mir Tahsin (</a:t>
            </a:r>
            <a:r>
              <a:rPr lang="en-US" sz="1600" dirty="0" err="1">
                <a:solidFill>
                  <a:srgbClr val="1F2D3A"/>
                </a:solidFill>
                <a:latin typeface="Calibri" pitchFamily="34" charset="0"/>
                <a:ea typeface="Calibri" pitchFamily="34" charset="-122"/>
                <a:cs typeface="Calibri" pitchFamily="34" charset="-120"/>
              </a:rPr>
              <a:t>jackutsa</a:t>
            </a:r>
            <a:r>
              <a:rPr lang="en-US" sz="1600" dirty="0">
                <a:solidFill>
                  <a:srgbClr val="1F2D3A"/>
                </a:solidFill>
                <a:latin typeface="Calibri" pitchFamily="34" charset="0"/>
                <a:ea typeface="Calibri" pitchFamily="34" charset="-122"/>
                <a:cs typeface="Calibri" pitchFamily="34" charset="-120"/>
              </a:rPr>
              <a:t>)</a:t>
            </a:r>
            <a:endParaRPr lang="en-US" sz="1600" dirty="0"/>
          </a:p>
        </p:txBody>
      </p:sp>
      <p:sp>
        <p:nvSpPr>
          <p:cNvPr id="9" name="Text 6"/>
          <p:cNvSpPr txBox="1"/>
          <p:nvPr/>
        </p:nvSpPr>
        <p:spPr>
          <a:xfrm>
            <a:off x="548640" y="4434840"/>
            <a:ext cx="8046720" cy="320040"/>
          </a:xfrm>
          <a:prstGeom prst="rect">
            <a:avLst/>
          </a:prstGeom>
          <a:noFill/>
          <a:ln/>
        </p:spPr>
        <p:txBody>
          <a:bodyPr wrap="square" lIns="0" tIns="0" rIns="0" bIns="0" rtlCol="0" anchor="ctr"/>
          <a:lstStyle/>
          <a:p>
            <a:pPr marL="0" indent="0">
              <a:buNone/>
            </a:pPr>
            <a:r>
              <a:rPr lang="en-US" sz="1600" b="1" dirty="0">
                <a:solidFill>
                  <a:srgbClr val="14283D"/>
                </a:solidFill>
                <a:latin typeface="Courier New" pitchFamily="34" charset="0"/>
                <a:ea typeface="Courier New" pitchFamily="34" charset="-122"/>
                <a:cs typeface="Courier New" pitchFamily="34" charset="-120"/>
              </a:rPr>
              <a:t>github.com/ragib-yeahsar/ENG612-Project-2</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5B6B79"/>
                </a:solidFill>
                <a:latin typeface="Calibri"/>
                <a:ea typeface="Calibri"/>
                <a:cs typeface="Calibri"/>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20040"/>
            <a:ext cx="8046720" cy="731520"/>
          </a:xfrm>
          <a:prstGeom prst="rect">
            <a:avLst/>
          </a:prstGeom>
          <a:noFill/>
          <a:ln/>
        </p:spPr>
        <p:txBody>
          <a:bodyPr wrap="square" lIns="0" tIns="0" rIns="0" bIns="0" rtlCol="0" anchor="ctr"/>
          <a:lstStyle/>
          <a:p>
            <a:pPr marL="0" indent="0">
              <a:buNone/>
            </a:pPr>
            <a:r>
              <a:rPr lang="en-US" sz="3200" b="1" dirty="0">
                <a:solidFill>
                  <a:srgbClr val="14283D"/>
                </a:solidFill>
                <a:latin typeface="Cambria" pitchFamily="34" charset="0"/>
                <a:ea typeface="Cambria" pitchFamily="34" charset="-122"/>
                <a:cs typeface="Cambria" pitchFamily="34" charset="-120"/>
              </a:rPr>
              <a:t>Conclusion: which controller to use</a:t>
            </a:r>
            <a:endParaRPr lang="en-US" sz="3200" dirty="0"/>
          </a:p>
        </p:txBody>
      </p:sp>
      <p:sp>
        <p:nvSpPr>
          <p:cNvPr id="4" name="Recommendation"/>
          <p:cNvSpPr/>
          <p:nvPr/>
        </p:nvSpPr>
        <p:spPr>
          <a:xfrm>
            <a:off x="548640" y="1143000"/>
            <a:ext cx="8046720" cy="1600200"/>
          </a:xfrm>
          <a:prstGeom prst="roundRect">
            <a:avLst>
              <a:gd name="adj" fmla="val 5714"/>
            </a:avLst>
          </a:prstGeom>
          <a:solidFill>
            <a:srgbClr val="14283D"/>
          </a:solidFill>
          <a:ln w="6350">
            <a:solidFill>
              <a:srgbClr val="14283D"/>
            </a:solidFill>
            <a:prstDash val="solid"/>
          </a:ln>
          <a:effectLst>
            <a:outerShdw blurRad="76200" dist="25400" dir="5400000" algn="bl" rotWithShape="0">
              <a:srgbClr val="000000">
                <a:alpha val="12000"/>
              </a:srgbClr>
            </a:outerShdw>
          </a:effectLst>
        </p:spPr>
        <p:txBody>
          <a:bodyPr/>
          <a:lstStyle/>
          <a:p>
            <a:endParaRPr lang="en-AU"/>
          </a:p>
        </p:txBody>
      </p:sp>
      <p:sp>
        <p:nvSpPr>
          <p:cNvPr id="5" name="Text 2"/>
          <p:cNvSpPr txBox="1"/>
          <p:nvPr/>
        </p:nvSpPr>
        <p:spPr>
          <a:xfrm>
            <a:off x="777240" y="1234440"/>
            <a:ext cx="7589520" cy="457200"/>
          </a:xfrm>
          <a:prstGeom prst="rect">
            <a:avLst/>
          </a:prstGeom>
          <a:noFill/>
          <a:ln/>
        </p:spPr>
        <p:txBody>
          <a:bodyPr wrap="square" lIns="0" tIns="0" rIns="0" bIns="0" rtlCol="0" anchor="ctr"/>
          <a:lstStyle/>
          <a:p>
            <a:pPr marL="0" indent="0">
              <a:buNone/>
            </a:pPr>
            <a:r>
              <a:rPr lang="en-US" sz="2200" b="1" dirty="0">
                <a:solidFill>
                  <a:srgbClr val="7FD6D8"/>
                </a:solidFill>
                <a:latin typeface="Cambria" pitchFamily="34" charset="0"/>
                <a:ea typeface="Cambria" pitchFamily="34" charset="-122"/>
                <a:cs typeface="Cambria" pitchFamily="34" charset="-120"/>
              </a:rPr>
              <a:t>Recommended: Advanced PID, left wall, up to 0.065 m/s</a:t>
            </a:r>
            <a:endParaRPr lang="en-US" sz="2200" dirty="0"/>
          </a:p>
        </p:txBody>
      </p:sp>
      <p:sp>
        <p:nvSpPr>
          <p:cNvPr id="6" name="Text 3"/>
          <p:cNvSpPr txBox="1"/>
          <p:nvPr/>
        </p:nvSpPr>
        <p:spPr>
          <a:xfrm>
            <a:off x="777240" y="1737360"/>
            <a:ext cx="7589520" cy="9144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FFFFFF"/>
                </a:solidFill>
                <a:latin typeface="Calibri" pitchFamily="34" charset="0"/>
                <a:ea typeface="Calibri" pitchFamily="34" charset="-122"/>
                <a:cs typeface="Calibri" pitchFamily="34" charset="-120"/>
              </a:rPr>
              <a:t>Gazebo: 5.8 mm RMS against 31.1 mm for the Normal PID</a:t>
            </a:r>
            <a:endParaRPr lang="en-US" sz="1400" dirty="0"/>
          </a:p>
          <a:p>
            <a:pPr marL="342900" indent="-342900">
              <a:spcAft>
                <a:spcPts val="400"/>
              </a:spcAft>
              <a:buSzPct val="100000"/>
              <a:buChar char="•"/>
            </a:pPr>
            <a:r>
              <a:rPr lang="en-US" sz="1400" dirty="0">
                <a:solidFill>
                  <a:srgbClr val="FFFFFF"/>
                </a:solidFill>
                <a:latin typeface="Calibri" pitchFamily="34" charset="0"/>
                <a:ea typeface="Calibri" pitchFamily="34" charset="-122"/>
                <a:cs typeface="Calibri" pitchFamily="34" charset="-120"/>
              </a:rPr>
              <a:t>Real robot: same accuracy as rule-based speed, with 16% to 27% shorter laps</a:t>
            </a:r>
            <a:endParaRPr lang="en-US" sz="1400" dirty="0"/>
          </a:p>
          <a:p>
            <a:pPr marL="342900" indent="-342900">
              <a:spcAft>
                <a:spcPts val="400"/>
              </a:spcAft>
              <a:buSzPct val="100000"/>
              <a:buChar char="•"/>
            </a:pPr>
            <a:r>
              <a:rPr lang="en-US" sz="1400" dirty="0">
                <a:solidFill>
                  <a:srgbClr val="FFFFFF"/>
                </a:solidFill>
                <a:latin typeface="Calibri" pitchFamily="34" charset="0"/>
                <a:ea typeface="Calibri" pitchFamily="34" charset="-122"/>
                <a:cs typeface="Calibri" pitchFamily="34" charset="-120"/>
              </a:rPr>
              <a:t>Fallback: restart at 0.05 m/s if the robot misbehaves</a:t>
            </a:r>
            <a:endParaRPr lang="en-US" sz="1400" dirty="0"/>
          </a:p>
        </p:txBody>
      </p:sp>
      <p:sp>
        <p:nvSpPr>
          <p:cNvPr id="7" name="Card"/>
          <p:cNvSpPr/>
          <p:nvPr/>
        </p:nvSpPr>
        <p:spPr>
          <a:xfrm>
            <a:off x="548640" y="2926080"/>
            <a:ext cx="3931920" cy="1600200"/>
          </a:xfrm>
          <a:prstGeom prst="roundRect">
            <a:avLst>
              <a:gd name="adj" fmla="val 4571"/>
            </a:avLst>
          </a:prstGeom>
          <a:solidFill>
            <a:srgbClr val="FFFFFF"/>
          </a:solidFill>
          <a:ln w="9525">
            <a:solidFill>
              <a:srgbClr val="D5DDE3"/>
            </a:solidFill>
            <a:prstDash val="solid"/>
          </a:ln>
          <a:effectLst>
            <a:outerShdw blurRad="76200" dist="25400" dir="5400000" algn="bl" rotWithShape="0">
              <a:srgbClr val="000000">
                <a:alpha val="12000"/>
              </a:srgbClr>
            </a:outerShdw>
          </a:effectLst>
        </p:spPr>
        <p:txBody>
          <a:bodyPr/>
          <a:lstStyle/>
          <a:p>
            <a:endParaRPr lang="en-AU"/>
          </a:p>
        </p:txBody>
      </p:sp>
      <p:sp>
        <p:nvSpPr>
          <p:cNvPr id="8" name="Text 5"/>
          <p:cNvSpPr txBox="1"/>
          <p:nvPr/>
        </p:nvSpPr>
        <p:spPr>
          <a:xfrm>
            <a:off x="731520" y="2999232"/>
            <a:ext cx="3611880" cy="1463040"/>
          </a:xfrm>
          <a:prstGeom prst="rect">
            <a:avLst/>
          </a:prstGeom>
          <a:noFill/>
          <a:ln/>
        </p:spPr>
        <p:txBody>
          <a:bodyPr wrap="square" lIns="0" tIns="0" rIns="0" bIns="0" rtlCol="0" anchor="t"/>
          <a:lstStyle/>
          <a:p>
            <a:pPr marL="0" indent="0">
              <a:spcAft>
                <a:spcPts val="400"/>
              </a:spcAft>
              <a:buNone/>
            </a:pPr>
            <a:r>
              <a:rPr lang="en-US" sz="1400" b="1" dirty="0">
                <a:solidFill>
                  <a:srgbClr val="0F8B8D"/>
                </a:solidFill>
                <a:latin typeface="Calibri" pitchFamily="34" charset="0"/>
                <a:ea typeface="Calibri" pitchFamily="34" charset="-122"/>
                <a:cs typeface="Calibri" pitchFamily="34" charset="-120"/>
              </a:rPr>
              <a:t>What we learned</a:t>
            </a:r>
            <a:endParaRPr lang="en-US" sz="1400" dirty="0"/>
          </a:p>
          <a:p>
            <a:pPr marL="342900" indent="-342900">
              <a:spcAft>
                <a:spcPts val="400"/>
              </a:spcAft>
              <a:buSzPct val="100000"/>
              <a:buChar char="•"/>
            </a:pPr>
            <a:r>
              <a:rPr lang="en-US" sz="1400" dirty="0">
                <a:solidFill>
                  <a:srgbClr val="1F2D3A"/>
                </a:solidFill>
                <a:latin typeface="Calibri" pitchFamily="34" charset="0"/>
                <a:ea typeface="Calibri" pitchFamily="34" charset="-122"/>
                <a:cs typeface="Calibri" pitchFamily="34" charset="-120"/>
              </a:rPr>
              <a:t>Measure first, then tune</a:t>
            </a:r>
            <a:endParaRPr lang="en-US" sz="1400" dirty="0"/>
          </a:p>
          <a:p>
            <a:pPr marL="342900" indent="-342900">
              <a:spcAft>
                <a:spcPts val="400"/>
              </a:spcAft>
              <a:buSzPct val="100000"/>
              <a:buChar char="•"/>
            </a:pPr>
            <a:r>
              <a:rPr lang="en-US" sz="1400" dirty="0">
                <a:solidFill>
                  <a:srgbClr val="1F2D3A"/>
                </a:solidFill>
                <a:latin typeface="Calibri" pitchFamily="34" charset="0"/>
                <a:ea typeface="Calibri" pitchFamily="34" charset="-122"/>
                <a:cs typeface="Calibri" pitchFamily="34" charset="-120"/>
              </a:rPr>
              <a:t>Check odd data against known geometry</a:t>
            </a:r>
            <a:endParaRPr lang="en-US" sz="1400" dirty="0"/>
          </a:p>
          <a:p>
            <a:pPr marL="342900" indent="-342900">
              <a:spcAft>
                <a:spcPts val="400"/>
              </a:spcAft>
              <a:buSzPct val="100000"/>
              <a:buChar char="•"/>
            </a:pPr>
            <a:r>
              <a:rPr lang="en-US" sz="1400" dirty="0">
                <a:solidFill>
                  <a:srgbClr val="1F2D3A"/>
                </a:solidFill>
                <a:latin typeface="Calibri" pitchFamily="34" charset="0"/>
                <a:ea typeface="Calibri" pitchFamily="34" charset="-122"/>
                <a:cs typeface="Calibri" pitchFamily="34" charset="-120"/>
              </a:rPr>
              <a:t>Simulation hides sensor noise and network problems</a:t>
            </a:r>
            <a:endParaRPr lang="en-US" sz="1400" dirty="0"/>
          </a:p>
        </p:txBody>
      </p:sp>
      <p:sp>
        <p:nvSpPr>
          <p:cNvPr id="9" name="Card"/>
          <p:cNvSpPr/>
          <p:nvPr/>
        </p:nvSpPr>
        <p:spPr>
          <a:xfrm>
            <a:off x="4663440" y="2926080"/>
            <a:ext cx="3931920" cy="1600200"/>
          </a:xfrm>
          <a:prstGeom prst="roundRect">
            <a:avLst>
              <a:gd name="adj" fmla="val 4571"/>
            </a:avLst>
          </a:prstGeom>
          <a:solidFill>
            <a:srgbClr val="FFFFFF"/>
          </a:solidFill>
          <a:ln w="9525">
            <a:solidFill>
              <a:srgbClr val="D5DDE3"/>
            </a:solidFill>
            <a:prstDash val="solid"/>
          </a:ln>
          <a:effectLst>
            <a:outerShdw blurRad="76200" dist="25400" dir="5400000" algn="bl" rotWithShape="0">
              <a:srgbClr val="000000">
                <a:alpha val="12000"/>
              </a:srgbClr>
            </a:outerShdw>
          </a:effectLst>
        </p:spPr>
        <p:txBody>
          <a:bodyPr/>
          <a:lstStyle/>
          <a:p>
            <a:endParaRPr lang="en-AU"/>
          </a:p>
        </p:txBody>
      </p:sp>
      <p:sp>
        <p:nvSpPr>
          <p:cNvPr id="10" name="Text 7"/>
          <p:cNvSpPr txBox="1"/>
          <p:nvPr/>
        </p:nvSpPr>
        <p:spPr>
          <a:xfrm>
            <a:off x="4846320" y="2999232"/>
            <a:ext cx="3611880" cy="1463040"/>
          </a:xfrm>
          <a:prstGeom prst="rect">
            <a:avLst/>
          </a:prstGeom>
          <a:noFill/>
          <a:ln/>
        </p:spPr>
        <p:txBody>
          <a:bodyPr wrap="square" lIns="0" tIns="0" rIns="0" bIns="0" rtlCol="0" anchor="t"/>
          <a:lstStyle/>
          <a:p>
            <a:pPr marL="0" indent="0">
              <a:spcAft>
                <a:spcPts val="400"/>
              </a:spcAft>
              <a:buNone/>
            </a:pPr>
            <a:r>
              <a:rPr lang="en-US" sz="1400" b="1" dirty="0">
                <a:solidFill>
                  <a:srgbClr val="B3541E"/>
                </a:solidFill>
                <a:latin typeface="Calibri" pitchFamily="34" charset="0"/>
                <a:ea typeface="Calibri" pitchFamily="34" charset="-122"/>
                <a:cs typeface="Calibri" pitchFamily="34" charset="-120"/>
              </a:rPr>
              <a:t>Limits</a:t>
            </a:r>
            <a:endParaRPr lang="en-US" sz="1400" dirty="0"/>
          </a:p>
          <a:p>
            <a:pPr marL="342900" indent="-342900">
              <a:spcAft>
                <a:spcPts val="400"/>
              </a:spcAft>
              <a:buSzPct val="100000"/>
              <a:buChar char="•"/>
            </a:pPr>
            <a:r>
              <a:rPr lang="en-US" sz="1400" dirty="0">
                <a:solidFill>
                  <a:srgbClr val="1F2D3A"/>
                </a:solidFill>
                <a:latin typeface="Calibri" pitchFamily="34" charset="0"/>
                <a:ea typeface="Calibri" pitchFamily="34" charset="-122"/>
                <a:cs typeface="Calibri" pitchFamily="34" charset="-120"/>
              </a:rPr>
              <a:t>Largest errors come just after corners</a:t>
            </a:r>
            <a:endParaRPr lang="en-US" sz="1400" dirty="0"/>
          </a:p>
          <a:p>
            <a:pPr marL="342900" indent="-342900">
              <a:spcAft>
                <a:spcPts val="400"/>
              </a:spcAft>
              <a:buSzPct val="100000"/>
              <a:buChar char="•"/>
            </a:pPr>
            <a:r>
              <a:rPr lang="en-US" sz="1400" dirty="0">
                <a:solidFill>
                  <a:srgbClr val="1F2D3A"/>
                </a:solidFill>
                <a:latin typeface="Calibri" pitchFamily="34" charset="0"/>
                <a:ea typeface="Calibri" pitchFamily="34" charset="-122"/>
                <a:cs typeface="Calibri" pitchFamily="34" charset="-120"/>
              </a:rPr>
              <a:t>Results vary between runs</a:t>
            </a:r>
            <a:endParaRPr lang="en-US" sz="1400" dirty="0"/>
          </a:p>
          <a:p>
            <a:pPr marL="342900" indent="-342900">
              <a:spcAft>
                <a:spcPts val="400"/>
              </a:spcAft>
              <a:buSzPct val="100000"/>
              <a:buChar char="•"/>
            </a:pPr>
            <a:r>
              <a:rPr lang="en-US" sz="1400" dirty="0">
                <a:solidFill>
                  <a:srgbClr val="1F2D3A"/>
                </a:solidFill>
                <a:latin typeface="Calibri" pitchFamily="34" charset="0"/>
                <a:ea typeface="Calibri" pitchFamily="34" charset="-122"/>
                <a:cs typeface="Calibri" pitchFamily="34" charset="-120"/>
              </a:rPr>
              <a:t>Normal PID not yet run on the real robot</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5B6B79"/>
                </a:solidFill>
                <a:latin typeface="Calibri"/>
                <a:ea typeface="Calibri"/>
                <a:cs typeface="Calibri"/>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Robot photo" descr="The TurtleBot3 at the wall in the lab box"/>
          <p:cNvPicPr>
            <a:picLocks noChangeAspect="1"/>
          </p:cNvPicPr>
          <p:nvPr/>
        </p:nvPicPr>
        <p:blipFill>
          <a:blip r:embed="rId3"/>
          <a:stretch>
            <a:fillRect/>
          </a:stretch>
        </p:blipFill>
        <p:spPr>
          <a:xfrm>
            <a:off x="5577840" y="914400"/>
            <a:ext cx="3017520" cy="2263140"/>
          </a:xfrm>
          <a:prstGeom prst="rect">
            <a:avLst/>
          </a:prstGeom>
        </p:spPr>
      </p:pic>
      <p:sp>
        <p:nvSpPr>
          <p:cNvPr id="3" name="Text 0"/>
          <p:cNvSpPr txBox="1"/>
          <p:nvPr/>
        </p:nvSpPr>
        <p:spPr>
          <a:xfrm>
            <a:off x="640080" y="1463040"/>
            <a:ext cx="4754880" cy="1097280"/>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Live demo</a:t>
            </a:r>
            <a:endParaRPr lang="en-US" sz="5400" dirty="0"/>
          </a:p>
        </p:txBody>
      </p:sp>
      <p:sp>
        <p:nvSpPr>
          <p:cNvPr id="4" name="Text 1"/>
          <p:cNvSpPr txBox="1"/>
          <p:nvPr/>
        </p:nvSpPr>
        <p:spPr>
          <a:xfrm>
            <a:off x="640080" y="2651760"/>
            <a:ext cx="4754880" cy="1097280"/>
          </a:xfrm>
          <a:prstGeom prst="rect">
            <a:avLst/>
          </a:prstGeom>
          <a:noFill/>
          <a:ln/>
        </p:spPr>
        <p:txBody>
          <a:bodyPr wrap="square" lIns="0" tIns="0" rIns="0" bIns="0" rtlCol="0" anchor="ctr"/>
          <a:lstStyle/>
          <a:p>
            <a:pPr marL="0" indent="0">
              <a:buNone/>
            </a:pPr>
            <a:r>
              <a:rPr lang="en-US" sz="2200" dirty="0">
                <a:solidFill>
                  <a:srgbClr val="C9D6E0"/>
                </a:solidFill>
                <a:latin typeface="Calibri" pitchFamily="34" charset="0"/>
                <a:ea typeface="Calibri" pitchFamily="34" charset="-122"/>
                <a:cs typeface="Calibri" pitchFamily="34" charset="-120"/>
              </a:rPr>
              <a:t>Advanced PID on the real TurtleBot3, in the 2 m × 2 m box</a:t>
            </a:r>
            <a:endParaRPr lang="en-US" sz="2200" dirty="0"/>
          </a:p>
        </p:txBody>
      </p:sp>
      <p:sp>
        <p:nvSpPr>
          <p:cNvPr id="5" name="Text 2"/>
          <p:cNvSpPr txBox="1"/>
          <p:nvPr/>
        </p:nvSpPr>
        <p:spPr>
          <a:xfrm>
            <a:off x="640080" y="3931920"/>
            <a:ext cx="7863840" cy="457200"/>
          </a:xfrm>
          <a:prstGeom prst="rect">
            <a:avLst/>
          </a:prstGeom>
          <a:noFill/>
          <a:ln/>
        </p:spPr>
        <p:txBody>
          <a:bodyPr wrap="square" lIns="0" tIns="0" rIns="0" bIns="0" rtlCol="0" anchor="ctr"/>
          <a:lstStyle/>
          <a:p>
            <a:pPr marL="0" indent="0">
              <a:buNone/>
            </a:pPr>
            <a:r>
              <a:rPr lang="en-US" sz="1800" b="1" dirty="0">
                <a:solidFill>
                  <a:srgbClr val="E8A33D"/>
                </a:solidFill>
                <a:latin typeface="Calibri" pitchFamily="34" charset="0"/>
                <a:ea typeface="Calibri" pitchFamily="34" charset="-122"/>
                <a:cs typeface="Calibri" pitchFamily="34" charset="-120"/>
              </a:rPr>
              <a:t>Questions welcome</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D7DFA110F09F046A7C859084FCBF808" ma:contentTypeVersion="9" ma:contentTypeDescription="Create a new document." ma:contentTypeScope="" ma:versionID="a96b54b397c795b3c6a26f8a75638bb4">
  <xsd:schema xmlns:xsd="http://www.w3.org/2001/XMLSchema" xmlns:xs="http://www.w3.org/2001/XMLSchema" xmlns:p="http://schemas.microsoft.com/office/2006/metadata/properties" xmlns:ns3="0da6376b-e9ea-432a-b40f-2e0a82d2292f" targetNamespace="http://schemas.microsoft.com/office/2006/metadata/properties" ma:root="true" ma:fieldsID="960ef563fd4971b811c7e7063a95c07d" ns3:_="">
    <xsd:import namespace="0da6376b-e9ea-432a-b40f-2e0a82d2292f"/>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da6376b-e9ea-432a-b40f-2e0a82d2292f"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0da6376b-e9ea-432a-b40f-2e0a82d2292f" xsi:nil="true"/>
  </documentManagement>
</p:properties>
</file>

<file path=customXml/itemProps1.xml><?xml version="1.0" encoding="utf-8"?>
<ds:datastoreItem xmlns:ds="http://schemas.openxmlformats.org/officeDocument/2006/customXml" ds:itemID="{641C0C3C-4C1F-4AA1-BE43-54B392B51463}">
  <ds:schemaRefs>
    <ds:schemaRef ds:uri="http://schemas.microsoft.com/sharepoint/v3/contenttype/forms"/>
  </ds:schemaRefs>
</ds:datastoreItem>
</file>

<file path=customXml/itemProps2.xml><?xml version="1.0" encoding="utf-8"?>
<ds:datastoreItem xmlns:ds="http://schemas.openxmlformats.org/officeDocument/2006/customXml" ds:itemID="{697AAF9E-53F0-4EB2-B8D5-CEA31BAA057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da6376b-e9ea-432a-b40f-2e0a82d2292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137CFD5-39B5-4434-A218-D3B58BCAD0BB}">
  <ds:schemaRefs>
    <ds:schemaRef ds:uri="http://www.w3.org/XML/1998/namespace"/>
    <ds:schemaRef ds:uri="http://schemas.microsoft.com/office/2006/metadata/properties"/>
    <ds:schemaRef ds:uri="http://purl.org/dc/elements/1.1/"/>
    <ds:schemaRef ds:uri="http://schemas.openxmlformats.org/package/2006/metadata/core-properties"/>
    <ds:schemaRef ds:uri="http://purl.org/dc/dcmitype/"/>
    <ds:schemaRef ds:uri="0da6376b-e9ea-432a-b40f-2e0a82d2292f"/>
    <ds:schemaRef ds:uri="http://purl.org/dc/terms/"/>
    <ds:schemaRef ds:uri="http://schemas.microsoft.com/office/2006/documentManagement/typ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461</TotalTime>
  <Words>2348</Words>
  <Application>Microsoft Office PowerPoint</Application>
  <PresentationFormat>On-screen Show (16:9)</PresentationFormat>
  <Paragraphs>237</Paragraphs>
  <Slides>15</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Aptos</vt:lpstr>
      <vt:lpstr>Arial</vt:lpstr>
      <vt:lpstr>Calibri</vt:lpstr>
      <vt:lpstr>Cambria</vt:lpstr>
      <vt:lpstr>Consolas</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TurtleBot3 Wall Following</dc:title>
  <dc:subject>PptxGenJS Presentation</dc:subject>
  <dc:creator>Kazi Ragib Yeahsar;Jack</dc:creator>
  <cp:lastModifiedBy>Ragib Yeahsar</cp:lastModifiedBy>
  <cp:revision>14</cp:revision>
  <dcterms:created xsi:type="dcterms:W3CDTF">2026-10-25T11:04:41Z</dcterms:created>
  <dcterms:modified xsi:type="dcterms:W3CDTF">2026-10-26T08:14:18Z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0x0101005D7DFA110F09F046A7C859084FCBF808</vt:lpwstr>
  </property>
</Properties>
</file>