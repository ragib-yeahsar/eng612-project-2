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1" r:id="rId19"/>
    <p:sldId id="270"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6DA0D-83CD-4850-80A2-691C9BE32E38}" v="6" dt="2026-10-25T11:20:10.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a:solidFill>
                  <a:srgbClr val="1F2D3A"/>
                </a:solidFill>
                <a:latin typeface="Calibri"/>
              </a:rPr>
              <a:t>Error on straights (mm RMS, lower is better)</a:t>
            </a:r>
          </a:p>
        </c:rich>
      </c:tx>
      <c:overlay val="0"/>
    </c:title>
    <c:autoTitleDeleted val="0"/>
    <c:plotArea>
      <c:layout/>
      <c:barChart>
        <c:barDir val="col"/>
        <c:grouping val="clustered"/>
        <c:varyColors val="0"/>
        <c:ser>
          <c:idx val="0"/>
          <c:order val="0"/>
          <c:tx>
            <c:strRef>
              <c:f>Sheet1!$B$1</c:f>
              <c:strCache>
                <c:ptCount val="1"/>
                <c:pt idx="0">
                  <c:v>Error on straights (mm RMS)</c:v>
                </c:pt>
              </c:strCache>
            </c:strRef>
          </c:tx>
          <c:spPr>
            <a:solidFill>
              <a:srgbClr val="0F8B8D"/>
            </a:solidFill>
            <a:effectLst/>
          </c:spPr>
          <c:invertIfNegative val="0"/>
          <c:dLbls>
            <c:numFmt formatCode="0.0" sourceLinked="0"/>
            <c:spPr>
              <a:noFill/>
              <a:ln>
                <a:noFill/>
              </a:ln>
              <a:effectLst/>
            </c:spPr>
            <c:txPr>
              <a:bodyPr/>
              <a:lstStyle/>
              <a:p>
                <a:pPr>
                  <a:defRPr sz="14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Normal PID, first gains</c:v>
                </c:pt>
                <c:pt idx="1">
                  <c:v>Advanced PID, final</c:v>
                </c:pt>
              </c:strCache>
            </c:strRef>
          </c:cat>
          <c:val>
            <c:numRef>
              <c:f>Sheet1!$B$2:$B$3</c:f>
              <c:numCache>
                <c:formatCode>General</c:formatCode>
                <c:ptCount val="2"/>
                <c:pt idx="0">
                  <c:v>31.1</c:v>
                </c:pt>
                <c:pt idx="1">
                  <c:v>5.8</c:v>
                </c:pt>
              </c:numCache>
            </c:numRef>
          </c:val>
          <c:extLst>
            <c:ext xmlns:c16="http://schemas.microsoft.com/office/drawing/2014/chart" uri="{C3380CC4-5D6E-409C-BE32-E72D297353CC}">
              <c16:uniqueId val="{00000000-5148-4818-AE76-3AA1F3EA80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a:solidFill>
                  <a:srgbClr val="1F2D3A"/>
                </a:solidFill>
                <a:latin typeface="Calibri"/>
              </a:rPr>
              <a:t>Error on straights (mm RMS)</a:t>
            </a:r>
          </a:p>
        </c:rich>
      </c:tx>
      <c:overlay val="0"/>
    </c:title>
    <c:autoTitleDeleted val="0"/>
    <c:plotArea>
      <c:layout/>
      <c:barChart>
        <c:barDir val="col"/>
        <c:grouping val="clustered"/>
        <c:varyColors val="0"/>
        <c:ser>
          <c:idx val="0"/>
          <c:order val="0"/>
          <c:tx>
            <c:strRef>
              <c:f>Sheet1!$B$1</c:f>
              <c:strCache>
                <c:ptCount val="1"/>
                <c:pt idx="0">
                  <c:v>RMS error (mm)</c:v>
                </c:pt>
              </c:strCache>
            </c:strRef>
          </c:tx>
          <c:spPr>
            <a:solidFill>
              <a:srgbClr val="0F8B8D"/>
            </a:solidFill>
            <a:effectLst/>
          </c:spPr>
          <c:invertIfNegative val="0"/>
          <c:dLbls>
            <c:numFmt formatCode="0.0" sourceLinked="0"/>
            <c:spPr>
              <a:noFill/>
              <a:ln>
                <a:noFill/>
              </a:ln>
              <a:effectLst/>
            </c:spPr>
            <c:txPr>
              <a:bodyPr/>
              <a:lstStyle/>
              <a:p>
                <a:pPr>
                  <a:defRPr sz="12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0.05</c:v>
                </c:pt>
                <c:pt idx="1">
                  <c:v>Adv 0.05</c:v>
                </c:pt>
                <c:pt idx="2">
                  <c:v>Adv 0.065</c:v>
                </c:pt>
                <c:pt idx="3">
                  <c:v>Adv 0.065 repeat</c:v>
                </c:pt>
              </c:strCache>
            </c:strRef>
          </c:cat>
          <c:val>
            <c:numRef>
              <c:f>Sheet1!$B$2:$B$5</c:f>
              <c:numCache>
                <c:formatCode>General</c:formatCode>
                <c:ptCount val="4"/>
                <c:pt idx="0">
                  <c:v>4.0999999999999996</c:v>
                </c:pt>
                <c:pt idx="1">
                  <c:v>3.8</c:v>
                </c:pt>
                <c:pt idx="2">
                  <c:v>4.0999999999999996</c:v>
                </c:pt>
                <c:pt idx="3">
                  <c:v>9.9</c:v>
                </c:pt>
              </c:numCache>
            </c:numRef>
          </c:val>
          <c:extLst>
            <c:ext xmlns:c16="http://schemas.microsoft.com/office/drawing/2014/chart" uri="{C3380CC4-5D6E-409C-BE32-E72D297353CC}">
              <c16:uniqueId val="{00000000-6313-4248-AB9C-C5B6CAD47BC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a:solidFill>
                  <a:srgbClr val="1F2D3A"/>
                </a:solidFill>
                <a:latin typeface="Calibri"/>
              </a:rPr>
              <a:t>Time for one lap (s)</a:t>
            </a:r>
          </a:p>
        </c:rich>
      </c:tx>
      <c:overlay val="0"/>
    </c:title>
    <c:autoTitleDeleted val="0"/>
    <c:plotArea>
      <c:layout/>
      <c:barChart>
        <c:barDir val="col"/>
        <c:grouping val="clustered"/>
        <c:varyColors val="0"/>
        <c:ser>
          <c:idx val="0"/>
          <c:order val="0"/>
          <c:tx>
            <c:strRef>
              <c:f>Sheet1!$B$1</c:f>
              <c:strCache>
                <c:ptCount val="1"/>
                <c:pt idx="0">
                  <c:v>Lap time (s)</c:v>
                </c:pt>
              </c:strCache>
            </c:strRef>
          </c:tx>
          <c:spPr>
            <a:solidFill>
              <a:srgbClr val="14283D"/>
            </a:solidFill>
            <a:effectLst/>
          </c:spPr>
          <c:invertIfNegative val="0"/>
          <c:dLbls>
            <c:numFmt formatCode="0" sourceLinked="0"/>
            <c:spPr>
              <a:noFill/>
              <a:ln>
                <a:noFill/>
              </a:ln>
              <a:effectLst/>
            </c:spPr>
            <c:txPr>
              <a:bodyPr/>
              <a:lstStyle/>
              <a:p>
                <a:pPr>
                  <a:defRPr sz="12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0.05</c:v>
                </c:pt>
                <c:pt idx="1">
                  <c:v>Adv 0.05</c:v>
                </c:pt>
                <c:pt idx="2">
                  <c:v>Adv 0.065</c:v>
                </c:pt>
                <c:pt idx="3">
                  <c:v>Adv 0.065 repeat</c:v>
                </c:pt>
              </c:strCache>
            </c:strRef>
          </c:cat>
          <c:val>
            <c:numRef>
              <c:f>Sheet1!$B$2:$B$5</c:f>
              <c:numCache>
                <c:formatCode>General</c:formatCode>
                <c:ptCount val="4"/>
                <c:pt idx="0">
                  <c:v>158</c:v>
                </c:pt>
                <c:pt idx="1">
                  <c:v>132</c:v>
                </c:pt>
                <c:pt idx="2">
                  <c:v>116</c:v>
                </c:pt>
                <c:pt idx="3">
                  <c:v>117</c:v>
                </c:pt>
              </c:numCache>
            </c:numRef>
          </c:val>
          <c:extLst>
            <c:ext xmlns:c16="http://schemas.microsoft.com/office/drawing/2014/chart" uri="{C3380CC4-5D6E-409C-BE32-E72D297353CC}">
              <c16:uniqueId val="{00000000-1DC0-43FA-8FE2-8DC7CBFF0F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904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task. The robot must keep 0.30 m from a wall using only its laser scanner. We built it in simulation first, then ran it on the real robot. About 15 minutes: how it works, results, what went wrong, then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goal. The only sensor is the laser scanner. The robot follows the left wall. The demo box is 2 by 2 metres, so it must also handle four corners.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The laser scan comes in on the scan topic, the controller node turns it into a speed and a turn rate, and publishes them on cmd_vel. The data logger is a separate node that only listens, so measuring never changes how the robot behaves. The tags in monospace are the names used in the code and on the command line. The same node runs in Gazebo and on the real robot.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laser beams, one at 45 degrees and one at 90 degrees to the side, give both how far the wall is and the angle of the robot to the wall. We then look slightly ahead, so the robot reacts before it drifts. Beams are chosen by angle and averaged with a median, which removes bad readings.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has three parts. P reacts to how big the error is now. D reacts to how fast the error is changing, which stops overshoot. I fixes a constant offset, and we left it at zero in every reported run because on a straight wall there is no steady push.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two PIDs. The second one sets the forward speed. It slows the robot near a corner or when it is off the target, and lets it speed up on a clean straight. The earlier modes are kept in the same code so we could compare all three on the same runs.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corner the wall disappears and a new one appears ahead. The robot stops moving forward, turns in place, and only resumes wall following once the front is clear. Two separate thresholds, stop and clear, stop it from flicking back and forth. If the wall is lost completely, it slows and turns back toward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errors come from the true robot position in Gazebo. The first baseline run used our first gains, so it shows the starting point of tuning. The speed-PID design held the wall much more tightly, and it did so a little slower: lap 92 s against 79 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runs use the robot's own laser as the measurement. Rule-based means the speed came from simple rules, not a PID. Straights are held within a few millimetres in three of the four runs. The repeat run at 0.065 m/s was less accurate, which shows run-to-run variation. The largest errors always appear just after a corner. The line plot shows measured distance during straight following 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Advanced PID gives the same accuracy as the rule-based speed, but finishes a lap sooner. At the same 0.05 m/s limit the lap time falls from 158 s to 132 s, which is 16 percent. Raising the limit to 0.065 m/s cuts it to 116 s with a similar error. The repeat run shows that results vary from run to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keep the controller identical, make the input robust to real scanner noise, raise the speed gradually, and make each run repeatable. Left photo: the Gazebo box. Below it: the real 2 by 2 metre box from above. The network problem cost us time and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to tell as a story: the negative distance (our first explanation was wrong) and the network problem. The lesson in both is to check the data against known geometry and the setup before changing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repository open in a browser and show the commit history with commits from both members. Check the address is the final one before the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limitations yourselves before anyone asks. With more time we would tune the corner exit, test a non-zero Ki, and repeat the real runs in one fixed box.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the Advanced PID: a steering PID plus a speed PID, on the left wall, with a maximum speed of 0.065 metres per second. Reasons: in Gazebo it held the wall much more tightly than the Normal PID with our first gains, and on the real robot it matched the accuracy of rule-based speed with laps 16 to 27 percent shorter. If the robot misbehaves during the demo, restart at 0.05. Be honest about the limits: we have not run the Normal PID on the real robot on the left wall, and one repeat run was less accurate.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charged, laptop on the lab network, repository open. If the robot misbehaves, restart at the fallback speed of 0.05 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8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A8D88C-3338-2D63-4ADC-FA3877558137}"/>
              </a:ext>
            </a:extLst>
          </p:cNvPr>
          <p:cNvPicPr>
            <a:picLocks noChangeAspect="1"/>
          </p:cNvPicPr>
          <p:nvPr/>
        </p:nvPicPr>
        <p:blipFill>
          <a:blip r:embed="rId3">
            <a:alphaModFix amt="85000"/>
          </a:blip>
          <a:srcRect t="32614" b="11136"/>
          <a:stretch>
            <a:fillRect/>
          </a:stretch>
        </p:blipFill>
        <p:spPr>
          <a:xfrm>
            <a:off x="4643845" y="150223"/>
            <a:ext cx="4310743" cy="3233057"/>
          </a:xfrm>
          <a:prstGeom prst="roundRect">
            <a:avLst>
              <a:gd name="adj" fmla="val 8594"/>
            </a:avLst>
          </a:prstGeom>
          <a:solidFill>
            <a:srgbClr val="FFFFFF">
              <a:shade val="85000"/>
            </a:srgbClr>
          </a:solidFill>
          <a:ln>
            <a:noFill/>
          </a:ln>
          <a:effectLst>
            <a:outerShdw blurRad="76200" dir="13500000" sy="23000" kx="1200000" algn="br" rotWithShape="0">
              <a:prstClr val="black">
                <a:alpha val="20000"/>
              </a:prstClr>
            </a:outerShdw>
            <a:reflection blurRad="12700" stA="38000" endPos="28000" dist="5000" dir="5400000" sy="-100000" algn="bl" rotWithShape="0"/>
          </a:effectLst>
        </p:spPr>
      </p:pic>
      <p:sp>
        <p:nvSpPr>
          <p:cNvPr id="2" name="Text 0"/>
          <p:cNvSpPr txBox="1"/>
          <p:nvPr/>
        </p:nvSpPr>
        <p:spPr>
          <a:xfrm>
            <a:off x="640080" y="555988"/>
            <a:ext cx="7315200" cy="365760"/>
          </a:xfrm>
          <a:prstGeom prst="rect">
            <a:avLst/>
          </a:prstGeom>
          <a:noFill/>
          <a:ln/>
        </p:spPr>
        <p:txBody>
          <a:bodyPr wrap="square" lIns="0" tIns="0" rIns="0" bIns="0" rtlCol="0" anchor="ctr"/>
          <a:lstStyle/>
          <a:p>
            <a:pPr marL="0" indent="0">
              <a:buNone/>
            </a:pPr>
            <a:r>
              <a:rPr lang="en-US" sz="1600" b="1" kern="0" spc="400" dirty="0">
                <a:solidFill>
                  <a:srgbClr val="E8A33D"/>
                </a:solidFill>
                <a:latin typeface="Calibri" pitchFamily="34" charset="0"/>
                <a:ea typeface="Calibri" pitchFamily="34" charset="-122"/>
                <a:cs typeface="Calibri" pitchFamily="34" charset="-120"/>
              </a:rPr>
              <a:t>ENG612  PROJECT 2</a:t>
            </a:r>
            <a:endParaRPr lang="en-US" sz="1600" dirty="0"/>
          </a:p>
        </p:txBody>
      </p:sp>
      <p:sp>
        <p:nvSpPr>
          <p:cNvPr id="3" name="Text 1"/>
          <p:cNvSpPr txBox="1"/>
          <p:nvPr/>
        </p:nvSpPr>
        <p:spPr>
          <a:xfrm>
            <a:off x="640080" y="1371600"/>
            <a:ext cx="7680960" cy="14630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A TurtleBot3 that follows a wall at 0.30 m</a:t>
            </a:r>
            <a:endParaRPr lang="en-US" sz="4200" dirty="0"/>
          </a:p>
        </p:txBody>
      </p:sp>
      <p:sp>
        <p:nvSpPr>
          <p:cNvPr id="4" name="Text 2"/>
          <p:cNvSpPr txBox="1"/>
          <p:nvPr/>
        </p:nvSpPr>
        <p:spPr>
          <a:xfrm>
            <a:off x="640080" y="2926080"/>
            <a:ext cx="7680960" cy="457200"/>
          </a:xfrm>
          <a:prstGeom prst="rect">
            <a:avLst/>
          </a:prstGeom>
          <a:noFill/>
          <a:ln/>
        </p:spPr>
        <p:txBody>
          <a:bodyPr wrap="square" lIns="0" tIns="0" rIns="0" bIns="0" rtlCol="0" anchor="ctr"/>
          <a:lstStyle/>
          <a:p>
            <a:pPr marL="0" indent="0">
              <a:buNone/>
            </a:pPr>
            <a:r>
              <a:rPr lang="en-US" sz="2000" dirty="0">
                <a:solidFill>
                  <a:srgbClr val="C9D6E0"/>
                </a:solidFill>
                <a:latin typeface="Calibri" pitchFamily="34" charset="0"/>
                <a:ea typeface="Calibri" pitchFamily="34" charset="-122"/>
                <a:cs typeface="Calibri" pitchFamily="34" charset="-120"/>
              </a:rPr>
              <a:t>PID control, tested in Gazebo and on the real robot</a:t>
            </a:r>
            <a:endParaRPr lang="en-US" sz="2000" dirty="0"/>
          </a:p>
        </p:txBody>
      </p:sp>
      <p:sp>
        <p:nvSpPr>
          <p:cNvPr id="5" name="Text 3"/>
          <p:cNvSpPr txBox="1"/>
          <p:nvPr/>
        </p:nvSpPr>
        <p:spPr>
          <a:xfrm>
            <a:off x="640080" y="4023360"/>
            <a:ext cx="7863840" cy="731520"/>
          </a:xfrm>
          <a:prstGeom prst="rect">
            <a:avLst/>
          </a:prstGeom>
          <a:noFill/>
          <a:ln/>
        </p:spPr>
        <p:txBody>
          <a:bodyPr wrap="square" lIns="0" tIns="0" rIns="0" bIns="0" rtlCol="0" anchor="ctr"/>
          <a:lstStyle/>
          <a:p>
            <a:r>
              <a:rPr lang="en-AU" sz="1400" dirty="0">
                <a:solidFill>
                  <a:schemeClr val="bg1"/>
                </a:solidFill>
              </a:rPr>
              <a:t>Kazi Ragib Yeahsar (35502987)</a:t>
            </a:r>
            <a:br>
              <a:rPr lang="en-AU" sz="1400" dirty="0">
                <a:solidFill>
                  <a:schemeClr val="bg1"/>
                </a:solidFill>
              </a:rPr>
            </a:br>
            <a:r>
              <a:rPr lang="en-AU" sz="1400" dirty="0">
                <a:solidFill>
                  <a:schemeClr val="bg1"/>
                </a:solidFill>
              </a:rPr>
              <a:t>Mir Tahir Tahsin Ahmad (35624701)</a:t>
            </a:r>
            <a:endParaRPr lang="en-US" sz="1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The task in three numbers</a:t>
            </a:r>
            <a:endParaRPr lang="en-US" sz="3200" dirty="0"/>
          </a:p>
        </p:txBody>
      </p:sp>
      <p:sp>
        <p:nvSpPr>
          <p:cNvPr id="4" name="Card"/>
          <p:cNvSpPr/>
          <p:nvPr/>
        </p:nvSpPr>
        <p:spPr>
          <a:xfrm>
            <a:off x="5486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315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0.30 m</a:t>
            </a:r>
            <a:endParaRPr lang="en-US" sz="4000" dirty="0"/>
          </a:p>
        </p:txBody>
      </p:sp>
      <p:sp>
        <p:nvSpPr>
          <p:cNvPr id="6" name="Text 3"/>
          <p:cNvSpPr txBox="1"/>
          <p:nvPr/>
        </p:nvSpPr>
        <p:spPr>
          <a:xfrm>
            <a:off x="7315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Distance to keep from the wall</a:t>
            </a:r>
            <a:endParaRPr lang="en-US" sz="1600" dirty="0"/>
          </a:p>
        </p:txBody>
      </p:sp>
      <p:sp>
        <p:nvSpPr>
          <p:cNvPr id="7" name="Card"/>
          <p:cNvSpPr/>
          <p:nvPr/>
        </p:nvSpPr>
        <p:spPr>
          <a:xfrm>
            <a:off x="32918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34747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2 PIDs</a:t>
            </a:r>
            <a:endParaRPr lang="en-US" sz="4000" dirty="0"/>
          </a:p>
        </p:txBody>
      </p:sp>
      <p:sp>
        <p:nvSpPr>
          <p:cNvPr id="9" name="Text 6"/>
          <p:cNvSpPr txBox="1"/>
          <p:nvPr/>
        </p:nvSpPr>
        <p:spPr>
          <a:xfrm>
            <a:off x="34747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Normal PID against Advanced PID (two PIDs)</a:t>
            </a:r>
            <a:endParaRPr lang="en-US" sz="1600" dirty="0"/>
          </a:p>
        </p:txBody>
      </p:sp>
      <p:sp>
        <p:nvSpPr>
          <p:cNvPr id="10" name="Card"/>
          <p:cNvSpPr/>
          <p:nvPr/>
        </p:nvSpPr>
        <p:spPr>
          <a:xfrm>
            <a:off x="60350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8"/>
          <p:cNvSpPr txBox="1"/>
          <p:nvPr/>
        </p:nvSpPr>
        <p:spPr>
          <a:xfrm>
            <a:off x="62179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2 × 2 m</a:t>
            </a:r>
            <a:endParaRPr lang="en-US" sz="4000" dirty="0"/>
          </a:p>
        </p:txBody>
      </p:sp>
      <p:sp>
        <p:nvSpPr>
          <p:cNvPr id="12" name="Text 9"/>
          <p:cNvSpPr txBox="1"/>
          <p:nvPr/>
        </p:nvSpPr>
        <p:spPr>
          <a:xfrm>
            <a:off x="62179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Size of the demo box, with four corners</a:t>
            </a:r>
            <a:endParaRPr lang="en-US" sz="1600" dirty="0"/>
          </a:p>
        </p:txBody>
      </p:sp>
      <p:sp>
        <p:nvSpPr>
          <p:cNvPr id="13" name="Text 10"/>
          <p:cNvSpPr txBox="1"/>
          <p:nvPr/>
        </p:nvSpPr>
        <p:spPr>
          <a:xfrm>
            <a:off x="548640" y="3931920"/>
            <a:ext cx="8046720" cy="54864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Built with ROS 2 Humble on a TurtleBot3 Burger, following the left wall. The robot only knows what its laser scanner sees.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System architecture and code tags</a:t>
            </a:r>
            <a:endParaRPr lang="en-US" sz="3200" dirty="0"/>
          </a:p>
        </p:txBody>
      </p:sp>
      <p:sp>
        <p:nvSpPr>
          <p:cNvPr id="4" name="Robot card"/>
          <p:cNvSpPr/>
          <p:nvPr/>
        </p:nvSpPr>
        <p:spPr>
          <a:xfrm>
            <a:off x="365760" y="1097280"/>
            <a:ext cx="1920240" cy="3337560"/>
          </a:xfrm>
          <a:prstGeom prst="roundRect">
            <a:avLst>
              <a:gd name="adj" fmla="val 381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502920" y="1170432"/>
            <a:ext cx="1645920" cy="320040"/>
          </a:xfrm>
          <a:prstGeom prst="rect">
            <a:avLst/>
          </a:prstGeom>
          <a:noFill/>
          <a:ln/>
        </p:spPr>
        <p:txBody>
          <a:bodyPr wrap="square" lIns="0" tIns="0" rIns="0" bIns="0" rtlCol="0" anchor="ctr"/>
          <a:lstStyle/>
          <a:p>
            <a:pPr marL="0" indent="0">
              <a:buNone/>
            </a:pPr>
            <a:r>
              <a:rPr lang="en-US" sz="1400" b="1" dirty="0">
                <a:solidFill>
                  <a:srgbClr val="14283D"/>
                </a:solidFill>
                <a:latin typeface="Cambria" pitchFamily="34" charset="0"/>
                <a:ea typeface="Cambria" pitchFamily="34" charset="-122"/>
                <a:cs typeface="Cambria" pitchFamily="34" charset="-120"/>
              </a:rPr>
              <a:t>Robot or Gazebo</a:t>
            </a:r>
            <a:endParaRPr lang="en-US" sz="1400" dirty="0"/>
          </a:p>
        </p:txBody>
      </p:sp>
      <p:sp>
        <p:nvSpPr>
          <p:cNvPr id="6" name="Laser"/>
          <p:cNvSpPr/>
          <p:nvPr/>
        </p:nvSpPr>
        <p:spPr>
          <a:xfrm>
            <a:off x="548640" y="160020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7" name="Text 4"/>
          <p:cNvSpPr txBox="1"/>
          <p:nvPr/>
        </p:nvSpPr>
        <p:spPr>
          <a:xfrm>
            <a:off x="548640" y="160020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LDS laser</a:t>
            </a:r>
            <a:endParaRPr lang="en-US" sz="1400" dirty="0"/>
          </a:p>
        </p:txBody>
      </p:sp>
      <p:sp>
        <p:nvSpPr>
          <p:cNvPr id="8" name="Wheels"/>
          <p:cNvSpPr/>
          <p:nvPr/>
        </p:nvSpPr>
        <p:spPr>
          <a:xfrm>
            <a:off x="548640" y="237744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9" name="Text 6"/>
          <p:cNvSpPr txBox="1"/>
          <p:nvPr/>
        </p:nvSpPr>
        <p:spPr>
          <a:xfrm>
            <a:off x="548640" y="237744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Wheels</a:t>
            </a:r>
            <a:endParaRPr lang="en-US" sz="1400" dirty="0"/>
          </a:p>
        </p:txBody>
      </p:sp>
      <p:sp>
        <p:nvSpPr>
          <p:cNvPr id="10" name="Odometry"/>
          <p:cNvSpPr/>
          <p:nvPr/>
        </p:nvSpPr>
        <p:spPr>
          <a:xfrm>
            <a:off x="548640" y="356616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11" name="Text 8"/>
          <p:cNvSpPr txBox="1"/>
          <p:nvPr/>
        </p:nvSpPr>
        <p:spPr>
          <a:xfrm>
            <a:off x="548640" y="356616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Odometry</a:t>
            </a:r>
            <a:endParaRPr lang="en-US" sz="1400" dirty="0"/>
          </a:p>
        </p:txBody>
      </p:sp>
      <p:sp>
        <p:nvSpPr>
          <p:cNvPr id="12" name="Flow arrow"/>
          <p:cNvSpPr/>
          <p:nvPr/>
        </p:nvSpPr>
        <p:spPr>
          <a:xfrm>
            <a:off x="2286000" y="1874520"/>
            <a:ext cx="868680" cy="0"/>
          </a:xfrm>
          <a:prstGeom prst="line">
            <a:avLst/>
          </a:prstGeom>
          <a:noFill/>
          <a:ln w="25400">
            <a:solidFill>
              <a:srgbClr val="14283D"/>
            </a:solidFill>
            <a:prstDash val="solid"/>
            <a:tailEnd type="triangle"/>
          </a:ln>
        </p:spPr>
        <p:txBody>
          <a:bodyPr/>
          <a:lstStyle/>
          <a:p>
            <a:endParaRPr lang="en-AU"/>
          </a:p>
        </p:txBody>
      </p:sp>
      <p:sp>
        <p:nvSpPr>
          <p:cNvPr id="13" name="Topic chip"/>
          <p:cNvSpPr/>
          <p:nvPr/>
        </p:nvSpPr>
        <p:spPr>
          <a:xfrm>
            <a:off x="2395728" y="1536192"/>
            <a:ext cx="64008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14" name="Text 11"/>
          <p:cNvSpPr txBox="1"/>
          <p:nvPr/>
        </p:nvSpPr>
        <p:spPr>
          <a:xfrm>
            <a:off x="2395728" y="1536192"/>
            <a:ext cx="64008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/scan</a:t>
            </a:r>
            <a:endParaRPr lang="en-US" sz="1200" dirty="0"/>
          </a:p>
        </p:txBody>
      </p:sp>
      <p:sp>
        <p:nvSpPr>
          <p:cNvPr id="15" name="Flow arrow"/>
          <p:cNvSpPr/>
          <p:nvPr/>
        </p:nvSpPr>
        <p:spPr>
          <a:xfrm>
            <a:off x="2286000" y="2651760"/>
            <a:ext cx="868680" cy="0"/>
          </a:xfrm>
          <a:prstGeom prst="line">
            <a:avLst/>
          </a:prstGeom>
          <a:noFill/>
          <a:ln w="25400">
            <a:solidFill>
              <a:srgbClr val="14283D"/>
            </a:solidFill>
            <a:prstDash val="solid"/>
            <a:headEnd type="triangle"/>
          </a:ln>
        </p:spPr>
        <p:txBody>
          <a:bodyPr/>
          <a:lstStyle/>
          <a:p>
            <a:endParaRPr lang="en-AU"/>
          </a:p>
        </p:txBody>
      </p:sp>
      <p:sp>
        <p:nvSpPr>
          <p:cNvPr id="16" name="Topic chip"/>
          <p:cNvSpPr/>
          <p:nvPr/>
        </p:nvSpPr>
        <p:spPr>
          <a:xfrm>
            <a:off x="2331720" y="2313432"/>
            <a:ext cx="77724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17" name="Text 14"/>
          <p:cNvSpPr txBox="1"/>
          <p:nvPr/>
        </p:nvSpPr>
        <p:spPr>
          <a:xfrm>
            <a:off x="2331720" y="2313432"/>
            <a:ext cx="77724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/cmd_vel</a:t>
            </a:r>
            <a:endParaRPr lang="en-US" sz="1200" dirty="0"/>
          </a:p>
        </p:txBody>
      </p:sp>
      <p:sp>
        <p:nvSpPr>
          <p:cNvPr id="18" name="Flow arrow"/>
          <p:cNvSpPr/>
          <p:nvPr/>
        </p:nvSpPr>
        <p:spPr>
          <a:xfrm>
            <a:off x="2286000" y="3840480"/>
            <a:ext cx="868680" cy="0"/>
          </a:xfrm>
          <a:prstGeom prst="line">
            <a:avLst/>
          </a:prstGeom>
          <a:noFill/>
          <a:ln w="25400">
            <a:solidFill>
              <a:srgbClr val="14283D"/>
            </a:solidFill>
            <a:prstDash val="solid"/>
            <a:tailEnd type="triangle"/>
          </a:ln>
        </p:spPr>
        <p:txBody>
          <a:bodyPr/>
          <a:lstStyle/>
          <a:p>
            <a:endParaRPr lang="en-AU"/>
          </a:p>
        </p:txBody>
      </p:sp>
      <p:sp>
        <p:nvSpPr>
          <p:cNvPr id="19" name="Topic chip"/>
          <p:cNvSpPr/>
          <p:nvPr/>
        </p:nvSpPr>
        <p:spPr>
          <a:xfrm>
            <a:off x="2395728" y="3502152"/>
            <a:ext cx="64008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20" name="Text 17"/>
          <p:cNvSpPr txBox="1"/>
          <p:nvPr/>
        </p:nvSpPr>
        <p:spPr>
          <a:xfrm>
            <a:off x="2395728" y="3502152"/>
            <a:ext cx="64008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/odom</a:t>
            </a:r>
            <a:endParaRPr lang="en-US" sz="1200" dirty="0"/>
          </a:p>
        </p:txBody>
      </p:sp>
      <p:sp>
        <p:nvSpPr>
          <p:cNvPr id="21" name="Controller node"/>
          <p:cNvSpPr/>
          <p:nvPr/>
        </p:nvSpPr>
        <p:spPr>
          <a:xfrm>
            <a:off x="3200400" y="1097280"/>
            <a:ext cx="3566160" cy="2286000"/>
          </a:xfrm>
          <a:prstGeom prst="roundRect">
            <a:avLst>
              <a:gd name="adj" fmla="val 3200"/>
            </a:avLst>
          </a:prstGeom>
          <a:solidFill>
            <a:srgbClr val="14283D"/>
          </a:solidFill>
          <a:ln w="6350">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22" name="Text 19"/>
          <p:cNvSpPr txBox="1"/>
          <p:nvPr/>
        </p:nvSpPr>
        <p:spPr>
          <a:xfrm>
            <a:off x="3337560" y="1161288"/>
            <a:ext cx="3291840" cy="320040"/>
          </a:xfrm>
          <a:prstGeom prst="rect">
            <a:avLst/>
          </a:prstGeom>
          <a:noFill/>
          <a:ln/>
        </p:spPr>
        <p:txBody>
          <a:bodyPr wrap="square" lIns="0" tIns="0" rIns="0" bIns="0" rtlCol="0" anchor="ctr"/>
          <a:lstStyle/>
          <a:p>
            <a:pPr marL="0" indent="0">
              <a:buNone/>
            </a:pPr>
            <a:r>
              <a:rPr lang="en-US" sz="1400" b="1" dirty="0">
                <a:solidFill>
                  <a:srgbClr val="7FD6D8"/>
                </a:solidFill>
                <a:latin typeface="Consolas" pitchFamily="34" charset="0"/>
                <a:ea typeface="Consolas" pitchFamily="34" charset="-122"/>
                <a:cs typeface="Consolas" pitchFamily="34" charset="-120"/>
              </a:rPr>
              <a:t>wall_follower_node</a:t>
            </a:r>
            <a:endParaRPr lang="en-US" sz="1400" dirty="0"/>
          </a:p>
        </p:txBody>
      </p:sp>
      <p:sp>
        <p:nvSpPr>
          <p:cNvPr id="23" name="Block Scan processing"/>
          <p:cNvSpPr/>
          <p:nvPr/>
        </p:nvSpPr>
        <p:spPr>
          <a:xfrm>
            <a:off x="3337560" y="15544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24" name="Text 21"/>
          <p:cNvSpPr txBox="1"/>
          <p:nvPr/>
        </p:nvSpPr>
        <p:spPr>
          <a:xfrm>
            <a:off x="3410712" y="16002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Scan processing</a:t>
            </a:r>
            <a:endParaRPr lang="en-US" sz="1300" dirty="0"/>
          </a:p>
        </p:txBody>
      </p:sp>
      <p:sp>
        <p:nvSpPr>
          <p:cNvPr id="25" name="Text 22"/>
          <p:cNvSpPr txBox="1"/>
          <p:nvPr/>
        </p:nvSpPr>
        <p:spPr>
          <a:xfrm>
            <a:off x="3410712" y="19385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alpha, D, e = D - target</a:t>
            </a:r>
            <a:endParaRPr lang="en-US" sz="1100" dirty="0"/>
          </a:p>
        </p:txBody>
      </p:sp>
      <p:sp>
        <p:nvSpPr>
          <p:cNvPr id="26" name="Block Steering PID"/>
          <p:cNvSpPr/>
          <p:nvPr/>
        </p:nvSpPr>
        <p:spPr>
          <a:xfrm>
            <a:off x="5029200" y="15544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27" name="Text 24"/>
          <p:cNvSpPr txBox="1"/>
          <p:nvPr/>
        </p:nvSpPr>
        <p:spPr>
          <a:xfrm>
            <a:off x="5102352" y="16002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Steering PID</a:t>
            </a:r>
            <a:endParaRPr lang="en-US" sz="1300" dirty="0"/>
          </a:p>
        </p:txBody>
      </p:sp>
      <p:sp>
        <p:nvSpPr>
          <p:cNvPr id="28" name="Text 25"/>
          <p:cNvSpPr txBox="1"/>
          <p:nvPr/>
        </p:nvSpPr>
        <p:spPr>
          <a:xfrm>
            <a:off x="5102352" y="19385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kp_w  ki_w  kd_w</a:t>
            </a:r>
            <a:endParaRPr lang="en-US" sz="1100" dirty="0"/>
          </a:p>
        </p:txBody>
      </p:sp>
      <p:sp>
        <p:nvSpPr>
          <p:cNvPr id="29" name="Block Speed PID"/>
          <p:cNvSpPr/>
          <p:nvPr/>
        </p:nvSpPr>
        <p:spPr>
          <a:xfrm>
            <a:off x="3337560" y="24688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30" name="Text 27"/>
          <p:cNvSpPr txBox="1"/>
          <p:nvPr/>
        </p:nvSpPr>
        <p:spPr>
          <a:xfrm>
            <a:off x="3410712" y="25146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Speed PID</a:t>
            </a:r>
            <a:endParaRPr lang="en-US" sz="1300" dirty="0"/>
          </a:p>
        </p:txBody>
      </p:sp>
      <p:sp>
        <p:nvSpPr>
          <p:cNvPr id="31" name="Text 28"/>
          <p:cNvSpPr txBox="1"/>
          <p:nvPr/>
        </p:nvSpPr>
        <p:spPr>
          <a:xfrm>
            <a:off x="3410712" y="28529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kp_v  ki_v  kd_v  c_err</a:t>
            </a:r>
            <a:endParaRPr lang="en-US" sz="1100" dirty="0"/>
          </a:p>
        </p:txBody>
      </p:sp>
      <p:sp>
        <p:nvSpPr>
          <p:cNvPr id="32" name="Block Corner logic"/>
          <p:cNvSpPr/>
          <p:nvPr/>
        </p:nvSpPr>
        <p:spPr>
          <a:xfrm>
            <a:off x="5029200" y="24688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33" name="Text 30"/>
          <p:cNvSpPr txBox="1"/>
          <p:nvPr/>
        </p:nvSpPr>
        <p:spPr>
          <a:xfrm>
            <a:off x="5102352" y="25146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Corner logic</a:t>
            </a:r>
            <a:endParaRPr lang="en-US" sz="1300" dirty="0"/>
          </a:p>
        </p:txBody>
      </p:sp>
      <p:sp>
        <p:nvSpPr>
          <p:cNvPr id="34" name="Text 31"/>
          <p:cNvSpPr txBox="1"/>
          <p:nvPr/>
        </p:nvSpPr>
        <p:spPr>
          <a:xfrm>
            <a:off x="5102352" y="28529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front_stop  front_clear</a:t>
            </a:r>
            <a:endParaRPr lang="en-US" sz="1100" dirty="0"/>
          </a:p>
        </p:txBody>
      </p:sp>
      <p:sp>
        <p:nvSpPr>
          <p:cNvPr id="35" name="Logger node"/>
          <p:cNvSpPr/>
          <p:nvPr/>
        </p:nvSpPr>
        <p:spPr>
          <a:xfrm>
            <a:off x="3200400" y="3611880"/>
            <a:ext cx="3566160" cy="822960"/>
          </a:xfrm>
          <a:prstGeom prst="roundRect">
            <a:avLst>
              <a:gd name="adj" fmla="val 8889"/>
            </a:avLst>
          </a:prstGeom>
          <a:solidFill>
            <a:srgbClr val="FFFFFF"/>
          </a:solidFill>
          <a:ln w="19050">
            <a:solidFill>
              <a:srgbClr val="0F8B8D"/>
            </a:solidFill>
            <a:prstDash val="solid"/>
          </a:ln>
          <a:effectLst>
            <a:outerShdw blurRad="76200" dist="25400" dir="5400000" algn="bl" rotWithShape="0">
              <a:srgbClr val="000000">
                <a:alpha val="12000"/>
              </a:srgbClr>
            </a:outerShdw>
          </a:effectLst>
        </p:spPr>
        <p:txBody>
          <a:bodyPr/>
          <a:lstStyle/>
          <a:p>
            <a:endParaRPr lang="en-AU"/>
          </a:p>
        </p:txBody>
      </p:sp>
      <p:sp>
        <p:nvSpPr>
          <p:cNvPr id="36" name="Text 33"/>
          <p:cNvSpPr txBox="1"/>
          <p:nvPr/>
        </p:nvSpPr>
        <p:spPr>
          <a:xfrm>
            <a:off x="3337560" y="3657600"/>
            <a:ext cx="3291840" cy="292608"/>
          </a:xfrm>
          <a:prstGeom prst="rect">
            <a:avLst/>
          </a:prstGeom>
          <a:noFill/>
          <a:ln/>
        </p:spPr>
        <p:txBody>
          <a:bodyPr wrap="square" lIns="0" tIns="0" rIns="0" bIns="0" rtlCol="0" anchor="ctr"/>
          <a:lstStyle/>
          <a:p>
            <a:pPr marL="0" indent="0">
              <a:buNone/>
            </a:pPr>
            <a:r>
              <a:rPr lang="en-US" sz="1400" b="1" dirty="0">
                <a:solidFill>
                  <a:srgbClr val="0F8B8D"/>
                </a:solidFill>
                <a:latin typeface="Consolas" pitchFamily="34" charset="0"/>
                <a:ea typeface="Consolas" pitchFamily="34" charset="-122"/>
                <a:cs typeface="Consolas" pitchFamily="34" charset="-120"/>
              </a:rPr>
              <a:t>data_logger</a:t>
            </a:r>
            <a:endParaRPr lang="en-US" sz="1400" dirty="0"/>
          </a:p>
        </p:txBody>
      </p:sp>
      <p:sp>
        <p:nvSpPr>
          <p:cNvPr id="37" name="Text 34"/>
          <p:cNvSpPr txBox="1"/>
          <p:nvPr/>
        </p:nvSpPr>
        <p:spPr>
          <a:xfrm>
            <a:off x="3337560" y="3950208"/>
            <a:ext cx="329184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listens to /scan /odom /cmd_vel and writes CSV logs. It never changes the robot.</a:t>
            </a:r>
            <a:endParaRPr lang="en-US" sz="1200" dirty="0"/>
          </a:p>
        </p:txBody>
      </p:sp>
      <p:sp>
        <p:nvSpPr>
          <p:cNvPr id="38" name="Params card"/>
          <p:cNvSpPr/>
          <p:nvPr/>
        </p:nvSpPr>
        <p:spPr>
          <a:xfrm>
            <a:off x="6995160" y="1097280"/>
            <a:ext cx="1783080" cy="2286000"/>
          </a:xfrm>
          <a:prstGeom prst="roundRect">
            <a:avLst>
              <a:gd name="adj" fmla="val 410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39" name="Text 36"/>
          <p:cNvSpPr txBox="1"/>
          <p:nvPr/>
        </p:nvSpPr>
        <p:spPr>
          <a:xfrm>
            <a:off x="7132320" y="1161288"/>
            <a:ext cx="1554480" cy="274320"/>
          </a:xfrm>
          <a:prstGeom prst="rect">
            <a:avLst/>
          </a:prstGeom>
          <a:noFill/>
          <a:ln/>
        </p:spPr>
        <p:txBody>
          <a:bodyPr wrap="square" lIns="0" tIns="0" rIns="0" bIns="0" rtlCol="0" anchor="ctr"/>
          <a:lstStyle/>
          <a:p>
            <a:pPr marL="0" indent="0">
              <a:buNone/>
            </a:pPr>
            <a:r>
              <a:rPr lang="en-US" sz="1400" b="1" dirty="0">
                <a:solidFill>
                  <a:srgbClr val="14283D"/>
                </a:solidFill>
                <a:latin typeface="Cambria" pitchFamily="34" charset="0"/>
                <a:ea typeface="Cambria" pitchFamily="34" charset="-122"/>
                <a:cs typeface="Cambria" pitchFamily="34" charset="-120"/>
              </a:rPr>
              <a:t>Key tags</a:t>
            </a:r>
            <a:endParaRPr lang="en-US" sz="1400" dirty="0"/>
          </a:p>
        </p:txBody>
      </p:sp>
      <p:sp>
        <p:nvSpPr>
          <p:cNvPr id="40" name="Text 37"/>
          <p:cNvSpPr txBox="1"/>
          <p:nvPr/>
        </p:nvSpPr>
        <p:spPr>
          <a:xfrm>
            <a:off x="7132320" y="1481328"/>
            <a:ext cx="1600200" cy="1828800"/>
          </a:xfrm>
          <a:prstGeom prst="rect">
            <a:avLst/>
          </a:prstGeom>
          <a:noFill/>
          <a:ln/>
        </p:spPr>
        <p:txBody>
          <a:bodyPr wrap="square" lIns="0" tIns="0" rIns="0" bIns="0" rtlCol="0" anchor="t"/>
          <a:lstStyle/>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side:=left</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mode:=baseline</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mode:=extended_pid</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target:=0.30</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v_max  v_min</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lookahead</a:t>
            </a:r>
            <a:endParaRPr lang="en-US" sz="1100" dirty="0"/>
          </a:p>
        </p:txBody>
      </p:sp>
      <p:sp>
        <p:nvSpPr>
          <p:cNvPr id="41" name="Files card"/>
          <p:cNvSpPr/>
          <p:nvPr/>
        </p:nvSpPr>
        <p:spPr>
          <a:xfrm>
            <a:off x="6995160" y="3611880"/>
            <a:ext cx="1783080" cy="822960"/>
          </a:xfrm>
          <a:prstGeom prst="roundRect">
            <a:avLst>
              <a:gd name="adj" fmla="val 888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42" name="Text 39"/>
          <p:cNvSpPr txBox="1"/>
          <p:nvPr/>
        </p:nvSpPr>
        <p:spPr>
          <a:xfrm>
            <a:off x="7132320" y="3675888"/>
            <a:ext cx="1600200" cy="713232"/>
          </a:xfrm>
          <a:prstGeom prst="rect">
            <a:avLst/>
          </a:prstGeom>
          <a:noFill/>
          <a:ln/>
        </p:spPr>
        <p:txBody>
          <a:bodyPr wrap="square" lIns="0" tIns="0" rIns="0" bIns="0" rtlCol="0" anchor="ctr"/>
          <a:lstStyle/>
          <a:p>
            <a:pPr marL="0" indent="0">
              <a:buNone/>
            </a:pPr>
            <a:r>
              <a:rPr lang="en-US" sz="1100" dirty="0">
                <a:solidFill>
                  <a:srgbClr val="1F2D3A"/>
                </a:solidFill>
                <a:latin typeface="Consolas" pitchFamily="34" charset="0"/>
                <a:ea typeface="Consolas" pitchFamily="34" charset="-122"/>
                <a:cs typeface="Consolas" pitchFamily="34" charset="-120"/>
              </a:rPr>
              <a:t>sim.launch.py</a:t>
            </a:r>
            <a:endParaRPr lang="en-US" sz="1100" dirty="0"/>
          </a:p>
          <a:p>
            <a:pPr marL="0" indent="0">
              <a:buNone/>
            </a:pPr>
            <a:r>
              <a:rPr lang="en-US" sz="1100" dirty="0">
                <a:solidFill>
                  <a:srgbClr val="1F2D3A"/>
                </a:solidFill>
                <a:latin typeface="Consolas" pitchFamily="34" charset="0"/>
                <a:ea typeface="Consolas" pitchFamily="34" charset="-122"/>
                <a:cs typeface="Consolas" pitchFamily="34" charset="-120"/>
              </a:rPr>
              <a:t>lab_terrain.world</a:t>
            </a:r>
            <a:endParaRPr lang="en-US" sz="1100" dirty="0"/>
          </a:p>
          <a:p>
            <a:pPr marL="0" indent="0">
              <a:buNone/>
            </a:pPr>
            <a:r>
              <a:rPr lang="en-US" sz="1100" dirty="0">
                <a:solidFill>
                  <a:srgbClr val="1F2D3A"/>
                </a:solidFill>
                <a:latin typeface="Consolas" pitchFamily="34" charset="0"/>
                <a:ea typeface="Consolas" pitchFamily="34" charset="-122"/>
                <a:cs typeface="Consolas" pitchFamily="34" charset="-120"/>
              </a:rPr>
              <a:t>docs/logs/*.csv</a:t>
            </a:r>
            <a:endParaRPr lang="en-US" sz="1100" dirty="0"/>
          </a:p>
        </p:txBody>
      </p:sp>
      <p:sp>
        <p:nvSpPr>
          <p:cNvPr id="43" name="Flow arrow"/>
          <p:cNvSpPr/>
          <p:nvPr/>
        </p:nvSpPr>
        <p:spPr>
          <a:xfrm>
            <a:off x="6766560" y="2240280"/>
            <a:ext cx="182880" cy="0"/>
          </a:xfrm>
          <a:prstGeom prst="line">
            <a:avLst/>
          </a:prstGeom>
          <a:noFill/>
          <a:ln w="25400">
            <a:solidFill>
              <a:srgbClr val="14283D"/>
            </a:solidFill>
            <a:prstDash val="solid"/>
            <a:headEnd type="triangle"/>
          </a:ln>
        </p:spPr>
        <p:txBody>
          <a:bodyPr/>
          <a:lstStyle/>
          <a:p>
            <a:endParaRPr lang="en-AU"/>
          </a:p>
        </p:txBody>
      </p:sp>
      <p:sp>
        <p:nvSpPr>
          <p:cNvPr id="44" name="Text 41"/>
          <p:cNvSpPr txBox="1"/>
          <p:nvPr/>
        </p:nvSpPr>
        <p:spPr>
          <a:xfrm>
            <a:off x="365760" y="4553712"/>
            <a:ext cx="6400800" cy="228600"/>
          </a:xfrm>
          <a:prstGeom prst="rect">
            <a:avLst/>
          </a:prstGeom>
          <a:noFill/>
          <a:ln/>
        </p:spPr>
        <p:txBody>
          <a:bodyPr wrap="square" lIns="0" tIns="0" rIns="0" bIns="0" rtlCol="0" anchor="ctr"/>
          <a:lstStyle/>
          <a:p>
            <a:pPr marL="0" indent="0">
              <a:buNone/>
            </a:pPr>
            <a:r>
              <a:rPr lang="en-US" sz="1200" dirty="0">
                <a:solidFill>
                  <a:srgbClr val="5B6B79"/>
                </a:solidFill>
                <a:latin typeface="Calibri" pitchFamily="34" charset="0"/>
                <a:ea typeface="Calibri" pitchFamily="34" charset="-122"/>
                <a:cs typeface="Calibri" pitchFamily="34" charset="-120"/>
              </a:rPr>
              <a:t>Normal PID = baseline.  Advanced PID = extended_pid.</a:t>
            </a:r>
            <a:endParaRPr lang="en-US" sz="1200" dirty="0"/>
          </a:p>
        </p:txBody>
      </p:sp>
      <p:sp>
        <p:nvSpPr>
          <p:cNvPr id="3"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Step 1: turning a scan into a distance</a:t>
            </a:r>
            <a:endParaRPr lang="en-US" sz="3200" dirty="0"/>
          </a:p>
        </p:txBody>
      </p:sp>
      <p:grpSp>
        <p:nvGrpSpPr>
          <p:cNvPr id="3" name="Group 2">
            <a:extLst>
              <a:ext uri="{FF2B5EF4-FFF2-40B4-BE49-F238E27FC236}">
                <a16:creationId xmlns:a16="http://schemas.microsoft.com/office/drawing/2014/main" id="{9220EBCB-78BE-697C-5E54-4B0369BAC139}"/>
              </a:ext>
            </a:extLst>
          </p:cNvPr>
          <p:cNvGrpSpPr/>
          <p:nvPr/>
        </p:nvGrpSpPr>
        <p:grpSpPr>
          <a:xfrm>
            <a:off x="548640" y="1280160"/>
            <a:ext cx="4206240" cy="3017520"/>
            <a:chOff x="548640" y="1280160"/>
            <a:chExt cx="4206240" cy="3017520"/>
          </a:xfrm>
        </p:grpSpPr>
        <p:sp>
          <p:nvSpPr>
            <p:cNvPr id="4" name="Diagram panel"/>
            <p:cNvSpPr/>
            <p:nvPr/>
          </p:nvSpPr>
          <p:spPr>
            <a:xfrm>
              <a:off x="548640" y="1280160"/>
              <a:ext cx="4206240" cy="3017520"/>
            </a:xfrm>
            <a:prstGeom prst="roundRect">
              <a:avLst>
                <a:gd name="adj" fmla="val 2424"/>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Wall"/>
            <p:cNvSpPr/>
            <p:nvPr/>
          </p:nvSpPr>
          <p:spPr>
            <a:xfrm>
              <a:off x="822960" y="1554480"/>
              <a:ext cx="3657600" cy="164592"/>
            </a:xfrm>
            <a:prstGeom prst="rect">
              <a:avLst/>
            </a:prstGeom>
            <a:solidFill>
              <a:srgbClr val="14283D"/>
            </a:solidFill>
            <a:ln w="6350">
              <a:solidFill>
                <a:srgbClr val="14283D"/>
              </a:solidFill>
              <a:prstDash val="solid"/>
            </a:ln>
          </p:spPr>
          <p:txBody>
            <a:bodyPr/>
            <a:lstStyle/>
            <a:p>
              <a:endParaRPr lang="en-AU"/>
            </a:p>
          </p:txBody>
        </p:sp>
        <p:sp>
          <p:nvSpPr>
            <p:cNvPr id="6" name="Text 3"/>
            <p:cNvSpPr txBox="1"/>
            <p:nvPr/>
          </p:nvSpPr>
          <p:spPr>
            <a:xfrm>
              <a:off x="822960" y="1783080"/>
              <a:ext cx="914400" cy="274320"/>
            </a:xfrm>
            <a:prstGeom prst="rect">
              <a:avLst/>
            </a:prstGeom>
            <a:noFill/>
            <a:ln/>
          </p:spPr>
          <p:txBody>
            <a:bodyPr wrap="square" lIns="0" tIns="0" rIns="0" bIns="0" rtlCol="0" anchor="ctr"/>
            <a:lstStyle/>
            <a:p>
              <a:pPr marL="0" indent="0">
                <a:buNone/>
              </a:pPr>
              <a:r>
                <a:rPr lang="en-US" sz="1400" b="1" dirty="0">
                  <a:solidFill>
                    <a:srgbClr val="14283D"/>
                  </a:solidFill>
                  <a:latin typeface="Calibri" pitchFamily="34" charset="0"/>
                  <a:ea typeface="Calibri" pitchFamily="34" charset="-122"/>
                  <a:cs typeface="Calibri" pitchFamily="34" charset="-120"/>
                </a:rPr>
                <a:t>Wall</a:t>
              </a:r>
              <a:endParaRPr lang="en-US" sz="1400" dirty="0"/>
            </a:p>
          </p:txBody>
        </p:sp>
        <p:sp>
          <p:nvSpPr>
            <p:cNvPr id="7" name="Robot"/>
            <p:cNvSpPr/>
            <p:nvPr/>
          </p:nvSpPr>
          <p:spPr>
            <a:xfrm>
              <a:off x="2148840" y="3429000"/>
              <a:ext cx="640080" cy="640080"/>
            </a:xfrm>
            <a:prstGeom prst="ellipse">
              <a:avLst/>
            </a:prstGeom>
            <a:solidFill>
              <a:srgbClr val="0F8B8D"/>
            </a:solidFill>
            <a:ln w="6350">
              <a:solidFill>
                <a:srgbClr val="0F8B8D"/>
              </a:solidFill>
              <a:prstDash val="solid"/>
            </a:ln>
          </p:spPr>
          <p:txBody>
            <a:bodyPr/>
            <a:lstStyle/>
            <a:p>
              <a:endParaRPr lang="en-AU"/>
            </a:p>
          </p:txBody>
        </p:sp>
        <p:sp>
          <p:nvSpPr>
            <p:cNvPr id="8" name="Text 5"/>
            <p:cNvSpPr txBox="1"/>
            <p:nvPr/>
          </p:nvSpPr>
          <p:spPr>
            <a:xfrm>
              <a:off x="2880360" y="3657600"/>
              <a:ext cx="914400" cy="274320"/>
            </a:xfrm>
            <a:prstGeom prst="rect">
              <a:avLst/>
            </a:prstGeom>
            <a:noFill/>
            <a:ln/>
          </p:spPr>
          <p:txBody>
            <a:bodyPr wrap="square" lIns="0" tIns="0" rIns="0" bIns="0" rtlCol="0" anchor="ctr"/>
            <a:lstStyle/>
            <a:p>
              <a:pPr marL="0" indent="0">
                <a:buNone/>
              </a:pPr>
              <a:r>
                <a:rPr lang="en-US" sz="1400" b="1" dirty="0">
                  <a:solidFill>
                    <a:srgbClr val="0F8B8D"/>
                  </a:solidFill>
                  <a:latin typeface="Calibri" pitchFamily="34" charset="0"/>
                  <a:ea typeface="Calibri" pitchFamily="34" charset="-122"/>
                  <a:cs typeface="Calibri" pitchFamily="34" charset="-120"/>
                </a:rPr>
                <a:t>Robot</a:t>
              </a:r>
              <a:endParaRPr lang="en-US" sz="1400" dirty="0"/>
            </a:p>
          </p:txBody>
        </p:sp>
        <p:sp>
          <p:nvSpPr>
            <p:cNvPr id="9" name="Distance"/>
            <p:cNvSpPr/>
            <p:nvPr/>
          </p:nvSpPr>
          <p:spPr>
            <a:xfrm>
              <a:off x="2468880" y="1719072"/>
              <a:ext cx="0" cy="1709928"/>
            </a:xfrm>
            <a:prstGeom prst="line">
              <a:avLst/>
            </a:prstGeom>
            <a:noFill/>
            <a:ln w="38100">
              <a:solidFill>
                <a:srgbClr val="E8A33D"/>
              </a:solidFill>
              <a:prstDash val="dash"/>
              <a:headEnd type="triangle"/>
              <a:tailEnd type="triangle"/>
            </a:ln>
          </p:spPr>
          <p:txBody>
            <a:bodyPr/>
            <a:lstStyle/>
            <a:p>
              <a:endParaRPr lang="en-AU"/>
            </a:p>
          </p:txBody>
        </p:sp>
        <p:sp>
          <p:nvSpPr>
            <p:cNvPr id="10" name="Text 7"/>
            <p:cNvSpPr txBox="1"/>
            <p:nvPr/>
          </p:nvSpPr>
          <p:spPr>
            <a:xfrm>
              <a:off x="2606040" y="2377440"/>
              <a:ext cx="1645920" cy="274320"/>
            </a:xfrm>
            <a:prstGeom prst="rect">
              <a:avLst/>
            </a:prstGeom>
            <a:noFill/>
            <a:ln/>
          </p:spPr>
          <p:txBody>
            <a:bodyPr wrap="square" lIns="0" tIns="0" rIns="0" bIns="0" rtlCol="0" anchor="ctr"/>
            <a:lstStyle/>
            <a:p>
              <a:pPr marL="0" indent="0">
                <a:buNone/>
              </a:pPr>
              <a:r>
                <a:rPr lang="en-US" sz="1400" b="1" dirty="0">
                  <a:solidFill>
                    <a:srgbClr val="1F2D3A"/>
                  </a:solidFill>
                  <a:latin typeface="Calibri" pitchFamily="34" charset="0"/>
                  <a:ea typeface="Calibri" pitchFamily="34" charset="-122"/>
                  <a:cs typeface="Calibri" pitchFamily="34" charset="-120"/>
                </a:rPr>
                <a:t>target 0.30 m</a:t>
              </a:r>
              <a:endParaRPr lang="en-US" sz="1400" dirty="0"/>
            </a:p>
          </p:txBody>
        </p:sp>
      </p:grpSp>
      <p:sp>
        <p:nvSpPr>
          <p:cNvPr id="11" name="Text 8"/>
          <p:cNvSpPr txBox="1"/>
          <p:nvPr/>
        </p:nvSpPr>
        <p:spPr>
          <a:xfrm>
            <a:off x="5029200" y="1280160"/>
            <a:ext cx="356616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Two side beams give the distance and the angle to the wall.</a:t>
            </a:r>
            <a:endParaRPr lang="en-US" sz="1600" dirty="0"/>
          </a:p>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A short look-ahead lets the robot react before it drifts.</a:t>
            </a:r>
            <a:endParaRPr lang="en-US" sz="1600" dirty="0"/>
          </a:p>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Median filtering ignores bad readings from the scanner.</a:t>
            </a:r>
            <a:endParaRPr lang="en-US" sz="1600" dirty="0"/>
          </a:p>
          <a:p>
            <a:pPr marL="0" indent="0">
              <a:spcAft>
                <a:spcPts val="1000"/>
              </a:spcAft>
              <a:buNone/>
            </a:pPr>
            <a:r>
              <a:rPr lang="en-US" sz="1600" b="1" dirty="0">
                <a:solidFill>
                  <a:srgbClr val="0F8B8D"/>
                </a:solidFill>
                <a:latin typeface="Calibri" pitchFamily="34" charset="0"/>
                <a:ea typeface="Calibri" pitchFamily="34" charset="-122"/>
                <a:cs typeface="Calibri" pitchFamily="34" charset="-120"/>
              </a:rPr>
              <a:t>Error = measured distance − 0.30 m</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Step 2: PID steering, in plain words</a:t>
            </a:r>
            <a:endParaRPr lang="en-US" sz="3200" dirty="0"/>
          </a:p>
        </p:txBody>
      </p:sp>
      <p:grpSp>
        <p:nvGrpSpPr>
          <p:cNvPr id="20" name="Group 19">
            <a:extLst>
              <a:ext uri="{FF2B5EF4-FFF2-40B4-BE49-F238E27FC236}">
                <a16:creationId xmlns:a16="http://schemas.microsoft.com/office/drawing/2014/main" id="{2A1973EF-7012-26EE-1789-DA7FB20E59E9}"/>
              </a:ext>
            </a:extLst>
          </p:cNvPr>
          <p:cNvGrpSpPr/>
          <p:nvPr/>
        </p:nvGrpSpPr>
        <p:grpSpPr>
          <a:xfrm>
            <a:off x="548640" y="1280160"/>
            <a:ext cx="8046720" cy="868680"/>
            <a:chOff x="548640" y="1280160"/>
            <a:chExt cx="8046720" cy="868680"/>
          </a:xfrm>
        </p:grpSpPr>
        <p:sp>
          <p:nvSpPr>
            <p:cNvPr id="4" name="Card"/>
            <p:cNvSpPr/>
            <p:nvPr/>
          </p:nvSpPr>
          <p:spPr>
            <a:xfrm>
              <a:off x="548640" y="128016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Letter P"/>
            <p:cNvSpPr/>
            <p:nvPr/>
          </p:nvSpPr>
          <p:spPr>
            <a:xfrm>
              <a:off x="731520" y="1417320"/>
              <a:ext cx="594360" cy="594360"/>
            </a:xfrm>
            <a:prstGeom prst="ellipse">
              <a:avLst/>
            </a:prstGeom>
            <a:solidFill>
              <a:srgbClr val="0F8B8D"/>
            </a:solidFill>
            <a:ln w="6350">
              <a:solidFill>
                <a:srgbClr val="0F8B8D"/>
              </a:solidFill>
              <a:prstDash val="solid"/>
            </a:ln>
          </p:spPr>
          <p:txBody>
            <a:bodyPr/>
            <a:lstStyle/>
            <a:p>
              <a:endParaRPr lang="en-AU"/>
            </a:p>
          </p:txBody>
        </p:sp>
        <p:sp>
          <p:nvSpPr>
            <p:cNvPr id="6" name="Text 3"/>
            <p:cNvSpPr txBox="1"/>
            <p:nvPr/>
          </p:nvSpPr>
          <p:spPr>
            <a:xfrm>
              <a:off x="731520" y="141732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a:t>
              </a:r>
              <a:endParaRPr lang="en-US" sz="2400" dirty="0"/>
            </a:p>
          </p:txBody>
        </p:sp>
        <p:sp>
          <p:nvSpPr>
            <p:cNvPr id="7" name="Text 4"/>
            <p:cNvSpPr txBox="1"/>
            <p:nvPr/>
          </p:nvSpPr>
          <p:spPr>
            <a:xfrm>
              <a:off x="1554480" y="138988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Proportional</a:t>
              </a:r>
              <a:endParaRPr lang="en-US" sz="2000" dirty="0"/>
            </a:p>
          </p:txBody>
        </p:sp>
        <p:sp>
          <p:nvSpPr>
            <p:cNvPr id="8" name="Text 5"/>
            <p:cNvSpPr txBox="1"/>
            <p:nvPr/>
          </p:nvSpPr>
          <p:spPr>
            <a:xfrm>
              <a:off x="3657600" y="137160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Steer harder when the robot is further from 0.30 m</a:t>
              </a:r>
              <a:endParaRPr lang="en-US" sz="1600" dirty="0"/>
            </a:p>
          </p:txBody>
        </p:sp>
      </p:grpSp>
      <p:grpSp>
        <p:nvGrpSpPr>
          <p:cNvPr id="3" name="Group 2">
            <a:extLst>
              <a:ext uri="{FF2B5EF4-FFF2-40B4-BE49-F238E27FC236}">
                <a16:creationId xmlns:a16="http://schemas.microsoft.com/office/drawing/2014/main" id="{8F003C02-ABD2-6130-444A-A8D84A50FF57}"/>
              </a:ext>
            </a:extLst>
          </p:cNvPr>
          <p:cNvGrpSpPr/>
          <p:nvPr/>
        </p:nvGrpSpPr>
        <p:grpSpPr>
          <a:xfrm>
            <a:off x="548640" y="3218688"/>
            <a:ext cx="8046720" cy="868680"/>
            <a:chOff x="548640" y="2286000"/>
            <a:chExt cx="8046720" cy="868680"/>
          </a:xfrm>
        </p:grpSpPr>
        <p:sp>
          <p:nvSpPr>
            <p:cNvPr id="9" name="Card"/>
            <p:cNvSpPr/>
            <p:nvPr/>
          </p:nvSpPr>
          <p:spPr>
            <a:xfrm>
              <a:off x="548640" y="228600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Letter D"/>
            <p:cNvSpPr/>
            <p:nvPr/>
          </p:nvSpPr>
          <p:spPr>
            <a:xfrm>
              <a:off x="731520" y="2423160"/>
              <a:ext cx="594360" cy="594360"/>
            </a:xfrm>
            <a:prstGeom prst="ellipse">
              <a:avLst/>
            </a:prstGeom>
            <a:solidFill>
              <a:srgbClr val="14283D"/>
            </a:solidFill>
            <a:ln w="6350">
              <a:solidFill>
                <a:srgbClr val="14283D"/>
              </a:solidFill>
              <a:prstDash val="solid"/>
            </a:ln>
          </p:spPr>
          <p:txBody>
            <a:bodyPr/>
            <a:lstStyle/>
            <a:p>
              <a:endParaRPr lang="en-AU"/>
            </a:p>
          </p:txBody>
        </p:sp>
        <p:sp>
          <p:nvSpPr>
            <p:cNvPr id="11" name="Text 8"/>
            <p:cNvSpPr txBox="1"/>
            <p:nvPr/>
          </p:nvSpPr>
          <p:spPr>
            <a:xfrm>
              <a:off x="731520" y="242316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12" name="Text 9"/>
            <p:cNvSpPr txBox="1"/>
            <p:nvPr/>
          </p:nvSpPr>
          <p:spPr>
            <a:xfrm>
              <a:off x="1554480" y="239572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Derivative</a:t>
              </a:r>
              <a:endParaRPr lang="en-US" sz="2000" dirty="0"/>
            </a:p>
          </p:txBody>
        </p:sp>
        <p:sp>
          <p:nvSpPr>
            <p:cNvPr id="13" name="Text 10"/>
            <p:cNvSpPr txBox="1"/>
            <p:nvPr/>
          </p:nvSpPr>
          <p:spPr>
            <a:xfrm>
              <a:off x="3657600" y="237744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Calm the steering when the error is changing fast, to stop wobbling</a:t>
              </a:r>
              <a:endParaRPr lang="en-US" sz="1600" dirty="0"/>
            </a:p>
          </p:txBody>
        </p:sp>
      </p:grpSp>
      <p:grpSp>
        <p:nvGrpSpPr>
          <p:cNvPr id="21" name="Group 20">
            <a:extLst>
              <a:ext uri="{FF2B5EF4-FFF2-40B4-BE49-F238E27FC236}">
                <a16:creationId xmlns:a16="http://schemas.microsoft.com/office/drawing/2014/main" id="{08ECF3A4-651E-9775-B558-1932FB242D91}"/>
              </a:ext>
            </a:extLst>
          </p:cNvPr>
          <p:cNvGrpSpPr/>
          <p:nvPr/>
        </p:nvGrpSpPr>
        <p:grpSpPr>
          <a:xfrm>
            <a:off x="548640" y="2240280"/>
            <a:ext cx="8046720" cy="868680"/>
            <a:chOff x="548640" y="3291840"/>
            <a:chExt cx="8046720" cy="868680"/>
          </a:xfrm>
        </p:grpSpPr>
        <p:sp>
          <p:nvSpPr>
            <p:cNvPr id="14" name="Card"/>
            <p:cNvSpPr/>
            <p:nvPr/>
          </p:nvSpPr>
          <p:spPr>
            <a:xfrm>
              <a:off x="548640" y="329184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5" name="Letter I"/>
            <p:cNvSpPr/>
            <p:nvPr/>
          </p:nvSpPr>
          <p:spPr>
            <a:xfrm>
              <a:off x="731520" y="3429000"/>
              <a:ext cx="594360" cy="594360"/>
            </a:xfrm>
            <a:prstGeom prst="ellipse">
              <a:avLst/>
            </a:prstGeom>
            <a:solidFill>
              <a:srgbClr val="5B6B79"/>
            </a:solidFill>
            <a:ln w="6350">
              <a:solidFill>
                <a:srgbClr val="5B6B79"/>
              </a:solidFill>
              <a:prstDash val="solid"/>
            </a:ln>
          </p:spPr>
          <p:txBody>
            <a:bodyPr/>
            <a:lstStyle/>
            <a:p>
              <a:endParaRPr lang="en-AU"/>
            </a:p>
          </p:txBody>
        </p:sp>
        <p:sp>
          <p:nvSpPr>
            <p:cNvPr id="16" name="Text 13"/>
            <p:cNvSpPr txBox="1"/>
            <p:nvPr/>
          </p:nvSpPr>
          <p:spPr>
            <a:xfrm>
              <a:off x="731520" y="34290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I</a:t>
              </a:r>
              <a:endParaRPr lang="en-US" sz="2400" dirty="0"/>
            </a:p>
          </p:txBody>
        </p:sp>
        <p:sp>
          <p:nvSpPr>
            <p:cNvPr id="17" name="Text 14"/>
            <p:cNvSpPr txBox="1"/>
            <p:nvPr/>
          </p:nvSpPr>
          <p:spPr>
            <a:xfrm>
              <a:off x="1554480" y="340156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Integral</a:t>
              </a:r>
              <a:endParaRPr lang="en-US" sz="2000" dirty="0"/>
            </a:p>
          </p:txBody>
        </p:sp>
        <p:sp>
          <p:nvSpPr>
            <p:cNvPr id="18" name="Text 15"/>
            <p:cNvSpPr txBox="1"/>
            <p:nvPr/>
          </p:nvSpPr>
          <p:spPr>
            <a:xfrm>
              <a:off x="3657600" y="338328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Fixes a constant offset. Set to zero in all our runs</a:t>
              </a:r>
              <a:endParaRPr lang="en-US" sz="1600" dirty="0"/>
            </a:p>
          </p:txBody>
        </p:sp>
      </p:grpSp>
      <p:sp>
        <p:nvSpPr>
          <p:cNvPr id="19" name="Text 16"/>
          <p:cNvSpPr txBox="1"/>
          <p:nvPr/>
        </p:nvSpPr>
        <p:spPr>
          <a:xfrm>
            <a:off x="548640" y="4343400"/>
            <a:ext cx="7680960" cy="365760"/>
          </a:xfrm>
          <a:prstGeom prst="rect">
            <a:avLst/>
          </a:prstGeom>
          <a:noFill/>
          <a:ln/>
        </p:spPr>
        <p:txBody>
          <a:bodyPr wrap="square" lIns="0" tIns="0" rIns="0" bIns="0" rtlCol="0" anchor="ctr"/>
          <a:lstStyle/>
          <a:p>
            <a:pPr marL="0" indent="0">
              <a:buNone/>
            </a:pPr>
            <a:r>
              <a:rPr lang="en-US" sz="1400" dirty="0">
                <a:solidFill>
                  <a:srgbClr val="5B6B79"/>
                </a:solidFill>
                <a:latin typeface="Calibri" pitchFamily="34" charset="0"/>
                <a:ea typeface="Calibri" pitchFamily="34" charset="-122"/>
                <a:cs typeface="Calibri" pitchFamily="34" charset="-120"/>
              </a:rPr>
              <a:t>The result is a turn rate that keeps the robot on the left wall at 0.30 m.</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PID 2: controlling the speed</a:t>
            </a:r>
            <a:endParaRPr lang="en-US" sz="3200" dirty="0"/>
          </a:p>
        </p:txBody>
      </p:sp>
      <p:sp>
        <p:nvSpPr>
          <p:cNvPr id="4" name="Mode Normal PID"/>
          <p:cNvSpPr/>
          <p:nvPr/>
        </p:nvSpPr>
        <p:spPr>
          <a:xfrm>
            <a:off x="548640" y="1280160"/>
            <a:ext cx="2560320" cy="1554480"/>
          </a:xfrm>
          <a:prstGeom prst="roundRect">
            <a:avLst>
              <a:gd name="adj" fmla="val 4706"/>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31520" y="1371600"/>
            <a:ext cx="2194560" cy="457200"/>
          </a:xfrm>
          <a:prstGeom prst="rect">
            <a:avLst/>
          </a:prstGeom>
          <a:noFill/>
          <a:ln/>
        </p:spPr>
        <p:txBody>
          <a:bodyPr wrap="square" lIns="0" tIns="0" rIns="0" bIns="0" rtlCol="0" anchor="ctr"/>
          <a:lstStyle/>
          <a:p>
            <a:pPr marL="0" indent="0">
              <a:buNone/>
            </a:pPr>
            <a:r>
              <a:rPr lang="en-US" sz="2000" b="1" dirty="0">
                <a:solidFill>
                  <a:srgbClr val="0F8B8D"/>
                </a:solidFill>
                <a:latin typeface="Cambria" pitchFamily="34" charset="0"/>
                <a:ea typeface="Cambria" pitchFamily="34" charset="-122"/>
                <a:cs typeface="Cambria" pitchFamily="34" charset="-120"/>
              </a:rPr>
              <a:t>Normal PID</a:t>
            </a:r>
            <a:endParaRPr lang="en-US" sz="2000" dirty="0"/>
          </a:p>
        </p:txBody>
      </p:sp>
      <p:sp>
        <p:nvSpPr>
          <p:cNvPr id="6" name="Text 3"/>
          <p:cNvSpPr txBox="1"/>
          <p:nvPr/>
        </p:nvSpPr>
        <p:spPr>
          <a:xfrm>
            <a:off x="731520" y="1874520"/>
            <a:ext cx="2194560" cy="86868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One PID for steering. Constant speed. (baseline)</a:t>
            </a:r>
            <a:endParaRPr lang="en-US" sz="1600" dirty="0"/>
          </a:p>
        </p:txBody>
      </p:sp>
      <p:sp>
        <p:nvSpPr>
          <p:cNvPr id="7" name="Mode Rule-based speed"/>
          <p:cNvSpPr/>
          <p:nvPr/>
        </p:nvSpPr>
        <p:spPr>
          <a:xfrm>
            <a:off x="3291840" y="1280160"/>
            <a:ext cx="2560320" cy="1554480"/>
          </a:xfrm>
          <a:prstGeom prst="roundRect">
            <a:avLst>
              <a:gd name="adj" fmla="val 4706"/>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3474720" y="1371600"/>
            <a:ext cx="2194560" cy="457200"/>
          </a:xfrm>
          <a:prstGeom prst="rect">
            <a:avLst/>
          </a:prstGeom>
          <a:noFill/>
          <a:ln/>
        </p:spPr>
        <p:txBody>
          <a:bodyPr wrap="square" lIns="0" tIns="0" rIns="0" bIns="0" rtlCol="0" anchor="ctr"/>
          <a:lstStyle/>
          <a:p>
            <a:pPr marL="0" indent="0">
              <a:buNone/>
            </a:pPr>
            <a:r>
              <a:rPr lang="en-US" sz="2000" b="1" dirty="0">
                <a:solidFill>
                  <a:srgbClr val="0F8B8D"/>
                </a:solidFill>
                <a:latin typeface="Cambria" pitchFamily="34" charset="0"/>
                <a:ea typeface="Cambria" pitchFamily="34" charset="-122"/>
                <a:cs typeface="Cambria" pitchFamily="34" charset="-120"/>
              </a:rPr>
              <a:t>Rule-based speed</a:t>
            </a:r>
            <a:endParaRPr lang="en-US" sz="2000" dirty="0"/>
          </a:p>
        </p:txBody>
      </p:sp>
      <p:sp>
        <p:nvSpPr>
          <p:cNvPr id="9" name="Text 6"/>
          <p:cNvSpPr txBox="1"/>
          <p:nvPr/>
        </p:nvSpPr>
        <p:spPr>
          <a:xfrm>
            <a:off x="3474720" y="1874520"/>
            <a:ext cx="2194560" cy="86868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Speed set by simple rules. Not a true second PID. (extended)</a:t>
            </a:r>
            <a:endParaRPr lang="en-US" sz="1600" dirty="0"/>
          </a:p>
        </p:txBody>
      </p:sp>
      <p:sp>
        <p:nvSpPr>
          <p:cNvPr id="10" name="Mode Advanced PID"/>
          <p:cNvSpPr/>
          <p:nvPr/>
        </p:nvSpPr>
        <p:spPr>
          <a:xfrm>
            <a:off x="6035040" y="1280160"/>
            <a:ext cx="2560320" cy="1554480"/>
          </a:xfrm>
          <a:prstGeom prst="roundRect">
            <a:avLst>
              <a:gd name="adj" fmla="val 4706"/>
            </a:avLst>
          </a:prstGeom>
          <a:solidFill>
            <a:srgbClr val="14283D"/>
          </a:solidFill>
          <a:ln w="9525">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8"/>
          <p:cNvSpPr txBox="1"/>
          <p:nvPr/>
        </p:nvSpPr>
        <p:spPr>
          <a:xfrm>
            <a:off x="6217920" y="1371600"/>
            <a:ext cx="2194560" cy="457200"/>
          </a:xfrm>
          <a:prstGeom prst="rect">
            <a:avLst/>
          </a:prstGeom>
          <a:noFill/>
          <a:ln/>
        </p:spPr>
        <p:txBody>
          <a:bodyPr wrap="square" lIns="0" tIns="0" rIns="0" bIns="0" rtlCol="0" anchor="ctr"/>
          <a:lstStyle/>
          <a:p>
            <a:pPr marL="0" indent="0">
              <a:buNone/>
            </a:pPr>
            <a:r>
              <a:rPr lang="en-US" sz="2000" b="1" dirty="0">
                <a:solidFill>
                  <a:srgbClr val="7FD6D8"/>
                </a:solidFill>
                <a:latin typeface="Cambria" pitchFamily="34" charset="0"/>
                <a:ea typeface="Cambria" pitchFamily="34" charset="-122"/>
                <a:cs typeface="Cambria" pitchFamily="34" charset="-120"/>
              </a:rPr>
              <a:t>Advanced PID</a:t>
            </a:r>
            <a:endParaRPr lang="en-US" sz="2000" dirty="0"/>
          </a:p>
        </p:txBody>
      </p:sp>
      <p:sp>
        <p:nvSpPr>
          <p:cNvPr id="12" name="Text 9"/>
          <p:cNvSpPr txBox="1"/>
          <p:nvPr/>
        </p:nvSpPr>
        <p:spPr>
          <a:xfrm>
            <a:off x="6217920" y="1874520"/>
            <a:ext cx="2194560" cy="8686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Two PIDs: one steers, one sets the speed. Our final design. (extended_pid)</a:t>
            </a:r>
            <a:endParaRPr lang="en-US" sz="1600" dirty="0"/>
          </a:p>
        </p:txBody>
      </p:sp>
      <p:sp>
        <p:nvSpPr>
          <p:cNvPr id="13" name="Card"/>
          <p:cNvSpPr/>
          <p:nvPr/>
        </p:nvSpPr>
        <p:spPr>
          <a:xfrm>
            <a:off x="548640" y="3108960"/>
            <a:ext cx="8046720" cy="1280160"/>
          </a:xfrm>
          <a:prstGeom prst="roundRect">
            <a:avLst>
              <a:gd name="adj" fmla="val 5714"/>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4" name="Text 11"/>
          <p:cNvSpPr txBox="1"/>
          <p:nvPr/>
        </p:nvSpPr>
        <p:spPr>
          <a:xfrm>
            <a:off x="777240" y="3200400"/>
            <a:ext cx="7589520" cy="1097280"/>
          </a:xfrm>
          <a:prstGeom prst="rect">
            <a:avLst/>
          </a:prstGeom>
          <a:noFill/>
          <a:ln/>
        </p:spPr>
        <p:txBody>
          <a:bodyPr wrap="square" lIns="0" tIns="0" rIns="0" bIns="0" rtlCol="0" anchor="ctr"/>
          <a:lstStyle/>
          <a:p>
            <a:pPr marL="0" indent="0">
              <a:spcAft>
                <a:spcPts val="800"/>
              </a:spcAft>
              <a:buNone/>
            </a:pPr>
            <a:r>
              <a:rPr lang="en-US" sz="1600" b="1" dirty="0">
                <a:solidFill>
                  <a:srgbClr val="1F2D3A"/>
                </a:solidFill>
                <a:latin typeface="Calibri" pitchFamily="34" charset="0"/>
                <a:ea typeface="Calibri" pitchFamily="34" charset="-122"/>
                <a:cs typeface="Calibri" pitchFamily="34" charset="-120"/>
              </a:rPr>
              <a:t>Slow down when </a:t>
            </a:r>
            <a:r>
              <a:rPr lang="en-US" sz="1600" dirty="0">
                <a:solidFill>
                  <a:srgbClr val="1F2D3A"/>
                </a:solidFill>
                <a:latin typeface="Calibri" pitchFamily="34" charset="0"/>
                <a:ea typeface="Calibri" pitchFamily="34" charset="-122"/>
                <a:cs typeface="Calibri" pitchFamily="34" charset="-120"/>
              </a:rPr>
              <a:t>a wall is close ahead or the robot is off the 0.30 m line.</a:t>
            </a:r>
            <a:endParaRPr lang="en-US" sz="1600" dirty="0"/>
          </a:p>
          <a:p>
            <a:pPr marL="0" indent="0">
              <a:spcAft>
                <a:spcPts val="800"/>
              </a:spcAft>
              <a:buNone/>
            </a:pPr>
            <a:r>
              <a:rPr lang="en-US" sz="1600" b="1" dirty="0">
                <a:solidFill>
                  <a:srgbClr val="1F2D3A"/>
                </a:solidFill>
                <a:latin typeface="Calibri" pitchFamily="34" charset="0"/>
                <a:ea typeface="Calibri" pitchFamily="34" charset="-122"/>
                <a:cs typeface="Calibri" pitchFamily="34" charset="-120"/>
              </a:rPr>
              <a:t>Speed up when </a:t>
            </a:r>
            <a:r>
              <a:rPr lang="en-US" sz="1600" dirty="0">
                <a:solidFill>
                  <a:srgbClr val="1F2D3A"/>
                </a:solidFill>
                <a:latin typeface="Calibri" pitchFamily="34" charset="0"/>
                <a:ea typeface="Calibri" pitchFamily="34" charset="-122"/>
                <a:cs typeface="Calibri" pitchFamily="34" charset="-120"/>
              </a:rPr>
              <a:t>the path is clear and the error is small. Speed is kept between a minimum and maximum.</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Handling corners</a:t>
            </a:r>
            <a:endParaRPr lang="en-US" sz="3200" dirty="0"/>
          </a:p>
        </p:txBody>
      </p:sp>
      <p:sp>
        <p:nvSpPr>
          <p:cNvPr id="4" name="Card"/>
          <p:cNvSpPr/>
          <p:nvPr/>
        </p:nvSpPr>
        <p:spPr>
          <a:xfrm>
            <a:off x="5486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Num 1"/>
          <p:cNvSpPr/>
          <p:nvPr/>
        </p:nvSpPr>
        <p:spPr>
          <a:xfrm>
            <a:off x="7315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6" name="Text 3"/>
          <p:cNvSpPr txBox="1"/>
          <p:nvPr/>
        </p:nvSpPr>
        <p:spPr>
          <a:xfrm>
            <a:off x="7315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1</a:t>
            </a:r>
            <a:endParaRPr lang="en-US" sz="2200" dirty="0"/>
          </a:p>
        </p:txBody>
      </p:sp>
      <p:sp>
        <p:nvSpPr>
          <p:cNvPr id="7" name="Text 4"/>
          <p:cNvSpPr txBox="1"/>
          <p:nvPr/>
        </p:nvSpPr>
        <p:spPr>
          <a:xfrm>
            <a:off x="7315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Wall ahead</a:t>
            </a:r>
            <a:endParaRPr lang="en-US" sz="1800" dirty="0"/>
          </a:p>
        </p:txBody>
      </p:sp>
      <p:sp>
        <p:nvSpPr>
          <p:cNvPr id="8" name="Text 5"/>
          <p:cNvSpPr txBox="1"/>
          <p:nvPr/>
        </p:nvSpPr>
        <p:spPr>
          <a:xfrm>
            <a:off x="7315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The front distance drops below the stop limit</a:t>
            </a:r>
            <a:endParaRPr lang="en-US" sz="1400" dirty="0"/>
          </a:p>
        </p:txBody>
      </p:sp>
      <p:sp>
        <p:nvSpPr>
          <p:cNvPr id="9" name="Card"/>
          <p:cNvSpPr/>
          <p:nvPr/>
        </p:nvSpPr>
        <p:spPr>
          <a:xfrm>
            <a:off x="26060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Num 2"/>
          <p:cNvSpPr/>
          <p:nvPr/>
        </p:nvSpPr>
        <p:spPr>
          <a:xfrm>
            <a:off x="27889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11" name="Text 8"/>
          <p:cNvSpPr txBox="1"/>
          <p:nvPr/>
        </p:nvSpPr>
        <p:spPr>
          <a:xfrm>
            <a:off x="27889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27889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Turn in place</a:t>
            </a:r>
            <a:endParaRPr lang="en-US" sz="1800" dirty="0"/>
          </a:p>
        </p:txBody>
      </p:sp>
      <p:sp>
        <p:nvSpPr>
          <p:cNvPr id="13" name="Text 10"/>
          <p:cNvSpPr txBox="1"/>
          <p:nvPr/>
        </p:nvSpPr>
        <p:spPr>
          <a:xfrm>
            <a:off x="27889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The robot rotates away from the wall</a:t>
            </a:r>
            <a:endParaRPr lang="en-US" sz="1400" dirty="0"/>
          </a:p>
        </p:txBody>
      </p:sp>
      <p:sp>
        <p:nvSpPr>
          <p:cNvPr id="14" name="Card"/>
          <p:cNvSpPr/>
          <p:nvPr/>
        </p:nvSpPr>
        <p:spPr>
          <a:xfrm>
            <a:off x="46634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5" name="Num 3"/>
          <p:cNvSpPr/>
          <p:nvPr/>
        </p:nvSpPr>
        <p:spPr>
          <a:xfrm>
            <a:off x="48463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16" name="Text 13"/>
          <p:cNvSpPr txBox="1"/>
          <p:nvPr/>
        </p:nvSpPr>
        <p:spPr>
          <a:xfrm>
            <a:off x="48463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3</a:t>
            </a:r>
            <a:endParaRPr lang="en-US" sz="2200" dirty="0"/>
          </a:p>
        </p:txBody>
      </p:sp>
      <p:sp>
        <p:nvSpPr>
          <p:cNvPr id="17" name="Text 14"/>
          <p:cNvSpPr txBox="1"/>
          <p:nvPr/>
        </p:nvSpPr>
        <p:spPr>
          <a:xfrm>
            <a:off x="48463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Front clear</a:t>
            </a:r>
            <a:endParaRPr lang="en-US" sz="1800" dirty="0"/>
          </a:p>
        </p:txBody>
      </p:sp>
      <p:sp>
        <p:nvSpPr>
          <p:cNvPr id="18" name="Text 15"/>
          <p:cNvSpPr txBox="1"/>
          <p:nvPr/>
        </p:nvSpPr>
        <p:spPr>
          <a:xfrm>
            <a:off x="48463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Free space opens up beyond 1.2 m</a:t>
            </a:r>
            <a:endParaRPr lang="en-US" sz="1400" dirty="0"/>
          </a:p>
        </p:txBody>
      </p:sp>
      <p:sp>
        <p:nvSpPr>
          <p:cNvPr id="19" name="Card"/>
          <p:cNvSpPr/>
          <p:nvPr/>
        </p:nvSpPr>
        <p:spPr>
          <a:xfrm>
            <a:off x="67208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20" name="Num 4"/>
          <p:cNvSpPr/>
          <p:nvPr/>
        </p:nvSpPr>
        <p:spPr>
          <a:xfrm>
            <a:off x="69037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21" name="Text 18"/>
          <p:cNvSpPr txBox="1"/>
          <p:nvPr/>
        </p:nvSpPr>
        <p:spPr>
          <a:xfrm>
            <a:off x="69037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4</a:t>
            </a:r>
            <a:endParaRPr lang="en-US" sz="2200" dirty="0"/>
          </a:p>
        </p:txBody>
      </p:sp>
      <p:sp>
        <p:nvSpPr>
          <p:cNvPr id="22" name="Text 19"/>
          <p:cNvSpPr txBox="1"/>
          <p:nvPr/>
        </p:nvSpPr>
        <p:spPr>
          <a:xfrm>
            <a:off x="69037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Follow again</a:t>
            </a:r>
            <a:endParaRPr lang="en-US" sz="1800" dirty="0"/>
          </a:p>
        </p:txBody>
      </p:sp>
      <p:sp>
        <p:nvSpPr>
          <p:cNvPr id="23" name="Text 20"/>
          <p:cNvSpPr txBox="1"/>
          <p:nvPr/>
        </p:nvSpPr>
        <p:spPr>
          <a:xfrm>
            <a:off x="69037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Wall following resumes at 0.30 m</a:t>
            </a:r>
            <a:endParaRPr lang="en-US" sz="1400" dirty="0"/>
          </a:p>
        </p:txBody>
      </p:sp>
      <p:sp>
        <p:nvSpPr>
          <p:cNvPr id="24" name="Text 21"/>
          <p:cNvSpPr txBox="1"/>
          <p:nvPr/>
        </p:nvSpPr>
        <p:spPr>
          <a:xfrm>
            <a:off x="548640" y="3931920"/>
            <a:ext cx="8046720" cy="45720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If the wall is lost, the robot slows down and turns back toward where it was.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Gazebo results (left wall)</a:t>
            </a:r>
            <a:endParaRPr lang="en-US" sz="3200" dirty="0"/>
          </a:p>
        </p:txBody>
      </p:sp>
      <p:graphicFrame>
        <p:nvGraphicFramePr>
          <p:cNvPr id="4" name="Chart 0"/>
          <p:cNvGraphicFramePr/>
          <p:nvPr/>
        </p:nvGraphicFramePr>
        <p:xfrm>
          <a:off x="548640" y="1188720"/>
          <a:ext cx="402336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234440"/>
          <a:ext cx="3749040" cy="2718816"/>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Gazebo, true position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Normal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Advanced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RMS error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31.1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5.8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95th percentile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50.3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14.4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Worst error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5.6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1.8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Forward speed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0.080 m/s fixed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0.067 m/s mean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Lap time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79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92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1"/>
          <p:cNvSpPr txBox="1"/>
          <p:nvPr/>
        </p:nvSpPr>
        <p:spPr>
          <a:xfrm>
            <a:off x="4846320" y="4160520"/>
            <a:ext cx="3749040" cy="54864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The Advanced PID is tighter and a little slower.</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Real robot results (left wall)</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1554480"/>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Run (max speed, m/s)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RMS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95th pct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Worst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Jitter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Lap</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Rule-based speed (0.05)</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4.1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8.4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5.9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0.032</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158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Advanced PID (0.05)</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3.8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6.5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5.4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0.037</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132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Advanced PID (0.065)</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4.1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8.2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5.4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0.036</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116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Advanced PID (0.065), repeat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9.9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16.7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7.4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0.051</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117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548640" y="2743200"/>
            <a:ext cx="8046720" cy="274320"/>
          </a:xfrm>
          <a:prstGeom prst="rect">
            <a:avLst/>
          </a:prstGeom>
          <a:noFill/>
          <a:ln/>
        </p:spPr>
        <p:txBody>
          <a:bodyPr wrap="square" lIns="0" tIns="0" rIns="0" bIns="0" rtlCol="0" anchor="ctr"/>
          <a:lstStyle/>
          <a:p>
            <a:pPr marL="0" indent="0">
              <a:buNone/>
            </a:pPr>
            <a:r>
              <a:rPr lang="en-US" sz="1200" dirty="0">
                <a:solidFill>
                  <a:srgbClr val="5B6B79"/>
                </a:solidFill>
                <a:latin typeface="Calibri" pitchFamily="34" charset="0"/>
                <a:ea typeface="Calibri" pitchFamily="34" charset="-122"/>
                <a:cs typeface="Calibri" pitchFamily="34" charset="-120"/>
              </a:rPr>
              <a:t>RMS and 95th percentile: straights only. Worst: largest error outside turns. Jitter: variation of the steering command.</a:t>
            </a:r>
            <a:endParaRPr lang="en-US" sz="1200" dirty="0"/>
          </a:p>
        </p:txBody>
      </p:sp>
      <p:pic>
        <p:nvPicPr>
          <p:cNvPr id="6" name="Real distance figure" descr="Measured distance to the left wall during two real runs"/>
          <p:cNvPicPr>
            <a:picLocks noChangeAspect="1"/>
          </p:cNvPicPr>
          <p:nvPr/>
        </p:nvPicPr>
        <p:blipFill>
          <a:blip r:embed="rId3"/>
          <a:stretch>
            <a:fillRect/>
          </a:stretch>
        </p:blipFill>
        <p:spPr>
          <a:xfrm>
            <a:off x="548640" y="3108960"/>
            <a:ext cx="6766560" cy="1731874"/>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Comparing the controllers</a:t>
            </a:r>
            <a:endParaRPr lang="en-US" sz="3200" dirty="0"/>
          </a:p>
        </p:txBody>
      </p:sp>
      <p:graphicFrame>
        <p:nvGraphicFramePr>
          <p:cNvPr id="4" name="Chart 0"/>
          <p:cNvGraphicFramePr/>
          <p:nvPr/>
        </p:nvGraphicFramePr>
        <p:xfrm>
          <a:off x="548640" y="1143000"/>
          <a:ext cx="402336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572000" y="1143000"/>
          <a:ext cx="402336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6" name="Card"/>
          <p:cNvSpPr/>
          <p:nvPr/>
        </p:nvSpPr>
        <p:spPr>
          <a:xfrm>
            <a:off x="548640" y="3703320"/>
            <a:ext cx="8046720" cy="914400"/>
          </a:xfrm>
          <a:prstGeom prst="roundRect">
            <a:avLst>
              <a:gd name="adj" fmla="val 8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7" name="Text 2"/>
          <p:cNvSpPr txBox="1"/>
          <p:nvPr/>
        </p:nvSpPr>
        <p:spPr>
          <a:xfrm>
            <a:off x="777240" y="3749040"/>
            <a:ext cx="7589520" cy="822960"/>
          </a:xfrm>
          <a:prstGeom prst="rect">
            <a:avLst/>
          </a:prstGeom>
          <a:noFill/>
          <a:ln/>
        </p:spPr>
        <p:txBody>
          <a:bodyPr wrap="square" lIns="0" tIns="0" rIns="0" bIns="0" rtlCol="0" anchor="ctr"/>
          <a:lstStyle/>
          <a:p>
            <a:pPr marL="0" indent="0">
              <a:buNone/>
            </a:pPr>
            <a:r>
              <a:rPr lang="en-US" sz="1600" b="1" dirty="0">
                <a:solidFill>
                  <a:srgbClr val="0F8B8D"/>
                </a:solidFill>
                <a:latin typeface="Calibri" pitchFamily="34" charset="0"/>
                <a:ea typeface="Calibri" pitchFamily="34" charset="-122"/>
                <a:cs typeface="Calibri" pitchFamily="34" charset="-120"/>
              </a:rPr>
              <a:t>Same accuracy, faster lap: </a:t>
            </a:r>
            <a:r>
              <a:rPr lang="en-US" sz="1600" dirty="0">
                <a:solidFill>
                  <a:srgbClr val="1F2D3A"/>
                </a:solidFill>
                <a:latin typeface="Calibri" pitchFamily="34" charset="0"/>
                <a:ea typeface="Calibri" pitchFamily="34" charset="-122"/>
                <a:cs typeface="Calibri" pitchFamily="34" charset="-120"/>
              </a:rPr>
              <a:t>the Advanced PID is 16% quicker than rule-based speed at 0.05 m/s, and 27% quicker at 0.065 m/s. Results vary between runs.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From Gazebo to the real robot</a:t>
            </a:r>
            <a:endParaRPr lang="en-US" sz="3200" dirty="0"/>
          </a:p>
        </p:txBody>
      </p:sp>
      <p:pic>
        <p:nvPicPr>
          <p:cNvPr id="4" name="Gazebo photo" descr="The simulated box in Gazebo with the robot and laser rays"/>
          <p:cNvPicPr>
            <a:picLocks noChangeAspect="1"/>
          </p:cNvPicPr>
          <p:nvPr/>
        </p:nvPicPr>
        <p:blipFill>
          <a:blip r:embed="rId3"/>
          <a:stretch>
            <a:fillRect/>
          </a:stretch>
        </p:blipFill>
        <p:spPr>
          <a:xfrm>
            <a:off x="548640" y="1188720"/>
            <a:ext cx="2377440" cy="1409090"/>
          </a:xfrm>
          <a:prstGeom prst="rect">
            <a:avLst/>
          </a:prstGeom>
        </p:spPr>
      </p:pic>
      <p:pic>
        <p:nvPicPr>
          <p:cNvPr id="5" name="Real box photo" descr="The real box from above with the robot at the start line"/>
          <p:cNvPicPr>
            <a:picLocks noChangeAspect="1"/>
          </p:cNvPicPr>
          <p:nvPr/>
        </p:nvPicPr>
        <p:blipFill>
          <a:blip r:embed="rId4"/>
          <a:stretch>
            <a:fillRect/>
          </a:stretch>
        </p:blipFill>
        <p:spPr>
          <a:xfrm>
            <a:off x="548640" y="2706624"/>
            <a:ext cx="2377440" cy="1783080"/>
          </a:xfrm>
          <a:prstGeom prst="rect">
            <a:avLst/>
          </a:prstGeom>
        </p:spPr>
      </p:pic>
      <p:sp>
        <p:nvSpPr>
          <p:cNvPr id="6" name="Text 1"/>
          <p:cNvSpPr txBox="1"/>
          <p:nvPr/>
        </p:nvSpPr>
        <p:spPr>
          <a:xfrm>
            <a:off x="548640" y="4553712"/>
            <a:ext cx="2651760" cy="228600"/>
          </a:xfrm>
          <a:prstGeom prst="rect">
            <a:avLst/>
          </a:prstGeom>
          <a:noFill/>
          <a:ln/>
        </p:spPr>
        <p:txBody>
          <a:bodyPr wrap="square" lIns="0" tIns="0" rIns="0" bIns="0" rtlCol="0" anchor="ctr"/>
          <a:lstStyle/>
          <a:p>
            <a:pPr marL="0" indent="0">
              <a:buNone/>
            </a:pPr>
            <a:r>
              <a:rPr lang="en-US" sz="1100" dirty="0">
                <a:solidFill>
                  <a:srgbClr val="5B6B79"/>
                </a:solidFill>
                <a:latin typeface="Calibri" pitchFamily="34" charset="0"/>
                <a:ea typeface="Calibri" pitchFamily="34" charset="-122"/>
                <a:cs typeface="Calibri" pitchFamily="34" charset="-120"/>
              </a:rPr>
              <a:t>Top: Gazebo box. Bottom: real lab box.</a:t>
            </a:r>
            <a:endParaRPr lang="en-US" sz="1100" dirty="0"/>
          </a:p>
        </p:txBody>
      </p:sp>
      <p:sp>
        <p:nvSpPr>
          <p:cNvPr id="7" name="Card"/>
          <p:cNvSpPr/>
          <p:nvPr/>
        </p:nvSpPr>
        <p:spPr>
          <a:xfrm>
            <a:off x="3200400" y="118872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3"/>
          <p:cNvSpPr txBox="1"/>
          <p:nvPr/>
        </p:nvSpPr>
        <p:spPr>
          <a:xfrm>
            <a:off x="3383280" y="123444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Same code</a:t>
            </a:r>
            <a:endParaRPr lang="en-US" sz="1600" dirty="0"/>
          </a:p>
        </p:txBody>
      </p:sp>
      <p:sp>
        <p:nvSpPr>
          <p:cNvPr id="9" name="Text 4"/>
          <p:cNvSpPr txBox="1"/>
          <p:nvPr/>
        </p:nvSpPr>
        <p:spPr>
          <a:xfrm>
            <a:off x="4937760" y="123444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The node reads the scan by angle, so the real scanner needs no code changes</a:t>
            </a:r>
            <a:endParaRPr lang="en-US" sz="1400" dirty="0"/>
          </a:p>
        </p:txBody>
      </p:sp>
      <p:sp>
        <p:nvSpPr>
          <p:cNvPr id="10" name="Card"/>
          <p:cNvSpPr/>
          <p:nvPr/>
        </p:nvSpPr>
        <p:spPr>
          <a:xfrm>
            <a:off x="3200400" y="201168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6"/>
          <p:cNvSpPr txBox="1"/>
          <p:nvPr/>
        </p:nvSpPr>
        <p:spPr>
          <a:xfrm>
            <a:off x="3383280" y="205740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Slow first</a:t>
            </a:r>
            <a:endParaRPr lang="en-US" sz="1600" dirty="0"/>
          </a:p>
        </p:txBody>
      </p:sp>
      <p:sp>
        <p:nvSpPr>
          <p:cNvPr id="12" name="Text 7"/>
          <p:cNvSpPr txBox="1"/>
          <p:nvPr/>
        </p:nvSpPr>
        <p:spPr>
          <a:xfrm>
            <a:off x="4937760" y="205740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Early real runs were slow, then raised to 0.065 m/s once the error stayed small</a:t>
            </a:r>
            <a:endParaRPr lang="en-US" sz="1400" dirty="0"/>
          </a:p>
        </p:txBody>
      </p:sp>
      <p:sp>
        <p:nvSpPr>
          <p:cNvPr id="13" name="Card"/>
          <p:cNvSpPr/>
          <p:nvPr/>
        </p:nvSpPr>
        <p:spPr>
          <a:xfrm>
            <a:off x="3200400" y="283464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4" name="Text 9"/>
          <p:cNvSpPr txBox="1"/>
          <p:nvPr/>
        </p:nvSpPr>
        <p:spPr>
          <a:xfrm>
            <a:off x="3383280" y="288036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Noise-proof</a:t>
            </a:r>
            <a:endParaRPr lang="en-US" sz="1600" dirty="0"/>
          </a:p>
        </p:txBody>
      </p:sp>
      <p:sp>
        <p:nvSpPr>
          <p:cNvPr id="15" name="Text 10"/>
          <p:cNvSpPr txBox="1"/>
          <p:nvPr/>
        </p:nvSpPr>
        <p:spPr>
          <a:xfrm>
            <a:off x="4937760" y="288036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Medians and a range cap handle the dropped readings of the real scanner</a:t>
            </a:r>
            <a:endParaRPr lang="en-US" sz="1400" dirty="0"/>
          </a:p>
        </p:txBody>
      </p:sp>
      <p:sp>
        <p:nvSpPr>
          <p:cNvPr id="16" name="Card"/>
          <p:cNvSpPr/>
          <p:nvPr/>
        </p:nvSpPr>
        <p:spPr>
          <a:xfrm>
            <a:off x="3200400" y="365760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7" name="Text 12"/>
          <p:cNvSpPr txBox="1"/>
          <p:nvPr/>
        </p:nvSpPr>
        <p:spPr>
          <a:xfrm>
            <a:off x="3383280" y="370332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Repeatable</a:t>
            </a:r>
            <a:endParaRPr lang="en-US" sz="1600" dirty="0"/>
          </a:p>
        </p:txBody>
      </p:sp>
      <p:sp>
        <p:nvSpPr>
          <p:cNvPr id="18" name="Text 13"/>
          <p:cNvSpPr txBox="1"/>
          <p:nvPr/>
        </p:nvSpPr>
        <p:spPr>
          <a:xfrm>
            <a:off x="4937760" y="370332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The logger waits for a good starting position before it records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Problems we hit and how we solved them</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3218688"/>
        </p:xfrm>
        <a:graphic>
          <a:graphicData uri="http://schemas.openxmlformats.org/drawingml/2006/table">
            <a:tbl>
              <a:tblPr/>
              <a:tblGrid>
                <a:gridCol w="27432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we saw</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we did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Robot dipped toward the wall after corners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Compared the distance and front-distance logs, then added corner hysteresis and the second (speed)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Negative distances in a log</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Checked the column against the known box size first. It was a start-frame error, not a controller bug</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No data from the robot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Laptop and robot were on different networks, so multicast found nothing. Fixed with a unicast peer file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Runs could not be compared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The logger now waits for a valid start position, and estimates it from the first scan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GitHub and teamwork</a:t>
            </a:r>
            <a:endParaRPr lang="en-US" sz="3200" dirty="0"/>
          </a:p>
        </p:txBody>
      </p:sp>
      <p:sp>
        <p:nvSpPr>
          <p:cNvPr id="4" name="Card"/>
          <p:cNvSpPr/>
          <p:nvPr/>
        </p:nvSpPr>
        <p:spPr>
          <a:xfrm>
            <a:off x="548640" y="1188720"/>
            <a:ext cx="3840480" cy="2651760"/>
          </a:xfrm>
          <a:prstGeom prst="roundRect">
            <a:avLst>
              <a:gd name="adj" fmla="val 275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77240" y="1325880"/>
            <a:ext cx="3383280" cy="2377440"/>
          </a:xfrm>
          <a:prstGeom prst="rect">
            <a:avLst/>
          </a:prstGeom>
          <a:noFill/>
          <a:ln/>
        </p:spPr>
        <p:txBody>
          <a:bodyPr wrap="square" lIns="0" tIns="0" rIns="0" bIns="0" rtlCol="0" anchor="t"/>
          <a:lstStyle/>
          <a:p>
            <a:pPr marL="0" indent="0">
              <a:spcAft>
                <a:spcPts val="800"/>
              </a:spcAft>
              <a:buNone/>
            </a:pPr>
            <a:r>
              <a:rPr lang="en-US" sz="1600" b="1" dirty="0">
                <a:solidFill>
                  <a:srgbClr val="0F8B8D"/>
                </a:solidFill>
                <a:latin typeface="Calibri" pitchFamily="34" charset="0"/>
                <a:ea typeface="Calibri" pitchFamily="34" charset="-122"/>
                <a:cs typeface="Calibri" pitchFamily="34" charset="-120"/>
              </a:rPr>
              <a:t>What is in the repository</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The ROS 2 package: node, logger, launch file, world</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Analysis script and all run logs</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A README with the run commands</a:t>
            </a:r>
            <a:endParaRPr lang="en-US" sz="1600" dirty="0"/>
          </a:p>
        </p:txBody>
      </p:sp>
      <p:sp>
        <p:nvSpPr>
          <p:cNvPr id="6" name="Card"/>
          <p:cNvSpPr/>
          <p:nvPr/>
        </p:nvSpPr>
        <p:spPr>
          <a:xfrm>
            <a:off x="4754880" y="1188720"/>
            <a:ext cx="3840480" cy="2651760"/>
          </a:xfrm>
          <a:prstGeom prst="roundRect">
            <a:avLst>
              <a:gd name="adj" fmla="val 275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7" name="Text 4"/>
          <p:cNvSpPr txBox="1"/>
          <p:nvPr/>
        </p:nvSpPr>
        <p:spPr>
          <a:xfrm>
            <a:off x="4983480" y="1325880"/>
            <a:ext cx="3383280" cy="2377440"/>
          </a:xfrm>
          <a:prstGeom prst="rect">
            <a:avLst/>
          </a:prstGeom>
          <a:noFill/>
          <a:ln/>
        </p:spPr>
        <p:txBody>
          <a:bodyPr wrap="square" lIns="0" tIns="0" rIns="0" bIns="0" rtlCol="0" anchor="t"/>
          <a:lstStyle/>
          <a:p>
            <a:pPr marL="0" indent="0">
              <a:spcAft>
                <a:spcPts val="800"/>
              </a:spcAft>
              <a:buNone/>
            </a:pPr>
            <a:r>
              <a:rPr lang="en-US" sz="1600" b="1" dirty="0">
                <a:solidFill>
                  <a:srgbClr val="0F8B8D"/>
                </a:solidFill>
                <a:latin typeface="Calibri" pitchFamily="34" charset="0"/>
                <a:ea typeface="Calibri" pitchFamily="34" charset="-122"/>
                <a:cs typeface="Calibri" pitchFamily="34" charset="-120"/>
              </a:rPr>
              <a:t>How we worked</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Commits from both members, each under their own name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Pull before every push</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Logs saved next to the code that made them</a:t>
            </a:r>
            <a:endParaRPr lang="en-US" sz="1600" dirty="0"/>
          </a:p>
        </p:txBody>
      </p:sp>
      <p:sp>
        <p:nvSpPr>
          <p:cNvPr id="8" name="Text 5"/>
          <p:cNvSpPr txBox="1"/>
          <p:nvPr/>
        </p:nvSpPr>
        <p:spPr>
          <a:xfrm>
            <a:off x="548640" y="4114800"/>
            <a:ext cx="8046720" cy="320040"/>
          </a:xfrm>
          <a:prstGeom prst="rect">
            <a:avLst/>
          </a:prstGeom>
          <a:noFill/>
          <a:ln/>
        </p:spPr>
        <p:txBody>
          <a:bodyPr wrap="square" lIns="0" tIns="0" rIns="0" bIns="0" rtlCol="0" anchor="ctr"/>
          <a:lstStyle/>
          <a:p>
            <a:pPr marL="0" indent="0">
              <a:buNone/>
            </a:pPr>
            <a:r>
              <a:rPr lang="en-US" sz="1600" b="1" dirty="0">
                <a:solidFill>
                  <a:srgbClr val="0F8B8D"/>
                </a:solidFill>
                <a:latin typeface="Calibri" pitchFamily="34" charset="0"/>
                <a:ea typeface="Calibri" pitchFamily="34" charset="-122"/>
                <a:cs typeface="Calibri" pitchFamily="34" charset="-120"/>
              </a:rPr>
              <a:t>Contributors: </a:t>
            </a:r>
            <a:r>
              <a:rPr lang="en-US" sz="1600" dirty="0">
                <a:solidFill>
                  <a:srgbClr val="1F2D3A"/>
                </a:solidFill>
                <a:latin typeface="Calibri" pitchFamily="34" charset="0"/>
                <a:ea typeface="Calibri" pitchFamily="34" charset="-122"/>
                <a:cs typeface="Calibri" pitchFamily="34" charset="-120"/>
              </a:rPr>
              <a:t>Kazi Ragib Yeahsar (ragib-yeahsar) and Mir Tahsin (</a:t>
            </a:r>
            <a:r>
              <a:rPr lang="en-US" sz="1600" dirty="0" err="1">
                <a:solidFill>
                  <a:srgbClr val="1F2D3A"/>
                </a:solidFill>
                <a:latin typeface="Calibri" pitchFamily="34" charset="0"/>
                <a:ea typeface="Calibri" pitchFamily="34" charset="-122"/>
                <a:cs typeface="Calibri" pitchFamily="34" charset="-120"/>
              </a:rPr>
              <a:t>jackutsa</a:t>
            </a:r>
            <a:r>
              <a:rPr lang="en-US" sz="1600" dirty="0">
                <a:solidFill>
                  <a:srgbClr val="1F2D3A"/>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548640" y="4434840"/>
            <a:ext cx="8046720" cy="320040"/>
          </a:xfrm>
          <a:prstGeom prst="rect">
            <a:avLst/>
          </a:prstGeom>
          <a:noFill/>
          <a:ln/>
        </p:spPr>
        <p:txBody>
          <a:bodyPr wrap="square" lIns="0" tIns="0" rIns="0" bIns="0" rtlCol="0" anchor="ctr"/>
          <a:lstStyle/>
          <a:p>
            <a:pPr marL="0" indent="0">
              <a:buNone/>
            </a:pPr>
            <a:r>
              <a:rPr lang="en-US" sz="1600" b="1" dirty="0">
                <a:solidFill>
                  <a:srgbClr val="14283D"/>
                </a:solidFill>
                <a:latin typeface="Courier New" pitchFamily="34" charset="0"/>
                <a:ea typeface="Courier New" pitchFamily="34" charset="-122"/>
                <a:cs typeface="Courier New" pitchFamily="34" charset="-120"/>
              </a:rPr>
              <a:t>github.com/ragib-yeahsar/ENG612-Project-2</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Lessons and limits</a:t>
            </a:r>
            <a:endParaRPr lang="en-US" sz="3200" dirty="0"/>
          </a:p>
        </p:txBody>
      </p:sp>
      <p:sp>
        <p:nvSpPr>
          <p:cNvPr id="4" name="Card"/>
          <p:cNvSpPr/>
          <p:nvPr/>
        </p:nvSpPr>
        <p:spPr>
          <a:xfrm>
            <a:off x="548640" y="1280160"/>
            <a:ext cx="3840480" cy="3108960"/>
          </a:xfrm>
          <a:prstGeom prst="roundRect">
            <a:avLst>
              <a:gd name="adj" fmla="val 235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77240" y="1417320"/>
            <a:ext cx="3383280" cy="2834640"/>
          </a:xfrm>
          <a:prstGeom prst="rect">
            <a:avLst/>
          </a:prstGeom>
          <a:noFill/>
          <a:ln/>
        </p:spPr>
        <p:txBody>
          <a:bodyPr wrap="square" lIns="0" tIns="0" rIns="0" bIns="0" rtlCol="0" anchor="t"/>
          <a:lstStyle/>
          <a:p>
            <a:pPr marL="0" indent="0">
              <a:spcAft>
                <a:spcPts val="800"/>
              </a:spcAft>
              <a:buNone/>
            </a:pPr>
            <a:r>
              <a:rPr lang="en-US" sz="1600" b="1" dirty="0">
                <a:solidFill>
                  <a:srgbClr val="0F8B8D"/>
                </a:solidFill>
                <a:latin typeface="Calibri" pitchFamily="34" charset="0"/>
                <a:ea typeface="Calibri" pitchFamily="34" charset="-122"/>
                <a:cs typeface="Calibri" pitchFamily="34" charset="-120"/>
              </a:rPr>
              <a:t>What we learned</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Measure first, then tune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Check strange data against known geometry</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Make runs repeatable before comparing them</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Simulation hides sensor noise and network problems</a:t>
            </a:r>
            <a:endParaRPr lang="en-US" sz="1600" dirty="0"/>
          </a:p>
        </p:txBody>
      </p:sp>
      <p:sp>
        <p:nvSpPr>
          <p:cNvPr id="6" name="Card"/>
          <p:cNvSpPr/>
          <p:nvPr/>
        </p:nvSpPr>
        <p:spPr>
          <a:xfrm>
            <a:off x="4754880" y="1280160"/>
            <a:ext cx="3840480" cy="3108960"/>
          </a:xfrm>
          <a:prstGeom prst="roundRect">
            <a:avLst>
              <a:gd name="adj" fmla="val 235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7" name="Text 4"/>
          <p:cNvSpPr txBox="1"/>
          <p:nvPr/>
        </p:nvSpPr>
        <p:spPr>
          <a:xfrm>
            <a:off x="4983480" y="1417320"/>
            <a:ext cx="3383280" cy="2834640"/>
          </a:xfrm>
          <a:prstGeom prst="rect">
            <a:avLst/>
          </a:prstGeom>
          <a:noFill/>
          <a:ln/>
        </p:spPr>
        <p:txBody>
          <a:bodyPr wrap="square" lIns="0" tIns="0" rIns="0" bIns="0" rtlCol="0" anchor="t"/>
          <a:lstStyle/>
          <a:p>
            <a:pPr marL="0" indent="0">
              <a:spcAft>
                <a:spcPts val="800"/>
              </a:spcAft>
              <a:buNone/>
            </a:pPr>
            <a:r>
              <a:rPr lang="en-US" sz="1600" b="1" dirty="0">
                <a:solidFill>
                  <a:srgbClr val="B3541E"/>
                </a:solidFill>
                <a:latin typeface="Calibri" pitchFamily="34" charset="0"/>
                <a:ea typeface="Calibri" pitchFamily="34" charset="-122"/>
                <a:cs typeface="Calibri" pitchFamily="34" charset="-120"/>
              </a:rPr>
              <a:t>Limits</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The largest errors come just after corners (5.4 to 7.4 cm)</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Results vary between runs: one repeat was less accurate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Ki was not explored beyond zero</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Our three lab boxes differ in size, so runs are not identical</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Conclusion: which controller to use</a:t>
            </a:r>
            <a:endParaRPr lang="en-US" sz="3200" dirty="0"/>
          </a:p>
        </p:txBody>
      </p:sp>
      <p:sp>
        <p:nvSpPr>
          <p:cNvPr id="4" name="Recommendation"/>
          <p:cNvSpPr/>
          <p:nvPr/>
        </p:nvSpPr>
        <p:spPr>
          <a:xfrm>
            <a:off x="548640" y="1143000"/>
            <a:ext cx="8046720" cy="1600200"/>
          </a:xfrm>
          <a:prstGeom prst="roundRect">
            <a:avLst>
              <a:gd name="adj" fmla="val 5714"/>
            </a:avLst>
          </a:prstGeom>
          <a:solidFill>
            <a:srgbClr val="14283D"/>
          </a:solidFill>
          <a:ln w="6350">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77240" y="1234440"/>
            <a:ext cx="7589520" cy="457200"/>
          </a:xfrm>
          <a:prstGeom prst="rect">
            <a:avLst/>
          </a:prstGeom>
          <a:noFill/>
          <a:ln/>
        </p:spPr>
        <p:txBody>
          <a:bodyPr wrap="square" lIns="0" tIns="0" rIns="0" bIns="0" rtlCol="0" anchor="ctr"/>
          <a:lstStyle/>
          <a:p>
            <a:pPr marL="0" indent="0">
              <a:buNone/>
            </a:pPr>
            <a:r>
              <a:rPr lang="en-US" sz="2200" b="1" dirty="0">
                <a:solidFill>
                  <a:srgbClr val="7FD6D8"/>
                </a:solidFill>
                <a:latin typeface="Cambria" pitchFamily="34" charset="0"/>
                <a:ea typeface="Cambria" pitchFamily="34" charset="-122"/>
                <a:cs typeface="Cambria" pitchFamily="34" charset="-120"/>
              </a:rPr>
              <a:t>Recommended: Advanced PID, left wall, up to 0.065 m/s</a:t>
            </a:r>
            <a:endParaRPr lang="en-US" sz="2200" dirty="0"/>
          </a:p>
        </p:txBody>
      </p:sp>
      <p:sp>
        <p:nvSpPr>
          <p:cNvPr id="6" name="Text 3"/>
          <p:cNvSpPr txBox="1"/>
          <p:nvPr/>
        </p:nvSpPr>
        <p:spPr>
          <a:xfrm>
            <a:off x="777240" y="1737360"/>
            <a:ext cx="758952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Gazebo: 5.8 mm RMS against 31.1 mm for the Normal PID</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Real robot: same accuracy as rule-based speed, with 16% to 27% shorter laps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Fallback: restart at 0.05 m/s if the robot misbehaves</a:t>
            </a:r>
            <a:endParaRPr lang="en-US" sz="1400" dirty="0"/>
          </a:p>
        </p:txBody>
      </p:sp>
      <p:sp>
        <p:nvSpPr>
          <p:cNvPr id="7" name="Card"/>
          <p:cNvSpPr/>
          <p:nvPr/>
        </p:nvSpPr>
        <p:spPr>
          <a:xfrm>
            <a:off x="548640" y="2926080"/>
            <a:ext cx="3931920" cy="1600200"/>
          </a:xfrm>
          <a:prstGeom prst="roundRect">
            <a:avLst>
              <a:gd name="adj" fmla="val 457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731520" y="2999232"/>
            <a:ext cx="3611880" cy="1463040"/>
          </a:xfrm>
          <a:prstGeom prst="rect">
            <a:avLst/>
          </a:prstGeom>
          <a:noFill/>
          <a:ln/>
        </p:spPr>
        <p:txBody>
          <a:bodyPr wrap="square" lIns="0" tIns="0" rIns="0" bIns="0" rtlCol="0" anchor="t"/>
          <a:lstStyle/>
          <a:p>
            <a:pPr marL="0" indent="0">
              <a:spcAft>
                <a:spcPts val="400"/>
              </a:spcAft>
              <a:buNone/>
            </a:pPr>
            <a:r>
              <a:rPr lang="en-US" sz="1400" b="1" dirty="0">
                <a:solidFill>
                  <a:srgbClr val="0F8B8D"/>
                </a:solidFill>
                <a:latin typeface="Calibri" pitchFamily="34" charset="0"/>
                <a:ea typeface="Calibri" pitchFamily="34" charset="-122"/>
                <a:cs typeface="Calibri" pitchFamily="34" charset="-120"/>
              </a:rPr>
              <a:t>What we learned</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Measure first, then tune</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Check odd data against known geometry</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Simulation hides sensor noise and network problems</a:t>
            </a:r>
            <a:endParaRPr lang="en-US" sz="1400" dirty="0"/>
          </a:p>
        </p:txBody>
      </p:sp>
      <p:sp>
        <p:nvSpPr>
          <p:cNvPr id="9" name="Card"/>
          <p:cNvSpPr/>
          <p:nvPr/>
        </p:nvSpPr>
        <p:spPr>
          <a:xfrm>
            <a:off x="4663440" y="2926080"/>
            <a:ext cx="3931920" cy="1600200"/>
          </a:xfrm>
          <a:prstGeom prst="roundRect">
            <a:avLst>
              <a:gd name="adj" fmla="val 457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Text 7"/>
          <p:cNvSpPr txBox="1"/>
          <p:nvPr/>
        </p:nvSpPr>
        <p:spPr>
          <a:xfrm>
            <a:off x="4846320" y="2999232"/>
            <a:ext cx="3611880" cy="1463040"/>
          </a:xfrm>
          <a:prstGeom prst="rect">
            <a:avLst/>
          </a:prstGeom>
          <a:noFill/>
          <a:ln/>
        </p:spPr>
        <p:txBody>
          <a:bodyPr wrap="square" lIns="0" tIns="0" rIns="0" bIns="0" rtlCol="0" anchor="t"/>
          <a:lstStyle/>
          <a:p>
            <a:pPr marL="0" indent="0">
              <a:spcAft>
                <a:spcPts val="400"/>
              </a:spcAft>
              <a:buNone/>
            </a:pPr>
            <a:r>
              <a:rPr lang="en-US" sz="1400" b="1" dirty="0">
                <a:solidFill>
                  <a:srgbClr val="B3541E"/>
                </a:solidFill>
                <a:latin typeface="Calibri" pitchFamily="34" charset="0"/>
                <a:ea typeface="Calibri" pitchFamily="34" charset="-122"/>
                <a:cs typeface="Calibri" pitchFamily="34" charset="-120"/>
              </a:rPr>
              <a:t>Limits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Largest errors come just after corners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Results vary between runs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Normal PID not yet run on the real robot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Robot photo" descr="The TurtleBot3 at the wall in the lab box"/>
          <p:cNvPicPr>
            <a:picLocks noChangeAspect="1"/>
          </p:cNvPicPr>
          <p:nvPr/>
        </p:nvPicPr>
        <p:blipFill>
          <a:blip r:embed="rId3"/>
          <a:stretch>
            <a:fillRect/>
          </a:stretch>
        </p:blipFill>
        <p:spPr>
          <a:xfrm>
            <a:off x="5577840" y="914400"/>
            <a:ext cx="3017520" cy="2263140"/>
          </a:xfrm>
          <a:prstGeom prst="rect">
            <a:avLst/>
          </a:prstGeom>
        </p:spPr>
      </p:pic>
      <p:sp>
        <p:nvSpPr>
          <p:cNvPr id="3" name="Text 0"/>
          <p:cNvSpPr txBox="1"/>
          <p:nvPr/>
        </p:nvSpPr>
        <p:spPr>
          <a:xfrm>
            <a:off x="640080" y="1463040"/>
            <a:ext cx="475488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Live demo</a:t>
            </a:r>
            <a:endParaRPr lang="en-US" sz="5400" dirty="0"/>
          </a:p>
        </p:txBody>
      </p:sp>
      <p:sp>
        <p:nvSpPr>
          <p:cNvPr id="4" name="Text 1"/>
          <p:cNvSpPr txBox="1"/>
          <p:nvPr/>
        </p:nvSpPr>
        <p:spPr>
          <a:xfrm>
            <a:off x="640080" y="2651760"/>
            <a:ext cx="4754880" cy="1097280"/>
          </a:xfrm>
          <a:prstGeom prst="rect">
            <a:avLst/>
          </a:prstGeom>
          <a:noFill/>
          <a:ln/>
        </p:spPr>
        <p:txBody>
          <a:bodyPr wrap="square" lIns="0" tIns="0" rIns="0" bIns="0" rtlCol="0" anchor="ctr"/>
          <a:lstStyle/>
          <a:p>
            <a:pPr marL="0" indent="0">
              <a:buNone/>
            </a:pPr>
            <a:r>
              <a:rPr lang="en-US" sz="2200" dirty="0">
                <a:solidFill>
                  <a:srgbClr val="C9D6E0"/>
                </a:solidFill>
                <a:latin typeface="Calibri" pitchFamily="34" charset="0"/>
                <a:ea typeface="Calibri" pitchFamily="34" charset="-122"/>
                <a:cs typeface="Calibri" pitchFamily="34" charset="-120"/>
              </a:rPr>
              <a:t>Advanced PID on the real TurtleBot3, in the 2 m × 2 m box</a:t>
            </a:r>
            <a:endParaRPr lang="en-US" sz="2200" dirty="0"/>
          </a:p>
        </p:txBody>
      </p:sp>
      <p:sp>
        <p:nvSpPr>
          <p:cNvPr id="5" name="Text 2"/>
          <p:cNvSpPr txBox="1"/>
          <p:nvPr/>
        </p:nvSpPr>
        <p:spPr>
          <a:xfrm>
            <a:off x="640080" y="3931920"/>
            <a:ext cx="7863840" cy="457200"/>
          </a:xfrm>
          <a:prstGeom prst="rect">
            <a:avLst/>
          </a:prstGeom>
          <a:noFill/>
          <a:ln/>
        </p:spPr>
        <p:txBody>
          <a:bodyPr wrap="square" lIns="0" tIns="0" rIns="0" bIns="0" rtlCol="0" anchor="ctr"/>
          <a:lstStyle/>
          <a:p>
            <a:pPr marL="0" indent="0">
              <a:buNone/>
            </a:pPr>
            <a:r>
              <a:rPr lang="en-US" sz="1800" b="1" dirty="0">
                <a:solidFill>
                  <a:srgbClr val="E8A33D"/>
                </a:solidFill>
                <a:latin typeface="Calibri" pitchFamily="34" charset="0"/>
                <a:ea typeface="Calibri" pitchFamily="34" charset="-122"/>
                <a:cs typeface="Calibri" pitchFamily="34" charset="-120"/>
              </a:rPr>
              <a:t>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7DFA110F09F046A7C859084FCBF808" ma:contentTypeVersion="9" ma:contentTypeDescription="Create a new document." ma:contentTypeScope="" ma:versionID="a96b54b397c795b3c6a26f8a75638bb4">
  <xsd:schema xmlns:xsd="http://www.w3.org/2001/XMLSchema" xmlns:xs="http://www.w3.org/2001/XMLSchema" xmlns:p="http://schemas.microsoft.com/office/2006/metadata/properties" xmlns:ns3="0da6376b-e9ea-432a-b40f-2e0a82d2292f" targetNamespace="http://schemas.microsoft.com/office/2006/metadata/properties" ma:root="true" ma:fieldsID="960ef563fd4971b811c7e7063a95c07d" ns3:_="">
    <xsd:import namespace="0da6376b-e9ea-432a-b40f-2e0a82d2292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6376b-e9ea-432a-b40f-2e0a82d2292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da6376b-e9ea-432a-b40f-2e0a82d2292f" xsi:nil="true"/>
  </documentManagement>
</p:properties>
</file>

<file path=customXml/itemProps1.xml><?xml version="1.0" encoding="utf-8"?>
<ds:datastoreItem xmlns:ds="http://schemas.openxmlformats.org/officeDocument/2006/customXml" ds:itemID="{641C0C3C-4C1F-4AA1-BE43-54B392B51463}">
  <ds:schemaRefs>
    <ds:schemaRef ds:uri="http://schemas.microsoft.com/sharepoint/v3/contenttype/forms"/>
  </ds:schemaRefs>
</ds:datastoreItem>
</file>

<file path=customXml/itemProps2.xml><?xml version="1.0" encoding="utf-8"?>
<ds:datastoreItem xmlns:ds="http://schemas.openxmlformats.org/officeDocument/2006/customXml" ds:itemID="{697AAF9E-53F0-4EB2-B8D5-CEA31BAA05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a6376b-e9ea-432a-b40f-2e0a82d229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37CFD5-39B5-4434-A218-D3B58BCAD0BB}">
  <ds:schemaRefs>
    <ds:schemaRef ds:uri="http://www.w3.org/XML/1998/namespace"/>
    <ds:schemaRef ds:uri="http://schemas.microsoft.com/office/2006/metadata/properties"/>
    <ds:schemaRef ds:uri="http://purl.org/dc/elements/1.1/"/>
    <ds:schemaRef ds:uri="http://schemas.openxmlformats.org/package/2006/metadata/core-properties"/>
    <ds:schemaRef ds:uri="http://purl.org/dc/dcmitype/"/>
    <ds:schemaRef ds:uri="0da6376b-e9ea-432a-b40f-2e0a82d2292f"/>
    <ds:schemaRef ds:uri="http://purl.org/dc/terms/"/>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TotalTime>
  <Words>2176</Words>
  <Application>Microsoft Office PowerPoint</Application>
  <PresentationFormat>On-screen Show (16:9)</PresentationFormat>
  <Paragraphs>246</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TurtleBot3 Wall Following</dc:title>
  <dc:subject>PptxGenJS Presentation</dc:subject>
  <dc:creator>Kazi Ragib Yeahsar;Jack</dc:creator>
  <cp:lastModifiedBy>Ragib Yeahsar</cp:lastModifiedBy>
  <cp:revision>4</cp:revision>
  <dcterms:created xsi:type="dcterms:W3CDTF">2026-10-25T11:04:41Z</dcterms:created>
  <dcterms:modified xsi:type="dcterms:W3CDTF">2026-10-26T03:54:01Z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0x0101005D7DFA110F09F046A7C859084FCBF808</vt:lpwstr>
  </property>
</Properties>
</file>